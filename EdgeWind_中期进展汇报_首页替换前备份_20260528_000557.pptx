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5f4511b2149e6" /><Relationship Type="http://schemas.openxmlformats.org/officeDocument/2006/relationships/extended-properties" Target="/docProps/app.xml" Id="Rd555c7a8921b48db" /><Relationship Type="http://schemas.openxmlformats.org/officeDocument/2006/relationships/officeDocument" Target="/ppt/presentation.xml" Id="Rf2c54eb88d72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a82f84c9144c6d"/>
  </p:sldMasterIdLst>
  <p:notesMasterIdLst>
    <p:notesMasterId xmlns:r="http://schemas.openxmlformats.org/officeDocument/2006/relationships" r:id="R24674d10e00949aa"/>
  </p:notesMasterIdLst>
  <p:sldIdLst>
    <p:sldId xmlns:r="http://schemas.openxmlformats.org/officeDocument/2006/relationships" id="256" r:id="Rda545e8e47c0464e"/>
    <p:sldId xmlns:r="http://schemas.openxmlformats.org/officeDocument/2006/relationships" id="257" r:id="Rbc209b20908a497f"/>
    <p:sldId xmlns:r="http://schemas.openxmlformats.org/officeDocument/2006/relationships" id="258" r:id="Re6107ef9f67b4d37"/>
    <p:sldId xmlns:r="http://schemas.openxmlformats.org/officeDocument/2006/relationships" id="259" r:id="R68fd0ada786842f4"/>
    <p:sldId xmlns:r="http://schemas.openxmlformats.org/officeDocument/2006/relationships" id="260" r:id="R35162531ff934954"/>
    <p:sldId xmlns:r="http://schemas.openxmlformats.org/officeDocument/2006/relationships" id="261" r:id="R2626382b13b54241"/>
    <p:sldId xmlns:r="http://schemas.openxmlformats.org/officeDocument/2006/relationships" id="262" r:id="R5e05dbc9554644a7"/>
    <p:sldId xmlns:r="http://schemas.openxmlformats.org/officeDocument/2006/relationships" id="263" r:id="R155eb1e6b5b24e4d"/>
    <p:sldId xmlns:r="http://schemas.openxmlformats.org/officeDocument/2006/relationships" id="264" r:id="R45d8842878e74c5b"/>
    <p:sldId xmlns:r="http://schemas.openxmlformats.org/officeDocument/2006/relationships" id="265" r:id="Rae9baa1d0a0547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82f84c9144c6d" /><Relationship Type="http://schemas.openxmlformats.org/officeDocument/2006/relationships/theme" Target="/ppt/theme/theme1.xml" Id="R213854a9c25c47cd" /><Relationship Type="http://schemas.openxmlformats.org/officeDocument/2006/relationships/notesMaster" Target="/ppt/notesMasters/notesMaster1.xml" Id="R24674d10e00949aa" /><Relationship Type="http://schemas.openxmlformats.org/officeDocument/2006/relationships/presProps" Target="/ppt/presProps.xml" Id="Re11a02b78db04a56" /><Relationship Type="http://schemas.openxmlformats.org/officeDocument/2006/relationships/viewProps" Target="/ppt/viewProps.xml" Id="R27da8528325f44a7" /><Relationship Type="http://schemas.openxmlformats.org/officeDocument/2006/relationships/tableStyles" Target="/ppt/tableStyles.xml" Id="Rd0e93318a48b45ac" /><Relationship Type="http://schemas.openxmlformats.org/officeDocument/2006/relationships/slide" Target="/ppt/slides/slide1.xml" Id="Rda545e8e47c0464e" /><Relationship Type="http://schemas.openxmlformats.org/officeDocument/2006/relationships/slide" Target="/ppt/slides/slide2.xml" Id="Rbc209b20908a497f" /><Relationship Type="http://schemas.openxmlformats.org/officeDocument/2006/relationships/slide" Target="/ppt/slides/slide3.xml" Id="Re6107ef9f67b4d37" /><Relationship Type="http://schemas.openxmlformats.org/officeDocument/2006/relationships/slide" Target="/ppt/slides/slide4.xml" Id="R68fd0ada786842f4" /><Relationship Type="http://schemas.openxmlformats.org/officeDocument/2006/relationships/slide" Target="/ppt/slides/slide5.xml" Id="R35162531ff934954" /><Relationship Type="http://schemas.openxmlformats.org/officeDocument/2006/relationships/slide" Target="/ppt/slides/slide6.xml" Id="R2626382b13b54241" /><Relationship Type="http://schemas.openxmlformats.org/officeDocument/2006/relationships/slide" Target="/ppt/slides/slide7.xml" Id="R5e05dbc9554644a7" /><Relationship Type="http://schemas.openxmlformats.org/officeDocument/2006/relationships/slide" Target="/ppt/slides/slide8.xml" Id="R155eb1e6b5b24e4d" /><Relationship Type="http://schemas.openxmlformats.org/officeDocument/2006/relationships/slide" Target="/ppt/slides/slide9.xml" Id="R45d8842878e74c5b" /><Relationship Type="http://schemas.openxmlformats.org/officeDocument/2006/relationships/slide" Target="/ppt/slides/slide10.xml" Id="Rae9baa1d0a0547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ae567f00a2745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fbc9b011274753" /><Relationship Type="http://schemas.openxmlformats.org/officeDocument/2006/relationships/notesMaster" Target="/ppt/notesMasters/notesMaster1.xml" Id="Rc26c4a507ab9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4afb3f252d4535" /><Relationship Type="http://schemas.openxmlformats.org/officeDocument/2006/relationships/notesMaster" Target="/ppt/notesMasters/notesMaster1.xml" Id="R4d30b3fe613245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21e7f69aef4e6a" /><Relationship Type="http://schemas.openxmlformats.org/officeDocument/2006/relationships/notesMaster" Target="/ppt/notesMasters/notesMaster1.xml" Id="Rfb1200b9ffc946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1c126557ef44f6" /><Relationship Type="http://schemas.openxmlformats.org/officeDocument/2006/relationships/notesMaster" Target="/ppt/notesMasters/notesMaster1.xml" Id="Re2b3dc44bbab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f2fcbcf7924b6d" /><Relationship Type="http://schemas.openxmlformats.org/officeDocument/2006/relationships/notesMaster" Target="/ppt/notesMasters/notesMaster1.xml" Id="R4d5d93d210e14a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ef3284e6494b99" /><Relationship Type="http://schemas.openxmlformats.org/officeDocument/2006/relationships/notesMaster" Target="/ppt/notesMasters/notesMaster1.xml" Id="R967b7977bf68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73033a61c84bcc" /><Relationship Type="http://schemas.openxmlformats.org/officeDocument/2006/relationships/notesMaster" Target="/ppt/notesMasters/notesMaster1.xml" Id="R9232d27ac8884c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7a45208e5b4e68" /><Relationship Type="http://schemas.openxmlformats.org/officeDocument/2006/relationships/notesMaster" Target="/ppt/notesMasters/notesMaster1.xml" Id="R55b74e33286e4f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c0a7438dc246ec" /><Relationship Type="http://schemas.openxmlformats.org/officeDocument/2006/relationships/notesMaster" Target="/ppt/notesMasters/notesMaster1.xml" Id="Ra626d904709343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380735d3d14b40" /><Relationship Type="http://schemas.openxmlformats.org/officeDocument/2006/relationships/notesMaster" Target="/ppt/notesMasters/notesMaster1.xml" Id="R5788a9317a314c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7bf072cf0481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5ac53778b24eac" /><Relationship Type="http://schemas.openxmlformats.org/officeDocument/2006/relationships/slideLayout" Target="/ppt/slideLayouts/slideLayout2.xml" Id="R8b81da0fc6d2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1da0fc6d2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eaec09677494c" /><Relationship Type="http://schemas.openxmlformats.org/officeDocument/2006/relationships/image" Target="/ppt/media/image.jpeg" Id="R2ca5cc39071142df" /><Relationship Type="http://schemas.openxmlformats.org/officeDocument/2006/relationships/image" Target="/ppt/media/image.png" Id="Rfb431c61f2724075" /><Relationship Type="http://schemas.openxmlformats.org/officeDocument/2006/relationships/notesSlide" Target="/ppt/notesSlides/notesSlide1.xml" Id="R88243a665e6d4a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3a26d9a18b4529" /><Relationship Type="http://schemas.openxmlformats.org/officeDocument/2006/relationships/image" Target="/ppt/media/image2.png" Id="Rb8a06640a927479c" /><Relationship Type="http://schemas.openxmlformats.org/officeDocument/2006/relationships/notesSlide" Target="/ppt/notesSlides/notesSlide2.xml" Id="R955e055a7fa446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c8265124724c0b" /><Relationship Type="http://schemas.openxmlformats.org/officeDocument/2006/relationships/image" Target="/ppt/media/image3.png" Id="R2793aac12a244bcc" /><Relationship Type="http://schemas.openxmlformats.org/officeDocument/2006/relationships/image" Target="/ppt/media/image4.png" Id="Rebb1300a4d74471c" /><Relationship Type="http://schemas.openxmlformats.org/officeDocument/2006/relationships/notesSlide" Target="/ppt/notesSlides/notesSlide3.xml" Id="R83d74e344f08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948c36c0e348b9" /><Relationship Type="http://schemas.openxmlformats.org/officeDocument/2006/relationships/image" Target="/ppt/media/image5.png" Id="Re47837df23154958" /><Relationship Type="http://schemas.openxmlformats.org/officeDocument/2006/relationships/image" Target="/ppt/media/image6.png" Id="R775801c3e25d46ec" /><Relationship Type="http://schemas.openxmlformats.org/officeDocument/2006/relationships/image" Target="/ppt/media/image7.png" Id="Ree212448ee354f51" /><Relationship Type="http://schemas.openxmlformats.org/officeDocument/2006/relationships/image" Target="/ppt/media/image8.png" Id="Rb9b0ed14cf3a489d" /><Relationship Type="http://schemas.openxmlformats.org/officeDocument/2006/relationships/notesSlide" Target="/ppt/notesSlides/notesSlide4.xml" Id="Red50ec080c6046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6726f0781f4893" /><Relationship Type="http://schemas.openxmlformats.org/officeDocument/2006/relationships/image" Target="/ppt/media/image9.png" Id="R43f8b2fcb3e746ca" /><Relationship Type="http://schemas.openxmlformats.org/officeDocument/2006/relationships/image" Target="/ppt/media/image10.png" Id="R0451d3688bde4ea4" /><Relationship Type="http://schemas.openxmlformats.org/officeDocument/2006/relationships/image" Target="/ppt/media/image11.png" Id="R08237d58baa14fb9" /><Relationship Type="http://schemas.openxmlformats.org/officeDocument/2006/relationships/image" Target="/ppt/media/image12.png" Id="R4849a403b0bb404b" /><Relationship Type="http://schemas.openxmlformats.org/officeDocument/2006/relationships/image" Target="/ppt/media/image13.png" Id="R582023b61e714633" /><Relationship Type="http://schemas.openxmlformats.org/officeDocument/2006/relationships/image" Target="/ppt/media/image14.png" Id="R0a00f0354b7840ed" /><Relationship Type="http://schemas.openxmlformats.org/officeDocument/2006/relationships/notesSlide" Target="/ppt/notesSlides/notesSlide5.xml" Id="R5952ee66517e40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f475c76bc4a06" /><Relationship Type="http://schemas.openxmlformats.org/officeDocument/2006/relationships/image" Target="/ppt/media/image15.png" Id="R9a3c1bf54d79442c" /><Relationship Type="http://schemas.openxmlformats.org/officeDocument/2006/relationships/image" Target="/ppt/media/image16.png" Id="R67953d1bfc8c424a" /><Relationship Type="http://schemas.openxmlformats.org/officeDocument/2006/relationships/image" Target="/ppt/media/image17.png" Id="Re23786b1bf5f40fc" /><Relationship Type="http://schemas.openxmlformats.org/officeDocument/2006/relationships/notesSlide" Target="/ppt/notesSlides/notesSlide6.xml" Id="Rd9eb288273d140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6faccf55e84675" /><Relationship Type="http://schemas.openxmlformats.org/officeDocument/2006/relationships/image" Target="/ppt/media/image18.png" Id="Rb4e8a99ac04f41f7" /><Relationship Type="http://schemas.openxmlformats.org/officeDocument/2006/relationships/image" Target="/ppt/media/image19.png" Id="Rf5a084dc186a4ed5" /><Relationship Type="http://schemas.openxmlformats.org/officeDocument/2006/relationships/notesSlide" Target="/ppt/notesSlides/notesSlide7.xml" Id="Rb4bca62e486342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71fdea78e4451f" /><Relationship Type="http://schemas.openxmlformats.org/officeDocument/2006/relationships/image" Target="/ppt/media/image20.png" Id="R4e3d0a2eeebd4902" /><Relationship Type="http://schemas.openxmlformats.org/officeDocument/2006/relationships/image" Target="/ppt/media/image2.jpeg" Id="R6123a3b303044d4d" /><Relationship Type="http://schemas.openxmlformats.org/officeDocument/2006/relationships/image" Target="/ppt/media/image3.jpeg" Id="R1f2bd380414e4ad9" /><Relationship Type="http://schemas.openxmlformats.org/officeDocument/2006/relationships/notesSlide" Target="/ppt/notesSlides/notesSlide8.xml" Id="R490cd691933b42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e2879eb96440b" /><Relationship Type="http://schemas.openxmlformats.org/officeDocument/2006/relationships/image" Target="/ppt/media/image21.png" Id="R770f22dd21fa4594" /><Relationship Type="http://schemas.openxmlformats.org/officeDocument/2006/relationships/notesSlide" Target="/ppt/notesSlides/notesSlide9.xml" Id="R6ba43f9559e04c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b28cc31ed47ab" /><Relationship Type="http://schemas.openxmlformats.org/officeDocument/2006/relationships/image" Target="/ppt/media/image4.jpeg" Id="Rc98cef46c26f406d" /><Relationship Type="http://schemas.openxmlformats.org/officeDocument/2006/relationships/notesSlide" Target="/ppt/notesSlides/notesSlide10.xml" Id="Rdb1f1bafe2124a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5cc39071142df"/>
          <a:srcRect xmlns:a="http://schemas.openxmlformats.org/drawingml/2006/main" l="2665" t="0" r="26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0"/>
            <a:ext cx="6762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E6467-C1FE-4A24-9D00-AB810787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61782-DE15-4060-BBBB-08D42BEF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31c61f2724075"/>
          <a:stretch xmlns:a="http://schemas.openxmlformats.org/drawingml/2006/main"/>
        </p:blipFill>
        <p:spPr>
          <a:xfrm xmlns:a="http://schemas.openxmlformats.org/drawingml/2006/main">
            <a:off x="498130" y="295275"/>
            <a:ext cx="3709089" cy="609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41E64-A084-4DF4-ACE4-BE674BD4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基于边缘计算的</a:t>
            </a:r>
          </a:p>
          <a:p xmlns:a="http://schemas.openxmlformats.org/drawingml/2006/main">
            <a:pPr algn="l">
              <a:defRPr sz="30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风电场直流系统故障监测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26DAC-54B9-460D-B581-1C325E6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中期进展汇报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A668A-B19E-43A7-84C3-E89B1DC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C6B77-CE53-463F-B922-627BE33E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5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项目编号：202510595037</a:t>
            </a:r>
          </a:p>
          <a:p xmlns:a="http://schemas.openxmlformats.org/drawingml/2006/main">
            <a:pPr algn="l">
              <a:def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负责人：彭建中</a:t>
            </a:r>
          </a:p>
          <a:p xmlns:a="http://schemas.openxmlformats.org/drawingml/2006/main">
            <a:pPr algn="l">
              <a:def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指导教师：刘争红</a:t>
            </a:r>
          </a:p>
          <a:p xmlns:a="http://schemas.openxmlformats.org/drawingml/2006/main">
            <a:pPr algn="l">
              <a:def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桂林电子科技大学  |  2026年5月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31B52-09F5-46FF-884A-49AF307C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38100" rIns="1714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从申报方案进入可演示闭环阶段</a:t>
            </a:r>
          </a:p>
        </p:txBody>
      </p:sp>
    </p:spTree>
    <p:extLst>
      <p:ext uri="{BB962C8B-B14F-4D97-AF65-F5344CB8AC3E}">
        <p14:creationId xmlns:p14="http://schemas.microsoft.com/office/powerpoint/2010/main" val="14659188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06640a927479c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76F4C-FA8F-4C0E-9F24-8B9802ED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E2851-86BE-4C91-A79E-E2F864F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970CA-6578-4F9E-BDD2-191B16B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D976E-3659-4BA9-86B9-FD6D4F3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项目目标与中期结论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98690-856A-4326-AE57-11157B60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D292B-F0BF-4942-A557-9CC85D2F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围绕风电场直流系统故障监测，已完成边缘端、通信链路、Web平台和智能诊断的原型闭环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45D94-15B7-4F93-AC81-0CE52806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中期结论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307B6-E618-43A7-A7C3-24588804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已完成“采集 - 特征 - 识别 - 上传 - 展示 - 工单 - 诊断”的端到端闭环，进入软硬件联调与可演示系统阶段。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096DE-02AA-46DD-997B-ADAD3B73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83C0A-E37D-4405-A0F0-DB9EE49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71CF5-16FA-477E-8186-4B1E3D1C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边缘端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3089A-6BE4-455C-841B-7505C9FC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STM32H750 + AD7606</a:t>
            </a:r>
          </a:p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FreeRTOS / LVGL / FFT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1BCFF-E53F-4EB1-BBA6-CCC43C06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E83E5-D33F-4281-A0D4-C3ADFE72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09642-AF0D-494B-82CB-12019840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19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上传链路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FF63C-D900-4785-B8DE-0D5D8353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ESP32 SPI + HTTP raw</a:t>
            </a:r>
          </a:p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full_frame_bin 全量上传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2633D-6F5A-40B6-A913-8FC4F441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0CE43-0831-4046-A5DC-3A11C2C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946A2-CEBA-43AD-990F-3B947C22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Web平台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47CEF-4DC0-4513-8FC1-FD45DA4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实时监控 / 历史查询</a:t>
            </a:r>
          </a:p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故障工单 / 快照追踪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FFEAC-8456-47B7-930F-E2ED0732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069D1-9186-419B-8D4E-E24E0AF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18BAB-6899-4E5D-9BA2-8EF90007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19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智能辅助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9AC65-874E-43C9-A293-B6717A48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95700"/>
            <a:ext cx="192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AI分类模型</a:t>
            </a:r>
          </a:p>
          <a:p xmlns:a="http://schemas.openxmlformats.org/drawingml/2006/main">
            <a:pPr algn="l">
              <a:def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知识图谱 + DeepSeek诊断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6E121-8D81-41D1-BC03-C11681F0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8B395-FB92-4EE0-8BE4-4F1AD94F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244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阶段成果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731DBC-D789-483D-8EB0-53BA1F40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149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原型系统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31082E-EE10-4876-863F-CF995AF6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97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嵌入式 + Web 可演示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50AEC7-2545-4990-8942-EC1FB83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822F8-2600-4F24-8C69-6C1403E1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244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论文成果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654CE0-E75B-4395-B799-8EC23CB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149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EIECT 2025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2A682F-FA42-4E33-821B-0E5B9B69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8197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已录用，待会议发表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4D7089-B9AF-447C-8E12-18F8273D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0D455E-EF5B-4634-A7AB-80999C84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244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知识产权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E9311-C0DC-4DE3-9E3E-099F0102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149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软著登记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1F120C-2DFE-43DE-BBFA-191FB100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197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2026SR0358519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AA0A54-708A-4C03-8D41-30A3200D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91125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B76004-7710-4592-9068-7B064AFF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244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联调验证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4AAD8-7E16-4BCE-8674-1C69F6FA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149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BD4127-61C7-4204-8FE5-5967022B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8197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三端稳定性验证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D970A5-1B77-49A0-93F9-3B38214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02</a:t>
            </a:r>
          </a:p>
        </p:txBody>
      </p:sp>
    </p:spTree>
    <p:extLst>
      <p:ext uri="{BB962C8B-B14F-4D97-AF65-F5344CB8AC3E}">
        <p14:creationId xmlns:p14="http://schemas.microsoft.com/office/powerpoint/2010/main" val="166517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3aac12a244bcc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5B988-AF04-4243-94CA-6638FC0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722E0-0A78-4178-9896-1F69F23A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B343-8FC3-4756-B298-8FD6E5F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BB12-DA84-4D2E-A30A-A7026169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CBF78-D5A7-4D77-A306-1B1CC8DD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F9C42-F0DB-49AF-B993-4ED0F562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边缘侧完成采样、FFT与初步识别，中心侧完成可视化、工单、知识图谱和智能诊断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1D464-9E64-4A25-BAD2-5C79C10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7239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>
              <a:alpha val="95686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50521-6E4B-4831-820C-93F8B916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>
              <a:alpha val="13333"/>
            </a:srgbClr>
          </a:solidFill>
          <a:ln xmlns:a="http://schemas.openxmlformats.org/drawingml/2006/main" w="28575">
            <a:solidFill>
              <a:srgbClr val="4484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0E1AE-2BFE-4382-A9B5-67A69FCE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AD7606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40D27-02FB-4ADF-9DF6-8FEE44F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4通道同步采样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5A2D2-4F6F-47D0-8F9C-02FEA8BD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718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A612C-4A1B-46A1-9B91-71DA15D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86075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1202E-D592-4895-9425-E1F224A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146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252">
              <a:alpha val="13333"/>
            </a:srgbClr>
          </a:solidFill>
          <a:ln xmlns:a="http://schemas.openxmlformats.org/drawingml/2006/main" w="28575">
            <a:solidFill>
              <a:srgbClr val="2242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1A3CE-103C-4805-BCEA-5859504C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STM32H750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4A156-E027-4526-B1F7-CDA6A799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4096点窗口 / FFT /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A1100-EE41-4841-8AC4-80259A3A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718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EEFAD-4E22-434C-A1C4-9585B978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86075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877C3-2867-48E7-94C8-A00694FC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>
              <a:alpha val="13333"/>
            </a:srgbClr>
          </a:solidFill>
          <a:ln xmlns:a="http://schemas.openxmlformats.org/drawingml/2006/main" w="28575">
            <a:solidFill>
              <a:srgbClr val="70AD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EC743-2F40-463B-9A9B-6A3A1B0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ESP32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CFD13-3618-4734-9C0F-33259FBD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SPI协处理 / HTTP上传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30A6A-1108-4CF5-9A81-9CAD3FE5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E1ABD-7A12-4A1C-B701-4281FC08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86075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F32E5-5E8D-4291-8883-749EA62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>
              <a:alpha val="13333"/>
            </a:srgbClr>
          </a:solidFill>
          <a:ln xmlns:a="http://schemas.openxmlformats.org/drawingml/2006/main" w="28575">
            <a:solidFill>
              <a:srgbClr val="F2A9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57658-A875-43E5-BBB3-6415564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Flask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356F8-6D37-4778-8C23-CA7F1EF4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实时监控 / 工单 / 快照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B967C-CA81-4628-858A-6CD8D57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718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8A523-4119-4437-88BF-902065C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86075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29CEAA-368D-4BA5-8F36-7E31FD37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7A89">
              <a:alpha val="13333"/>
            </a:srgbClr>
          </a:solidFill>
          <a:ln xmlns:a="http://schemas.openxmlformats.org/drawingml/2006/main" w="28575">
            <a:solidFill>
              <a:srgbClr val="6C7A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0E4D8-04CC-4AE1-87B0-72AB64E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C7A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C7A89"/>
                </a:solidFill>
                <a:latin typeface="Microsoft YaHei"/>
                <a:ea typeface="Microsoft YaHei"/>
                <a:cs typeface="Microsoft YaHei"/>
              </a:rPr>
              <a:t>智能诊断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16CFF-E3B7-45C2-830C-4789DE11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知识图谱 / DeepSeek辅助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1300a4d74471c"/>
          <a:stretch xmlns:a="http://schemas.openxmlformats.org/drawingml/2006/main"/>
        </p:blipFill>
        <p:spPr>
          <a:xfrm xmlns:a="http://schemas.openxmlformats.org/drawingml/2006/main">
            <a:off x="2371908" y="4171950"/>
            <a:ext cx="3581034" cy="10953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884689-D4F4-4F64-95DC-F03DA10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383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技术闭环：采样数据在边缘侧形成波形、频谱与状态判断，中心侧负责可视化、审计和辅助诊断。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1C8A94-207F-4D6C-8707-86AE7E4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3381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63EC73-A302-484D-8696-657791B1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90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边缘采集与处理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00E14-9D40-44E9-AFE5-17F9CABF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19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1B55BF-9919-48F4-A645-B05556A6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526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4通道同步采样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83B566-2248-4A85-A284-B0F74F69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134BFA-F16F-4A73-BD13-74F04BF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4096点波形窗口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1CC4A-5AA0-4DF5-8C7C-BCB5323D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76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B65E95-9CB7-4698-A24C-2FD69762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98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2048点FFT频谱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E15C05-2F49-4454-9D7D-8CDD1F0F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381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56B069-BC2D-47DD-908E-3C1844BF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网络上传与协议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4B0427-C900-44ED-BEFD-5470DB1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0A535F-CED6-4DA2-B840-8A8C311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242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ESP32 SPI协处理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EAFD41-7DAE-4B61-8EA7-D845DBE2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19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59AF7C-8245-4736-8B4C-2A5EEB3A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HTTP raw keep-alive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3BDDAA-0345-4C47-BA86-892E53B8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48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620811-D539-4549-88A2-4F92D16D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payload 49348 bytes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45D5A2-4344-4903-BC2A-5D34C8F2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381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9C3AE-C7AC-446D-8506-EA2BFC6B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Web智能运维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5D068F-6285-4A1B-A83E-2F666C73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230F80-194B-4C35-83C1-14523A9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95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实时监控与历史回放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DE670F-6BBD-48F4-8C1E-50C139F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5FBE5C-74EA-4CE1-8495-741C9E2D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244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故障工单与快照追踪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7E1B56-742A-490D-8B0F-8E3B21B1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9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3AB2E7-1149-4CB5-98D2-BA9B3A3F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530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知识图谱 + DeepSeek辅助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C6AF13-F8D4-4CF3-B557-7089470A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150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外部接口保持稳定：/api/node/full_frame_bin，协议 ewfull/2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3BABE3-81E8-4DDC-8CA7-96F8319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03</a:t>
            </a:r>
          </a:p>
        </p:txBody>
      </p:sp>
    </p:spTree>
    <p:extLst>
      <p:ext uri="{BB962C8B-B14F-4D97-AF65-F5344CB8AC3E}">
        <p14:creationId xmlns:p14="http://schemas.microsoft.com/office/powerpoint/2010/main" val="1147659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837df23154958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930FA-7CE6-45A6-8544-E865F2EE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BCFDD-1044-43B7-93A8-EDBE71FA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36A40-2D5A-4810-88A5-8A185A40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39E45-D40D-48AD-BD59-05B68E5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边缘端研发进展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C48A9-3317-43A9-A96F-6CCE58C6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7113D-EB30-4122-826B-1FBADACB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STM32H750边缘节点已实现采样、FFT、界面配置、通信维护和固件升级等核心功能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9C4D9-8662-44BC-9365-DED82247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3337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801c3e25d46ec"/>
          <a:srcRect xmlns:a="http://schemas.openxmlformats.org/drawingml/2006/main" l="0" t="4901" r="0" b="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1409700"/>
            <a:ext cx="3048000" cy="2152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79242-4B0C-44AC-9D69-03BE0BF7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主界面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92B12-D42D-4C0D-858B-38C591EA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714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节点状态、采样与故障概览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E32B7-7C95-4978-A446-B7E38C5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57300"/>
            <a:ext cx="33337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12448ee354f51"/>
          <a:srcRect xmlns:a="http://schemas.openxmlformats.org/drawingml/2006/main" l="0" t="4901" r="0" b="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275" y="1409700"/>
            <a:ext cx="3048000" cy="21526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332F5-04FC-46E2-B648-B0AAB0E0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通信配置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4548A-C286-402B-8ECF-0F45125E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0025"/>
            <a:ext cx="2714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服务器、APN、上传周期等参数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A16AF-92BF-4593-81A5-7BF31DC3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57300"/>
            <a:ext cx="33337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0ed14cf3a489d"/>
          <a:srcRect xmlns:a="http://schemas.openxmlformats.org/drawingml/2006/main" l="0" t="4901" r="0" b="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0075" y="1409700"/>
            <a:ext cx="3048000" cy="2152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99330-93EB-4323-8F4D-B5E45CE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系统维护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0692D-5504-4CD9-AD02-3A9FC4A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0025"/>
            <a:ext cx="2714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诊断、日志、升级与恢复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1D90F-7372-4EFC-89B6-1602041B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38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CBB73-4911-4CEE-B4E3-5003D7F3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采样窗口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A41DEA-B886-4065-9A5A-3307819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4ch x 4096 waveform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43134-9316-400D-9231-CA48F7F2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876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频域特征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EFCA3-C679-49FD-A5FF-4C711E9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124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4ch x 2048 FFT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A1691-4CD1-46EA-B3CE-5156A69D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76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运行系统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540C6-4E9A-448E-A312-847C6F26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24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FreeRTOS + LVGL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F861E-B54F-4DB8-BDDC-C60D788E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876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边缘推理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4D7F6-AE6E-457C-BFA5-4E300D88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124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X-CUBE-AI部署准备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17252-116C-4866-B5E7-574EF408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04</a:t>
            </a:r>
          </a:p>
        </p:txBody>
      </p:sp>
    </p:spTree>
    <p:extLst>
      <p:ext uri="{BB962C8B-B14F-4D97-AF65-F5344CB8AC3E}">
        <p14:creationId xmlns:p14="http://schemas.microsoft.com/office/powerpoint/2010/main" val="11952651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8b2fcb3e746ca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D4274-71BB-4EB8-9A62-41ED4944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A839D-5EE0-45E3-BF91-E7A361CD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9235C-1673-47B0-A79B-20A456EE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707A5-BABA-464D-A887-B65077A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Web运维平台进展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3EAAE-AC36-474B-97D6-D4F5DDE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6DCFE-00F8-4F3C-97B7-371A334B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平台已覆盖概览、实时监控、故障工单、快照追踪、设置状态与智能诊断入口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466C4-525D-4FB3-9E36-B2992C3C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50292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1d3688bde4ea4"/>
          <a:srcRect xmlns:a="http://schemas.openxmlformats.org/drawingml/2006/main" l="0" t="15414" r="0" b="15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57300"/>
            <a:ext cx="4800600" cy="1924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7640A-5126-475A-A3EF-28D3F98D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概览与节点态势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384F1-F4C9-4735-8FCB-C6372081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43000"/>
            <a:ext cx="56388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37d58baa14fb9"/>
          <a:srcRect xmlns:a="http://schemas.openxmlformats.org/drawingml/2006/main" l="0" t="19091" r="0" b="19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1257300"/>
            <a:ext cx="5410200" cy="1924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992B6-B671-4123-88D6-942DB069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实时波形 / FFT监测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9DE7B-7E79-480D-AEF9-A72A9E5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429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9a403b0bb404b"/>
          <a:srcRect xmlns:a="http://schemas.openxmlformats.org/drawingml/2006/main" l="0" t="8096" r="0" b="8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848100"/>
            <a:ext cx="3200400" cy="15430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ED684-A3B2-4E73-A069-2AB5E52F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故障工单 + 知识图谱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33230-BD17-494D-A74B-D19E772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3429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023b61e714633"/>
          <a:srcRect xmlns:a="http://schemas.openxmlformats.org/drawingml/2006/main" l="0" t="8096" r="0" b="8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3848100"/>
            <a:ext cx="3200400" cy="15430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CD9E5-ADEE-41A4-9AD6-4C695EC3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483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故障快照与证据追踪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895BE-5BFE-4D4B-A8C3-B3F23422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33718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0f0354b7840ed"/>
          <a:srcRect xmlns:a="http://schemas.openxmlformats.org/drawingml/2006/main" l="0" t="7637" r="0" b="7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3848100"/>
            <a:ext cx="3143250" cy="1543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8352B-A5CE-4CE9-B76B-483740C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483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系统配置与AI状态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C7FAD-65B6-4E46-9F73-E4A912AD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05</a:t>
            </a:r>
          </a:p>
        </p:txBody>
      </p:sp>
    </p:spTree>
    <p:extLst>
      <p:ext uri="{BB962C8B-B14F-4D97-AF65-F5344CB8AC3E}">
        <p14:creationId xmlns:p14="http://schemas.microsoft.com/office/powerpoint/2010/main" val="911189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c1bf54d79442c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6E483-5271-4A7D-B443-F4DEE8E4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A68F0-E3F1-41F2-BE02-135EEF8D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52BDF-2CCB-4AEE-83F8-E8128EF3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CFC77-83FD-4C26-A4A3-766E9624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AI模型与故障识别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7D832-820E-443A-BC0E-D1953B4F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92E26-78F3-4FDF-B36D-5D04799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采用工程特征、FFT频域特征和db3小波特征融合，完成E00-E06七类状态识别验证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E6DC6-A82C-4BED-9EE4-9076E73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9530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53d1bfc8c424a"/>
          <a:stretch xmlns:a="http://schemas.openxmlformats.org/drawingml/2006/main"/>
        </p:blipFill>
        <p:spPr>
          <a:xfrm xmlns:a="http://schemas.openxmlformats.org/drawingml/2006/main">
            <a:off x="1524310" y="1428750"/>
            <a:ext cx="312358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6CC3E-B80E-4700-BC79-A43C05B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模型混淆矩阵（仿真/生成数据与HIL holdout验证）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5ABDA-03C6-42D2-BE47-2A476261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00150"/>
            <a:ext cx="5657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786b1bf5f40fc"/>
          <a:srcRect xmlns:a="http://schemas.openxmlformats.org/drawingml/2006/main" l="0" t="47112" r="0" b="47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409700"/>
            <a:ext cx="5276850" cy="1524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BFB5D-CB31-4725-BE49-EF91FB60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样本波形与故障特征可视化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17BAA-7728-415B-94E3-EFFF2C43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56578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74F16-4F8D-4740-A9FA-A4DB9E0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A"/>
          </a:solidFill>
          <a:ln xmlns:a="http://schemas.openxmlformats.org/drawingml/2006/main" w="19050">
            <a:solidFill>
              <a:srgbClr val="4484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623CA-D8B0-48F3-B3A8-18B85136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290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116维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DD67E-98F5-464F-9FC7-C8800B3F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工程特征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F37D2-61FB-4688-8AC4-D6093D76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A"/>
          </a:solidFill>
          <a:ln xmlns:a="http://schemas.openxmlformats.org/drawingml/2006/main" w="19050">
            <a:solidFill>
              <a:srgbClr val="70AD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CE8B4-3E46-4DB9-8A25-A485AF3A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4 x 512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72EB9-DF84-48D6-8C18-E16034D6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14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FFT输入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2C8F6-D4FD-4358-9330-C981AD47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19050">
            <a:solidFill>
              <a:srgbClr val="F2A9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5435D-7110-4981-A075-A0C8CB70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290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104维 db3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8446F-DA03-4109-9592-C458637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DWT输入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176A1-480F-459C-B845-E028E50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9050">
            <a:solidFill>
              <a:srgbClr val="2242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98673-D8BA-4070-ADA1-3563EC00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290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E00-E06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9128CA-4DA9-4976-86A0-F9C408F5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14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分类输出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E1107-B07E-4064-9073-B9B8B6BB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163FD-5CFD-43F7-ABD8-184B334F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Test accuracy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6DBA1-8A19-4990-9D87-CBDF72F1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99.9643%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4727B-EA12-4340-9DE6-3F48902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62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83970 / 84000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B9243-3537-4E4B-B8E5-039E44B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34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730A5E-2E85-4BA0-9627-DE5F7C85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673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HIL holdout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2F1262-9007-4111-86B5-9BADFB5E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578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0AD47"/>
                </a:solidFill>
                <a:latin typeface="Microsoft YaHei"/>
                <a:ea typeface="Microsoft YaHei"/>
                <a:cs typeface="Microsoft YaHei"/>
              </a:rPr>
              <a:t>99.9690%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B02064-9E66-4113-9768-545F4D9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62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83974 / 84000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E11139-3BA6-496E-9A5C-1E021B5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846EE6-A72B-4FC2-87D1-EF5274E4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673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X-CUBE-AI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BE8A62-2952-4786-A188-4F88C6CD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578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6.22M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9C1FD8-355C-482A-997F-BD9493A8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62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MACC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322006-02E8-40BB-A138-9622853F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34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F4BF70-161A-4458-A112-62038328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673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MCU资源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53B403-5D92-418F-8D79-45ACC1C2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578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238.9KB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A22BC5-1932-4E87-924F-282AE460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962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690"/>
                </a:solidFill>
                <a:latin typeface="Microsoft YaHei"/>
                <a:ea typeface="Microsoft YaHei"/>
                <a:cs typeface="Microsoft YaHei"/>
              </a:rPr>
              <a:t>weights；295.9KB activations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5C4915-6FA3-4DA5-A02D-8E1697A8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06</a:t>
            </a:r>
          </a:p>
        </p:txBody>
      </p:sp>
    </p:spTree>
    <p:extLst>
      <p:ext uri="{BB962C8B-B14F-4D97-AF65-F5344CB8AC3E}">
        <p14:creationId xmlns:p14="http://schemas.microsoft.com/office/powerpoint/2010/main" val="8080016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8a99ac04f41f7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AA087-7FB8-400A-8665-AB172315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3CCCD-30F1-4104-AAC9-4A41B724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A4AF5-B96B-4EAC-AA29-8F9052E9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95CCD-F26E-43FA-8099-47EFB91D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三端联调与稳定性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10A59-9FAC-489C-AFA7-7589345B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4A3EC-3BBE-4503-A218-A9EB63C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以STM32、ESP32和云端服务三端日志交叉验证上传链路，20分钟测试中无超时和HTTP失败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7ED62-785C-4EED-A1A5-B48256AB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476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084dc186a4ed5"/>
          <a:stretch xmlns:a="http://schemas.openxmlformats.org/drawingml/2006/main"/>
        </p:blipFill>
        <p:spPr>
          <a:xfrm xmlns:a="http://schemas.openxmlformats.org/drawingml/2006/main">
            <a:off x="838200" y="2207768"/>
            <a:ext cx="4019550" cy="166141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91E9-18DF-463C-9391-407A2EF2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稳定链路证据卡：full帧上传、HTTP成功率、云端错误均已纳入验收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9A75D-394D-47E4-9DDF-B862CC81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00150"/>
            <a:ext cx="6096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1A40F-7097-4962-8E89-376BF944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8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83FCF-3C89-4B90-9FBE-8BEDC18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full starts / ends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F29E9-2CE9-4008-B994-D0C283DF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1062 / 1062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1CC0E-EA88-4D52-97A8-1ECB35C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8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E28A9-319D-4CD6-93CB-85BEB16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66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ESP HTTP success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0A27A-87E0-43CF-A306-108ACAD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03EB7-C8CC-4272-9CDB-A9F992C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B19A0-539A-474A-AAEA-7B0CAD25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payload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5799B-9E3F-490F-AB98-7580547D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49348 bytes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6A22D-5D15-4259-A2BB-20F0239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6660C-9FAD-41C8-AB29-C49CFCB5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33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p50 / p95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4DCF7-D5A2-44C5-A1F0-B20ABB6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62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1120 / 1158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F71D6-75C3-4DAA-953F-6CE94B15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A1991-0E46-40F2-839B-49E17239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full timeout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25228-0E3E-4259-8F9C-C630BDF6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2BD86-965B-41FC-AB91-082400F4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1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E887A-5B58-4490-9EA3-6799AEE1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http fail / cloud err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1FF91-40FB-400E-A5C3-D38E6238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0 / 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809DF-EAA7-4864-B926-2B36C66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33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说明：服务器展示日志存在节流，真实帧间隔以STM32/ESP32链路日志为准。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06039F-DAC5-4465-AB70-D502C7A5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067D1-35D8-440D-A025-B92B7A01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937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验收结论：在当前稳定基线上，full_frame_bin外部协议、上传数据量和服务器解码语义保持不变，20分钟三端联调通过。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14ECC-7377-4A1D-A63E-6DDB6D57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07</a:t>
            </a:r>
          </a:p>
        </p:txBody>
      </p:sp>
    </p:spTree>
    <p:extLst>
      <p:ext uri="{BB962C8B-B14F-4D97-AF65-F5344CB8AC3E}">
        <p14:creationId xmlns:p14="http://schemas.microsoft.com/office/powerpoint/2010/main" val="1235599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d0a2eeebd4902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E2A06-7FD2-4E85-AABE-F21522A6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E7127-7578-4C5F-82A2-564D2F5E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CE3DC-4BF6-4A11-8781-99D27575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858C2-7937-4355-8626-8B883D20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阶段性成果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6AE82-D117-41D5-B261-D059F905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1222D-6254-4111-8D39-2B1BD657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已形成系统原型、论文录用和软件著作权登记三类可佐证成果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98CA8-9780-441E-BB15-A28D2432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514350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3a3b303044d4d"/>
          <a:stretch xmlns:a="http://schemas.openxmlformats.org/drawingml/2006/main"/>
        </p:blipFill>
        <p:spPr>
          <a:xfrm xmlns:a="http://schemas.openxmlformats.org/drawingml/2006/main">
            <a:off x="2197703" y="1466850"/>
            <a:ext cx="1929194" cy="2724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9B9F2-5F73-45C0-9BE7-6C113BD6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论文录用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944E8-6390-43FE-B569-8B63185E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Fault Feature Extraction and Identification in Wind Farm DC Systems Based on Wavelet Transform and Fourier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011E2-C1F7-4E00-B509-FA286B47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EIECT 2025 已录用，待会议发表并提交 EI Compendex、Scopus。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0C503-B788-4BE4-A3EB-ECB40F61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00150"/>
            <a:ext cx="514350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bd380414e4ad9"/>
          <a:stretch xmlns:a="http://schemas.openxmlformats.org/drawingml/2006/main"/>
        </p:blipFill>
        <p:spPr>
          <a:xfrm xmlns:a="http://schemas.openxmlformats.org/drawingml/2006/main">
            <a:off x="8025170" y="1466850"/>
            <a:ext cx="2009061" cy="2724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BE64C-5ED2-4B72-9E94-81A5A7B7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00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软件著作权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5405C-EAFE-4372-AE44-ADF4502B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基于边缘计算的风力电厂故障监测系统 V1.0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0F2F5-24E6-4F05-BCC1-F6E310F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登记号：2026SR0358519；证书号：软著登字第17572800号；登记日期：2026年03月02日。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29B54-A2F1-4594-A2C7-F09BA049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08</a:t>
            </a:r>
          </a:p>
        </p:txBody>
      </p:sp>
    </p:spTree>
    <p:extLst>
      <p:ext uri="{BB962C8B-B14F-4D97-AF65-F5344CB8AC3E}">
        <p14:creationId xmlns:p14="http://schemas.microsoft.com/office/powerpoint/2010/main" val="5167797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22dd21fa4594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5F4E6-AC95-4A62-BFE0-CC05152C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A71C8-AE63-4E20-BADF-DA9EDA5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3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DB941-45F1-49F2-AA4A-9D96230C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1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6BED6-012E-4033-A2FA-A91C571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存在问题与下一步计划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2A080-0594-41E9-9AE5-3E8547D5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AD1C-6C07-4365-A855-EC2A042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048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480"/>
                </a:solidFill>
                <a:latin typeface="Microsoft YaHei"/>
                <a:ea typeface="Microsoft YaHei"/>
                <a:cs typeface="Microsoft YaHei"/>
              </a:rPr>
              <a:t>后半阶段聚焦真实样本、长期稳定性、PCB抗干扰、知识图谱解释和结题材料完善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44049-4C57-43DC-86F9-795F30B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2400300" cy="3105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C59B7-5205-4225-ADAC-448FA28B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47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B622C-8D40-4C43-8E6A-2E2D7E7A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E56EB-1C0F-4D2B-9D33-7450E9F7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真实样本不足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3A53D-9595-4D0C-8CB5-7715B37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继续扩充HIL与现场工况样本，明确仿真数据、生成数据和真实数据边界。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2C192-4AE5-47C7-AF7E-2843FD56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81125"/>
            <a:ext cx="2400300" cy="3105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E9E44-A827-400B-A1C2-6AA1558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47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E7C83-DD44-488A-AA3E-F47ED1C7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621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2FAF4-A26D-4237-8D02-0EA5270F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66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长期稳定性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B604C-07A7-4669-9BF0-61DD6AAB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延长三端联调时间，完善READY timeout、HTTP失败、低堆内存等红线监测。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2E218-BDBC-4FEF-8F61-C3B8A4F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81125"/>
            <a:ext cx="2400300" cy="3105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D4D3A-4531-404B-BE63-EF660C99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47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53F01-7CFE-4FC2-9A7D-ED915CF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35197-C969-489B-8985-073BF012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PCB与抗干扰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0ECE3-059A-4284-B6CB-63A87A02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替代杜邦线连接，优化供电、地线、SPI走线、屏蔽与AD7606接口稳定性。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C69F8-3E55-472C-A8E3-E36E5C41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81125"/>
            <a:ext cx="2400300" cy="3105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7E6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32D90-EF12-4267-8C28-FAA39404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47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C285F-8912-4604-94A1-C7A6BE23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621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1D37B-A70C-48FA-978A-D1C314F7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66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知识图谱与AI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7DEEB-D901-4728-BCDF-8045471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完善专家知识库，DeepSeek只做辅助解释和人工复核建议，不进入控制热路径。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D4163-D01C-4F83-BE7C-3D628C4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0033B8-509A-49CB-B1C5-68929E58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56737-6661-4AB4-A2D2-28D0007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245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2026.6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2645C-8BE9-4D42-8511-11D4254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6330CE-7FDB-4E1D-8D68-E60E5F8E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245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2026.7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A6A1B-C50C-444A-9EC8-A914FCF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BCEA4B-F6C4-433B-9CAD-C16A4CB1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5245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2026.8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E13797-B17C-40C2-A23F-2CCD653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67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D9063F-9B17-42C1-9A9C-77911836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5245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结题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4153E4-B2E1-414A-A91A-50F5F647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007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目标：形成可长期演示的软硬件系统、完成结题报告与成果归档。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6638D-077C-4481-A4E0-238F055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929C"/>
                </a:solidFill>
                <a:latin typeface="Microsoft YaHei"/>
                <a:ea typeface="Microsoft YaHei"/>
                <a:cs typeface="Microsoft YaHei"/>
              </a:rPr>
              <a:t>EdgeWind 中期进展汇报  |  09</a:t>
            </a:r>
          </a:p>
        </p:txBody>
      </p:sp>
    </p:spTree>
    <p:extLst>
      <p:ext uri="{BB962C8B-B14F-4D97-AF65-F5344CB8AC3E}">
        <p14:creationId xmlns:p14="http://schemas.microsoft.com/office/powerpoint/2010/main" val="19935135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cef46c26f406d"/>
          <a:srcRect xmlns:a="http://schemas.openxmlformats.org/drawingml/2006/main" l="0" t="11385" r="0" b="11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2AE90-D4F7-4D7E-BB80-D3B5C14F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ECCD1-0FFF-4695-A0D4-ED1C89DB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9429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54918-6B8A-4366-8B9A-443F9035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中期汇报总结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3DB95-1BD3-4B69-B922-B7263548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484A4"/>
                </a:solidFill>
                <a:latin typeface="Microsoft YaHei"/>
                <a:ea typeface="Microsoft YaHei"/>
                <a:cs typeface="Microsoft YaHei"/>
              </a:rPr>
              <a:t>EdgeWind 已从方案设计进入软硬件联调与可演示系统阶段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E8AA9-41CE-419E-8912-BF7D88B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9090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3241"/>
                </a:solidFill>
                <a:latin typeface="Microsoft YaHei"/>
                <a:ea typeface="Microsoft YaHei"/>
                <a:cs typeface="Microsoft YaHei"/>
              </a:rPr>
              <a:t>下一步将围绕PCB稳定连接、真实样本扩充、长期联调和结题成果固化继续推进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2024C-2F17-4529-8662-0D9483A4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86375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24252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613865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2026-05-27T14:41:58.1310000Z</dcterms:created>
  <dcterms:modified xsi:type="dcterms:W3CDTF">2026-05-27T14:41:58.1310000Z</dcterms:modified>
</coreProperties>
</file>