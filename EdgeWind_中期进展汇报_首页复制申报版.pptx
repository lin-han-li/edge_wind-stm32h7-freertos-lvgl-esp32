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1304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494480" y="0"/>
            <a:ext cx="5697520" cy="6858000"/>
          </a:xfrm>
          <a:custGeom>
            <a:avLst/>
            <a:gdLst>
              <a:gd name="connsiteX0" fmla="*/ 0 w 5697520"/>
              <a:gd name="connsiteY0" fmla="*/ 0 h 6858000"/>
              <a:gd name="connsiteX1" fmla="*/ 5697520 w 5697520"/>
              <a:gd name="connsiteY1" fmla="*/ 0 h 6858000"/>
              <a:gd name="connsiteX2" fmla="*/ 5697520 w 5697520"/>
              <a:gd name="connsiteY2" fmla="*/ 6858000 h 6858000"/>
              <a:gd name="connsiteX3" fmla="*/ 664621 w 5697520"/>
              <a:gd name="connsiteY3" fmla="*/ 6858000 h 6858000"/>
              <a:gd name="connsiteX4" fmla="*/ 681506 w 5697520"/>
              <a:gd name="connsiteY4" fmla="*/ 6816042 h 6858000"/>
              <a:gd name="connsiteX5" fmla="*/ 976126 w 5697520"/>
              <a:gd name="connsiteY5" fmla="*/ 3183063 h 6858000"/>
              <a:gd name="connsiteX6" fmla="*/ 8013 w 5697520"/>
              <a:gd name="connsiteY6" fmla="*/ 132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7520" h="6858000">
                <a:moveTo>
                  <a:pt x="0" y="0"/>
                </a:moveTo>
                <a:lnTo>
                  <a:pt x="5697520" y="0"/>
                </a:lnTo>
                <a:lnTo>
                  <a:pt x="5697520" y="6858000"/>
                </a:lnTo>
                <a:lnTo>
                  <a:pt x="664621" y="6858000"/>
                </a:lnTo>
                <a:lnTo>
                  <a:pt x="681506" y="6816042"/>
                </a:lnTo>
                <a:cubicBezTo>
                  <a:pt x="1021029" y="5919997"/>
                  <a:pt x="1148364" y="4610583"/>
                  <a:pt x="976126" y="3183063"/>
                </a:cubicBezTo>
                <a:cubicBezTo>
                  <a:pt x="823626" y="1919115"/>
                  <a:pt x="465034" y="800957"/>
                  <a:pt x="8013" y="13235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任意多边形: 形状 2"/>
          <p:cNvSpPr/>
          <p:nvPr userDrawn="1"/>
        </p:nvSpPr>
        <p:spPr>
          <a:xfrm rot="60000">
            <a:off x="336474" y="-47978"/>
            <a:ext cx="7229527" cy="6895596"/>
          </a:xfrm>
          <a:custGeom>
            <a:avLst/>
            <a:gdLst>
              <a:gd name="connsiteX0" fmla="*/ 0 w 7229527"/>
              <a:gd name="connsiteY0" fmla="*/ 106400 h 6895596"/>
              <a:gd name="connsiteX1" fmla="*/ 6095696 w 7229527"/>
              <a:gd name="connsiteY1" fmla="*/ 0 h 6895596"/>
              <a:gd name="connsiteX2" fmla="*/ 6106527 w 7229527"/>
              <a:gd name="connsiteY2" fmla="*/ 17203 h 6895596"/>
              <a:gd name="connsiteX3" fmla="*/ 7129813 w 7229527"/>
              <a:gd name="connsiteY3" fmla="*/ 3169652 h 6895596"/>
              <a:gd name="connsiteX4" fmla="*/ 6898643 w 7229527"/>
              <a:gd name="connsiteY4" fmla="*/ 6807220 h 6895596"/>
              <a:gd name="connsiteX5" fmla="*/ 6864858 w 7229527"/>
              <a:gd name="connsiteY5" fmla="*/ 6895596 h 6895596"/>
              <a:gd name="connsiteX6" fmla="*/ 4207288 w 7229527"/>
              <a:gd name="connsiteY6" fmla="*/ 6895595 h 6895596"/>
              <a:gd name="connsiteX7" fmla="*/ 0 w 7229527"/>
              <a:gd name="connsiteY7" fmla="*/ 6895595 h 6895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9527" h="6895596">
                <a:moveTo>
                  <a:pt x="0" y="106400"/>
                </a:moveTo>
                <a:lnTo>
                  <a:pt x="6095696" y="0"/>
                </a:lnTo>
                <a:lnTo>
                  <a:pt x="6106527" y="17203"/>
                </a:lnTo>
                <a:cubicBezTo>
                  <a:pt x="6577225" y="796829"/>
                  <a:pt x="6955278" y="1908558"/>
                  <a:pt x="7129813" y="3169652"/>
                </a:cubicBezTo>
                <a:cubicBezTo>
                  <a:pt x="7326938" y="4593949"/>
                  <a:pt x="7222475" y="5905385"/>
                  <a:pt x="6898643" y="6807220"/>
                </a:cubicBezTo>
                <a:lnTo>
                  <a:pt x="6864858" y="6895596"/>
                </a:lnTo>
                <a:lnTo>
                  <a:pt x="4207288" y="6895595"/>
                </a:lnTo>
                <a:lnTo>
                  <a:pt x="0" y="689559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 userDrawn="1"/>
        </p:nvSpPr>
        <p:spPr>
          <a:xfrm>
            <a:off x="276852" y="0"/>
            <a:ext cx="7170610" cy="6858001"/>
          </a:xfrm>
          <a:custGeom>
            <a:avLst/>
            <a:gdLst>
              <a:gd name="connsiteX0" fmla="*/ 0 w 7170610"/>
              <a:gd name="connsiteY0" fmla="*/ 0 h 6858001"/>
              <a:gd name="connsiteX1" fmla="*/ 2510878 w 7170610"/>
              <a:gd name="connsiteY1" fmla="*/ 0 h 6858001"/>
              <a:gd name="connsiteX2" fmla="*/ 2510878 w 7170610"/>
              <a:gd name="connsiteY2" fmla="*/ 1 h 6858001"/>
              <a:gd name="connsiteX3" fmla="*/ 4984929 w 7170610"/>
              <a:gd name="connsiteY3" fmla="*/ 1 h 6858001"/>
              <a:gd name="connsiteX4" fmla="*/ 4984929 w 7170610"/>
              <a:gd name="connsiteY4" fmla="*/ 2 h 6858001"/>
              <a:gd name="connsiteX5" fmla="*/ 5971566 w 7170610"/>
              <a:gd name="connsiteY5" fmla="*/ 2 h 6858001"/>
              <a:gd name="connsiteX6" fmla="*/ 5985603 w 7170610"/>
              <a:gd name="connsiteY6" fmla="*/ 20513 h 6858001"/>
              <a:gd name="connsiteX7" fmla="*/ 7073624 w 7170610"/>
              <a:gd name="connsiteY7" fmla="*/ 3234006 h 6858001"/>
              <a:gd name="connsiteX8" fmla="*/ 6848778 w 7170610"/>
              <a:gd name="connsiteY8" fmla="*/ 6772043 h 6858001"/>
              <a:gd name="connsiteX9" fmla="*/ 6815918 w 7170610"/>
              <a:gd name="connsiteY9" fmla="*/ 6858001 h 6858001"/>
              <a:gd name="connsiteX10" fmla="*/ 4231063 w 7170610"/>
              <a:gd name="connsiteY10" fmla="*/ 6858000 h 6858001"/>
              <a:gd name="connsiteX11" fmla="*/ 2510878 w 7170610"/>
              <a:gd name="connsiteY11" fmla="*/ 6858000 h 6858001"/>
              <a:gd name="connsiteX12" fmla="*/ 138894 w 7170610"/>
              <a:gd name="connsiteY12" fmla="*/ 6858000 h 6858001"/>
              <a:gd name="connsiteX13" fmla="*/ 0 w 7170610"/>
              <a:gd name="connsiteY13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170610" h="6858001">
                <a:moveTo>
                  <a:pt x="0" y="0"/>
                </a:moveTo>
                <a:lnTo>
                  <a:pt x="2510878" y="0"/>
                </a:lnTo>
                <a:lnTo>
                  <a:pt x="2510878" y="1"/>
                </a:lnTo>
                <a:lnTo>
                  <a:pt x="4984929" y="1"/>
                </a:lnTo>
                <a:lnTo>
                  <a:pt x="4984929" y="2"/>
                </a:lnTo>
                <a:lnTo>
                  <a:pt x="5971566" y="2"/>
                </a:lnTo>
                <a:lnTo>
                  <a:pt x="5985603" y="20513"/>
                </a:lnTo>
                <a:cubicBezTo>
                  <a:pt x="6486248" y="782577"/>
                  <a:pt x="6892546" y="1925644"/>
                  <a:pt x="7073624" y="3234006"/>
                </a:cubicBezTo>
                <a:cubicBezTo>
                  <a:pt x="7265355" y="4619331"/>
                  <a:pt x="7163750" y="5894884"/>
                  <a:pt x="6848778" y="6772043"/>
                </a:cubicBezTo>
                <a:lnTo>
                  <a:pt x="6815918" y="6858001"/>
                </a:lnTo>
                <a:lnTo>
                  <a:pt x="4231063" y="6858000"/>
                </a:lnTo>
                <a:lnTo>
                  <a:pt x="2510878" y="6858000"/>
                </a:lnTo>
                <a:lnTo>
                  <a:pt x="13889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/>
          <a:srcRect l="34251" b="9409"/>
          <a:stretch>
            <a:fillRect/>
          </a:stretch>
        </p:blipFill>
        <p:spPr>
          <a:xfrm>
            <a:off x="0" y="436547"/>
            <a:ext cx="7585100" cy="6421454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695324" y="3672707"/>
            <a:ext cx="45719" cy="65302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13"/>
          <p:cNvSpPr/>
          <p:nvPr userDrawn="1"/>
        </p:nvSpPr>
        <p:spPr>
          <a:xfrm>
            <a:off x="695324" y="4890778"/>
            <a:ext cx="2733675" cy="447729"/>
          </a:xfrm>
          <a:prstGeom prst="roundRect">
            <a:avLst>
              <a:gd name="adj" fmla="val 1375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695106" y="1348560"/>
            <a:ext cx="80058" cy="81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695326" y="1561083"/>
            <a:ext cx="6073775" cy="176445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60896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1" spc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阿里巴巴普惠体 B" panose="00020600040101010101" pitchFamily="18" charset="-122"/>
              </a:defRPr>
            </a:lvl1pPr>
            <a:lvl2pPr marL="3048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6102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9150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2192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单击此处编辑标题样式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57329" y="4914587"/>
            <a:ext cx="2571669" cy="40011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spAutoFit/>
          </a:bodyPr>
          <a:lstStyle>
            <a:lvl1pPr marL="0" indent="0" algn="l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阿里巴巴普惠体 B" panose="00020600040101010101" pitchFamily="18" charset="-122"/>
              </a:defRPr>
            </a:lvl1pPr>
            <a:lvl2pPr marL="3048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6102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9150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2192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568700"/>
            <a:ext cx="4689936" cy="761234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6089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阿里巴巴普惠体 B" panose="00020600040101010101" pitchFamily="18" charset="-122"/>
              </a:defRPr>
            </a:lvl1pPr>
            <a:lvl2pPr marL="3048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6102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9150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2192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  <a:p>
            <a:pPr lvl="0"/>
            <a:r>
              <a:rPr lang="zh-CN" altLang="en-US" dirty="0"/>
              <a:t>删除图片后单击图标可替换图片</a:t>
            </a:r>
          </a:p>
        </p:txBody>
      </p:sp>
    </p:spTree>
    <p:extLst>
      <p:ext uri="{BB962C8B-B14F-4D97-AF65-F5344CB8AC3E}">
        <p14:creationId xmlns:p14="http://schemas.microsoft.com/office/powerpoint/2010/main" val="260112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/>
          <p:cNvCxnSpPr/>
          <p:nvPr/>
        </p:nvCxnSpPr>
        <p:spPr>
          <a:xfrm>
            <a:off x="695325" y="3329519"/>
            <a:ext cx="5982640" cy="0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95325" y="3329519"/>
            <a:ext cx="391103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占位符 14" descr="D:/桌面/图片/3.png3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13690" r="13690"/>
          <a:stretch>
            <a:fillRect/>
          </a:stretch>
        </p:blipFill>
        <p:spPr>
          <a:xfrm>
            <a:off x="6494480" y="0"/>
            <a:ext cx="5697520" cy="6858000"/>
          </a:xfrm>
        </p:spPr>
      </p:pic>
      <p:sp>
        <p:nvSpPr>
          <p:cNvPr id="9" name="文本占位符 8"/>
          <p:cNvSpPr>
            <a:spLocks noGrp="1"/>
          </p:cNvSpPr>
          <p:nvPr>
            <p:ph type="body" sz="quarter" idx="11"/>
          </p:nvPr>
        </p:nvSpPr>
        <p:spPr>
          <a:xfrm>
            <a:off x="221615" y="1350645"/>
            <a:ext cx="6636385" cy="1827530"/>
          </a:xfrm>
          <a:solidFill>
            <a:schemeClr val="bg1"/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zh-CN" altLang="en-US" sz="4800" spc="300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基于边缘计算的风电场</a:t>
            </a:r>
          </a:p>
          <a:p>
            <a:pPr algn="ctr"/>
            <a:r>
              <a:rPr lang="zh-CN" altLang="en-US" sz="4800" spc="300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直流系统故障监测</a:t>
            </a:r>
            <a:endParaRPr lang="zh-CN" altLang="en-US" sz="4800" spc="300" dirty="0">
              <a:solidFill>
                <a:schemeClr val="accent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/>
          </p:nvPr>
        </p:nvSpPr>
        <p:spPr>
          <a:xfrm>
            <a:off x="762079" y="4933002"/>
            <a:ext cx="2571669" cy="400110"/>
          </a:xfrm>
        </p:spPr>
        <p:txBody>
          <a:bodyPr/>
          <a:lstStyle/>
          <a:p>
            <a:r>
              <a:rPr lang="zh-CN" altLang="en-US"/>
              <a:t>中期进展 </a:t>
            </a:r>
            <a:r>
              <a:rPr lang="en-US" altLang="zh-CN"/>
              <a:t>| 2026.05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838200" y="3568700"/>
            <a:ext cx="5188585" cy="1298575"/>
          </a:xfrm>
        </p:spPr>
        <p:txBody>
          <a:bodyPr>
            <a:noAutofit/>
          </a:bodyPr>
          <a:lstStyle/>
          <a:p>
            <a:r>
              <a:rPr lang="zh-CN" altLang="en-US" sz="2800"/>
              <a:t>报告人：彭建中</a:t>
            </a:r>
          </a:p>
          <a:p>
            <a:r>
              <a:rPr lang="zh-CN" altLang="en-US" sz="2800"/>
              <a:t>指导老师：刘争红</a:t>
            </a:r>
            <a:endParaRPr lang="zh-CN" altLang="en-US" sz="2800" dirty="0"/>
          </a:p>
        </p:txBody>
      </p:sp>
      <p:pic>
        <p:nvPicPr>
          <p:cNvPr id="3" name="图片 2" descr="校标蓝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7965"/>
            <a:ext cx="4783455" cy="786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1F76F4C-FA8F-4C0E-9F24-8B9802EDC8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BBE2851-86BE-4C91-A79E-E2F864F96D85}"/>
              </a:ext>
            </a:extLst>
          </p:cNvPr>
          <p:cNvSpPr>
            <a:spLocks noGrp="1"/>
          </p:cNvSpPr>
          <p:nvPr/>
        </p:nvSpPr>
        <p:spPr>
          <a:xfrm>
            <a:off x="371475" y="333375"/>
            <a:ext cx="266700" cy="2667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2970CA-6578-4F9E-BDD2-191B16B5C1C9}"/>
              </a:ext>
            </a:extLst>
          </p:cNvPr>
          <p:cNvSpPr>
            <a:spLocks noGrp="1"/>
          </p:cNvSpPr>
          <p:nvPr/>
        </p:nvSpPr>
        <p:spPr>
          <a:xfrm>
            <a:off x="371475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AD976E-3659-4BA9-86B9-FD6D4F308C03}"/>
              </a:ext>
            </a:extLst>
          </p:cNvPr>
          <p:cNvSpPr>
            <a:spLocks noGrp="1"/>
          </p:cNvSpPr>
          <p:nvPr/>
        </p:nvSpPr>
        <p:spPr>
          <a:xfrm>
            <a:off x="733425" y="276225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项目目标与中期结论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898690-856A-4326-AE57-11157B60701E}"/>
              </a:ext>
            </a:extLst>
          </p:cNvPr>
          <p:cNvSpPr>
            <a:spLocks noGrp="1"/>
          </p:cNvSpPr>
          <p:nvPr/>
        </p:nvSpPr>
        <p:spPr>
          <a:xfrm>
            <a:off x="733425" y="638175"/>
            <a:ext cx="34290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9D292B-F0BF-4942-A557-9CC85D2FE5C9}"/>
              </a:ext>
            </a:extLst>
          </p:cNvPr>
          <p:cNvSpPr>
            <a:spLocks noGrp="1"/>
          </p:cNvSpPr>
          <p:nvPr/>
        </p:nvSpPr>
        <p:spPr>
          <a:xfrm>
            <a:off x="733425" y="7048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围绕风电场直流系统故障监测，已完成边缘端、通信链路、Web平台和智能诊断的原型闭环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C45D94-15B7-4F93-AC81-0CE528066C71}"/>
              </a:ext>
            </a:extLst>
          </p:cNvPr>
          <p:cNvSpPr>
            <a:spLocks noGrp="1"/>
          </p:cNvSpPr>
          <p:nvPr/>
        </p:nvSpPr>
        <p:spPr>
          <a:xfrm>
            <a:off x="742950" y="12382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中期结论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0307B6-E618-43A7-A7C3-245888042D70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5143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已完成“采集 - 特征 - 识别 - 上传 - 展示 - 工单 - 诊断”的端到端闭环，进入软硬件联调与可演示系统阶段。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63096DE-02AA-46DD-997B-ADAD3B732DDF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583C0A-E37D-4405-A0F0-DB9EE495641C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361950" cy="36195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471CF5-16FA-477E-8186-4B1E3D1C1C3B}"/>
              </a:ext>
            </a:extLst>
          </p:cNvPr>
          <p:cNvSpPr>
            <a:spLocks noGrp="1"/>
          </p:cNvSpPr>
          <p:nvPr/>
        </p:nvSpPr>
        <p:spPr>
          <a:xfrm>
            <a:off x="1466850" y="32194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边缘端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23089A-6BE4-455C-841B-7505C9FC1C3E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19240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STM32H750 + AD7606</a:t>
            </a:r>
          </a:p>
          <a:p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FreeRTOS / LVGL / FFT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B61BCFF-E53F-4EB1-BBA6-CCC43C06314C}"/>
              </a:ext>
            </a:extLst>
          </p:cNvPr>
          <p:cNvSpPr>
            <a:spLocks noGrp="1"/>
          </p:cNvSpPr>
          <p:nvPr/>
        </p:nvSpPr>
        <p:spPr>
          <a:xfrm>
            <a:off x="3505200" y="3028950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C4E83E5-D33F-4281-A0D4-C3ADFE7249FA}"/>
              </a:ext>
            </a:extLst>
          </p:cNvPr>
          <p:cNvSpPr>
            <a:spLocks noGrp="1"/>
          </p:cNvSpPr>
          <p:nvPr/>
        </p:nvSpPr>
        <p:spPr>
          <a:xfrm>
            <a:off x="3714750" y="3238500"/>
            <a:ext cx="361950" cy="361950"/>
          </a:xfrm>
          <a:prstGeom prst="ellipse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F09642-AF0D-494B-82CB-12019840F4DF}"/>
              </a:ext>
            </a:extLst>
          </p:cNvPr>
          <p:cNvSpPr>
            <a:spLocks noGrp="1"/>
          </p:cNvSpPr>
          <p:nvPr/>
        </p:nvSpPr>
        <p:spPr>
          <a:xfrm>
            <a:off x="4229100" y="32194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上传链路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DFF63C-D900-4785-B8DE-0D5D835301D5}"/>
              </a:ext>
            </a:extLst>
          </p:cNvPr>
          <p:cNvSpPr>
            <a:spLocks noGrp="1"/>
          </p:cNvSpPr>
          <p:nvPr/>
        </p:nvSpPr>
        <p:spPr>
          <a:xfrm>
            <a:off x="3733800" y="3695700"/>
            <a:ext cx="19240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ESP32 SPI + HTTP raw</a:t>
            </a:r>
          </a:p>
          <a:p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full_frame_bin 全量上传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A12633D-6F5A-40B6-A913-8FC4F4414FB4}"/>
              </a:ext>
            </a:extLst>
          </p:cNvPr>
          <p:cNvSpPr>
            <a:spLocks noGrp="1"/>
          </p:cNvSpPr>
          <p:nvPr/>
        </p:nvSpPr>
        <p:spPr>
          <a:xfrm>
            <a:off x="6267450" y="3028950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7F0CE43-0831-4046-A5DC-3A11C2C2C28E}"/>
              </a:ext>
            </a:extLst>
          </p:cNvPr>
          <p:cNvSpPr>
            <a:spLocks noGrp="1"/>
          </p:cNvSpPr>
          <p:nvPr/>
        </p:nvSpPr>
        <p:spPr>
          <a:xfrm>
            <a:off x="6477000" y="3238500"/>
            <a:ext cx="361950" cy="361950"/>
          </a:xfrm>
          <a:prstGeom prst="ellipse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3946A2-CEBA-43AD-990F-3B947C220F8F}"/>
              </a:ext>
            </a:extLst>
          </p:cNvPr>
          <p:cNvSpPr>
            <a:spLocks noGrp="1"/>
          </p:cNvSpPr>
          <p:nvPr/>
        </p:nvSpPr>
        <p:spPr>
          <a:xfrm>
            <a:off x="6991350" y="32194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Web平台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F147CEF-4DC0-4513-8FC1-FD45DA405075}"/>
              </a:ext>
            </a:extLst>
          </p:cNvPr>
          <p:cNvSpPr>
            <a:spLocks noGrp="1"/>
          </p:cNvSpPr>
          <p:nvPr/>
        </p:nvSpPr>
        <p:spPr>
          <a:xfrm>
            <a:off x="6496050" y="3695700"/>
            <a:ext cx="19240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实时监控 / 历史查询</a:t>
            </a:r>
          </a:p>
          <a:p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故障工单 / 快照追踪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A0FFEAC-8456-47B7-930F-E2ED0732EC14}"/>
              </a:ext>
            </a:extLst>
          </p:cNvPr>
          <p:cNvSpPr>
            <a:spLocks noGrp="1"/>
          </p:cNvSpPr>
          <p:nvPr/>
        </p:nvSpPr>
        <p:spPr>
          <a:xfrm>
            <a:off x="9029700" y="3028950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C4069D1-9186-419B-8D4E-E24E0AF6542A}"/>
              </a:ext>
            </a:extLst>
          </p:cNvPr>
          <p:cNvSpPr>
            <a:spLocks noGrp="1"/>
          </p:cNvSpPr>
          <p:nvPr/>
        </p:nvSpPr>
        <p:spPr>
          <a:xfrm>
            <a:off x="9239250" y="3238500"/>
            <a:ext cx="361950" cy="361950"/>
          </a:xfrm>
          <a:prstGeom prst="ellipse">
            <a:avLst/>
          </a:prstGeom>
          <a:solidFill>
            <a:srgbClr val="2242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718BAB-6899-4E5D-9BA2-8EF90007E791}"/>
              </a:ext>
            </a:extLst>
          </p:cNvPr>
          <p:cNvSpPr>
            <a:spLocks noGrp="1"/>
          </p:cNvSpPr>
          <p:nvPr/>
        </p:nvSpPr>
        <p:spPr>
          <a:xfrm>
            <a:off x="9753600" y="32194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智能辅助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CF9AC65-874E-43C9-A293-B6717A48DC94}"/>
              </a:ext>
            </a:extLst>
          </p:cNvPr>
          <p:cNvSpPr>
            <a:spLocks noGrp="1"/>
          </p:cNvSpPr>
          <p:nvPr/>
        </p:nvSpPr>
        <p:spPr>
          <a:xfrm>
            <a:off x="9258300" y="3695700"/>
            <a:ext cx="19240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AI分类模型</a:t>
            </a:r>
          </a:p>
          <a:p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知识图谱 + DeepSeek诊断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0A6E121-8D81-41D1-BC03-C11681F075A9}"/>
              </a:ext>
            </a:extLst>
          </p:cNvPr>
          <p:cNvSpPr>
            <a:spLocks noGrp="1"/>
          </p:cNvSpPr>
          <p:nvPr/>
        </p:nvSpPr>
        <p:spPr>
          <a:xfrm>
            <a:off x="857250" y="5191125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4902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668B395-FB92-4EE0-8BE4-4F1AD94F09A2}"/>
              </a:ext>
            </a:extLst>
          </p:cNvPr>
          <p:cNvSpPr>
            <a:spLocks noGrp="1"/>
          </p:cNvSpPr>
          <p:nvPr/>
        </p:nvSpPr>
        <p:spPr>
          <a:xfrm>
            <a:off x="1028700" y="5324475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阶段成果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731DBC-D789-483D-8EB0-53BA1F40D03C}"/>
              </a:ext>
            </a:extLst>
          </p:cNvPr>
          <p:cNvSpPr>
            <a:spLocks noGrp="1"/>
          </p:cNvSpPr>
          <p:nvPr/>
        </p:nvSpPr>
        <p:spPr>
          <a:xfrm>
            <a:off x="1028700" y="5514975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原型系统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C31082E-EE10-4876-863F-CF995AF64490}"/>
              </a:ext>
            </a:extLst>
          </p:cNvPr>
          <p:cNvSpPr>
            <a:spLocks noGrp="1"/>
          </p:cNvSpPr>
          <p:nvPr/>
        </p:nvSpPr>
        <p:spPr>
          <a:xfrm>
            <a:off x="1028700" y="5819775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嵌入式 + Web 可演示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E50AEC7-2545-4990-8942-EC1FB83E3AC5}"/>
              </a:ext>
            </a:extLst>
          </p:cNvPr>
          <p:cNvSpPr>
            <a:spLocks noGrp="1"/>
          </p:cNvSpPr>
          <p:nvPr/>
        </p:nvSpPr>
        <p:spPr>
          <a:xfrm>
            <a:off x="3619500" y="5191125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4902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11822F8-2600-4F24-8C69-6C1403E12699}"/>
              </a:ext>
            </a:extLst>
          </p:cNvPr>
          <p:cNvSpPr>
            <a:spLocks noGrp="1"/>
          </p:cNvSpPr>
          <p:nvPr/>
        </p:nvSpPr>
        <p:spPr>
          <a:xfrm>
            <a:off x="3790950" y="5324475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论文成果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A654CE0-E75B-4395-B799-8EC23CB33358}"/>
              </a:ext>
            </a:extLst>
          </p:cNvPr>
          <p:cNvSpPr>
            <a:spLocks noGrp="1"/>
          </p:cNvSpPr>
          <p:nvPr/>
        </p:nvSpPr>
        <p:spPr>
          <a:xfrm>
            <a:off x="3790950" y="5514975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rPr>
              <a:t>EIECT 2025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22A682F-FA42-4E33-821B-0E5B9B69D602}"/>
              </a:ext>
            </a:extLst>
          </p:cNvPr>
          <p:cNvSpPr>
            <a:spLocks noGrp="1"/>
          </p:cNvSpPr>
          <p:nvPr/>
        </p:nvSpPr>
        <p:spPr>
          <a:xfrm>
            <a:off x="3790950" y="5819775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已录用，待会议发表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44D7089-B9AF-447C-8E12-18F8273D0491}"/>
              </a:ext>
            </a:extLst>
          </p:cNvPr>
          <p:cNvSpPr>
            <a:spLocks noGrp="1"/>
          </p:cNvSpPr>
          <p:nvPr/>
        </p:nvSpPr>
        <p:spPr>
          <a:xfrm>
            <a:off x="6381750" y="5191125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4902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A0D455E-EF5B-4634-A7AB-80999C84A7D2}"/>
              </a:ext>
            </a:extLst>
          </p:cNvPr>
          <p:cNvSpPr>
            <a:spLocks noGrp="1"/>
          </p:cNvSpPr>
          <p:nvPr/>
        </p:nvSpPr>
        <p:spPr>
          <a:xfrm>
            <a:off x="6553200" y="5324475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知识产权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D9E9311-C0DC-4DE3-9E3E-099F01029BC5}"/>
              </a:ext>
            </a:extLst>
          </p:cNvPr>
          <p:cNvSpPr>
            <a:spLocks noGrp="1"/>
          </p:cNvSpPr>
          <p:nvPr/>
        </p:nvSpPr>
        <p:spPr>
          <a:xfrm>
            <a:off x="6553200" y="5514975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软著登记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31F120C-2DFE-43DE-BBFA-191FB100FE2A}"/>
              </a:ext>
            </a:extLst>
          </p:cNvPr>
          <p:cNvSpPr>
            <a:spLocks noGrp="1"/>
          </p:cNvSpPr>
          <p:nvPr/>
        </p:nvSpPr>
        <p:spPr>
          <a:xfrm>
            <a:off x="6553200" y="5819775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2026SR0358519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0AA0A54-708A-4C03-8D41-30A3200D625D}"/>
              </a:ext>
            </a:extLst>
          </p:cNvPr>
          <p:cNvSpPr>
            <a:spLocks noGrp="1"/>
          </p:cNvSpPr>
          <p:nvPr/>
        </p:nvSpPr>
        <p:spPr>
          <a:xfrm>
            <a:off x="9144000" y="5191125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4902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3B76004-7710-4592-9068-7B064AFF7B51}"/>
              </a:ext>
            </a:extLst>
          </p:cNvPr>
          <p:cNvSpPr>
            <a:spLocks noGrp="1"/>
          </p:cNvSpPr>
          <p:nvPr/>
        </p:nvSpPr>
        <p:spPr>
          <a:xfrm>
            <a:off x="9315450" y="5324475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联调验证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094AAD8-7E16-4BCE-8674-1C69F6FA4BFE}"/>
              </a:ext>
            </a:extLst>
          </p:cNvPr>
          <p:cNvSpPr>
            <a:spLocks noGrp="1"/>
          </p:cNvSpPr>
          <p:nvPr/>
        </p:nvSpPr>
        <p:spPr>
          <a:xfrm>
            <a:off x="9315450" y="5514975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20 min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5BD4127-61C7-4204-8FE5-5967022B4AB0}"/>
              </a:ext>
            </a:extLst>
          </p:cNvPr>
          <p:cNvSpPr>
            <a:spLocks noGrp="1"/>
          </p:cNvSpPr>
          <p:nvPr/>
        </p:nvSpPr>
        <p:spPr>
          <a:xfrm>
            <a:off x="9315450" y="5819775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三端稳定性验证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6D970A5-1B77-49A0-93F9-3B38214AE750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02</a:t>
            </a:r>
          </a:p>
        </p:txBody>
      </p:sp>
    </p:spTree>
    <p:extLst>
      <p:ext uri="{BB962C8B-B14F-4D97-AF65-F5344CB8AC3E}">
        <p14:creationId xmlns:p14="http://schemas.microsoft.com/office/powerpoint/2010/main" val="16651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C55B988-AF04-4243-94CA-6638FC0598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40722E0-0A78-4178-9896-1F69F23A31C1}"/>
              </a:ext>
            </a:extLst>
          </p:cNvPr>
          <p:cNvSpPr>
            <a:spLocks noGrp="1"/>
          </p:cNvSpPr>
          <p:nvPr/>
        </p:nvSpPr>
        <p:spPr>
          <a:xfrm>
            <a:off x="371475" y="333375"/>
            <a:ext cx="266700" cy="2667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3EB343-8FC3-4756-B298-8FD6E5F6D672}"/>
              </a:ext>
            </a:extLst>
          </p:cNvPr>
          <p:cNvSpPr>
            <a:spLocks noGrp="1"/>
          </p:cNvSpPr>
          <p:nvPr/>
        </p:nvSpPr>
        <p:spPr>
          <a:xfrm>
            <a:off x="371475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EDBB12-DA84-4D2E-A30A-A702616919C7}"/>
              </a:ext>
            </a:extLst>
          </p:cNvPr>
          <p:cNvSpPr>
            <a:spLocks noGrp="1"/>
          </p:cNvSpPr>
          <p:nvPr/>
        </p:nvSpPr>
        <p:spPr>
          <a:xfrm>
            <a:off x="733425" y="276225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7CBF78-D5A7-4D77-A306-1B1CC8DD1495}"/>
              </a:ext>
            </a:extLst>
          </p:cNvPr>
          <p:cNvSpPr>
            <a:spLocks noGrp="1"/>
          </p:cNvSpPr>
          <p:nvPr/>
        </p:nvSpPr>
        <p:spPr>
          <a:xfrm>
            <a:off x="733425" y="638175"/>
            <a:ext cx="34290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7F9C42-F0DB-49AF-B993-4ED0F56214CD}"/>
              </a:ext>
            </a:extLst>
          </p:cNvPr>
          <p:cNvSpPr>
            <a:spLocks noGrp="1"/>
          </p:cNvSpPr>
          <p:nvPr/>
        </p:nvSpPr>
        <p:spPr>
          <a:xfrm>
            <a:off x="733425" y="7048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边缘侧完成采样、FFT与初步识别，中心侧完成可视化、工单、知识图谱和智能诊断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F11D464-9E64-4A25-BAD2-5C79C10FF65A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7239000" cy="4857750"/>
          </a:xfrm>
          <a:prstGeom prst="roundRect">
            <a:avLst>
              <a:gd name="adj" fmla="val 1569"/>
            </a:avLst>
          </a:prstGeom>
          <a:solidFill>
            <a:srgbClr val="FFFFFF">
              <a:alpha val="95686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E650521-6E4B-4831-820C-93F8B9163D17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990600" cy="990600"/>
          </a:xfrm>
          <a:prstGeom prst="ellipse">
            <a:avLst/>
          </a:prstGeom>
          <a:solidFill>
            <a:srgbClr val="4484A4">
              <a:alpha val="13333"/>
            </a:srgbClr>
          </a:solidFill>
          <a:ln w="28575">
            <a:solidFill>
              <a:srgbClr val="4484A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90E1AE-2BFE-4382-A9B5-67A69FCE9B88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AD7606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740D27-02FB-4ADF-9DF6-8FEE44FA9678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4通道同步采样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25A2D2-4F6F-47D0-8F9C-02FEA8BDDF22}"/>
              </a:ext>
            </a:extLst>
          </p:cNvPr>
          <p:cNvSpPr>
            <a:spLocks noGrp="1"/>
          </p:cNvSpPr>
          <p:nvPr/>
        </p:nvSpPr>
        <p:spPr>
          <a:xfrm>
            <a:off x="1981200" y="2971800"/>
            <a:ext cx="514350" cy="57150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6D0A612C-4A1B-46A1-9B91-71DA15D7646C}"/>
              </a:ext>
            </a:extLst>
          </p:cNvPr>
          <p:cNvSpPr>
            <a:spLocks noGrp="1"/>
          </p:cNvSpPr>
          <p:nvPr/>
        </p:nvSpPr>
        <p:spPr>
          <a:xfrm>
            <a:off x="2419350" y="2886075"/>
            <a:ext cx="171450" cy="228600"/>
          </a:xfrm>
          <a:prstGeom prst="triangle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3F1202E-D592-4895-9425-E1F224AB69AC}"/>
              </a:ext>
            </a:extLst>
          </p:cNvPr>
          <p:cNvSpPr>
            <a:spLocks noGrp="1"/>
          </p:cNvSpPr>
          <p:nvPr/>
        </p:nvSpPr>
        <p:spPr>
          <a:xfrm>
            <a:off x="2209800" y="2514600"/>
            <a:ext cx="990600" cy="990600"/>
          </a:xfrm>
          <a:prstGeom prst="ellipse">
            <a:avLst/>
          </a:prstGeom>
          <a:solidFill>
            <a:srgbClr val="224252">
              <a:alpha val="13333"/>
            </a:srgbClr>
          </a:solidFill>
          <a:ln w="28575">
            <a:solidFill>
              <a:srgbClr val="22425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11A3CE-103C-4805-BCEA-5859504C86F2}"/>
              </a:ext>
            </a:extLst>
          </p:cNvPr>
          <p:cNvSpPr>
            <a:spLocks noGrp="1"/>
          </p:cNvSpPr>
          <p:nvPr/>
        </p:nvSpPr>
        <p:spPr>
          <a:xfrm>
            <a:off x="2133600" y="2781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STM32H750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94A156-E027-4526-B1F7-CDA6A799CFE4}"/>
              </a:ext>
            </a:extLst>
          </p:cNvPr>
          <p:cNvSpPr>
            <a:spLocks noGrp="1"/>
          </p:cNvSpPr>
          <p:nvPr/>
        </p:nvSpPr>
        <p:spPr>
          <a:xfrm>
            <a:off x="2076450" y="31051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4096点窗口 / FFT / AI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CA1100-EE41-4841-8AC4-80259A3AC975}"/>
              </a:ext>
            </a:extLst>
          </p:cNvPr>
          <p:cNvSpPr>
            <a:spLocks noGrp="1"/>
          </p:cNvSpPr>
          <p:nvPr/>
        </p:nvSpPr>
        <p:spPr>
          <a:xfrm>
            <a:off x="3295650" y="2971800"/>
            <a:ext cx="514350" cy="57150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806EEFAD-4E22-434C-A1C4-9585B978215F}"/>
              </a:ext>
            </a:extLst>
          </p:cNvPr>
          <p:cNvSpPr>
            <a:spLocks noGrp="1"/>
          </p:cNvSpPr>
          <p:nvPr/>
        </p:nvSpPr>
        <p:spPr>
          <a:xfrm>
            <a:off x="3733800" y="2886075"/>
            <a:ext cx="171450" cy="228600"/>
          </a:xfrm>
          <a:prstGeom prst="triangle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CB877C3-2867-48E7-94C8-A00694FCD0CF}"/>
              </a:ext>
            </a:extLst>
          </p:cNvPr>
          <p:cNvSpPr>
            <a:spLocks noGrp="1"/>
          </p:cNvSpPr>
          <p:nvPr/>
        </p:nvSpPr>
        <p:spPr>
          <a:xfrm>
            <a:off x="3524250" y="2514600"/>
            <a:ext cx="990600" cy="990600"/>
          </a:xfrm>
          <a:prstGeom prst="ellipse">
            <a:avLst/>
          </a:prstGeom>
          <a:solidFill>
            <a:srgbClr val="70AD47">
              <a:alpha val="13333"/>
            </a:srgbClr>
          </a:solidFill>
          <a:ln w="28575">
            <a:solidFill>
              <a:srgbClr val="70AD4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4EC743-2F40-463B-9A9B-6A3A1B00C596}"/>
              </a:ext>
            </a:extLst>
          </p:cNvPr>
          <p:cNvSpPr>
            <a:spLocks noGrp="1"/>
          </p:cNvSpPr>
          <p:nvPr/>
        </p:nvSpPr>
        <p:spPr>
          <a:xfrm>
            <a:off x="3448050" y="2781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rPr>
              <a:t>ESP32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7CFD13-3618-4734-9C0F-33259FBD76DE}"/>
              </a:ext>
            </a:extLst>
          </p:cNvPr>
          <p:cNvSpPr>
            <a:spLocks noGrp="1"/>
          </p:cNvSpPr>
          <p:nvPr/>
        </p:nvSpPr>
        <p:spPr>
          <a:xfrm>
            <a:off x="3390900" y="31051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SPI协处理 / HTTP上传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130A6A-1108-4CF5-9A81-9CAD3FE5F917}"/>
              </a:ext>
            </a:extLst>
          </p:cNvPr>
          <p:cNvSpPr>
            <a:spLocks noGrp="1"/>
          </p:cNvSpPr>
          <p:nvPr/>
        </p:nvSpPr>
        <p:spPr>
          <a:xfrm>
            <a:off x="4610100" y="2971800"/>
            <a:ext cx="514350" cy="57150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404E1ABD-7A12-4A1C-B701-4281FC08A760}"/>
              </a:ext>
            </a:extLst>
          </p:cNvPr>
          <p:cNvSpPr>
            <a:spLocks noGrp="1"/>
          </p:cNvSpPr>
          <p:nvPr/>
        </p:nvSpPr>
        <p:spPr>
          <a:xfrm>
            <a:off x="5048250" y="2886075"/>
            <a:ext cx="171450" cy="228600"/>
          </a:xfrm>
          <a:prstGeom prst="triangle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4AF32E5-5E8D-4291-8883-749EA62D846D}"/>
              </a:ext>
            </a:extLst>
          </p:cNvPr>
          <p:cNvSpPr>
            <a:spLocks noGrp="1"/>
          </p:cNvSpPr>
          <p:nvPr/>
        </p:nvSpPr>
        <p:spPr>
          <a:xfrm>
            <a:off x="4838700" y="2514600"/>
            <a:ext cx="990600" cy="990600"/>
          </a:xfrm>
          <a:prstGeom prst="ellipse">
            <a:avLst/>
          </a:prstGeom>
          <a:solidFill>
            <a:srgbClr val="F2A93B">
              <a:alpha val="13333"/>
            </a:srgbClr>
          </a:solidFill>
          <a:ln w="28575">
            <a:solidFill>
              <a:srgbClr val="F2A93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0A57658-A875-43E5-BBB3-6415564F9189}"/>
              </a:ext>
            </a:extLst>
          </p:cNvPr>
          <p:cNvSpPr>
            <a:spLocks noGrp="1"/>
          </p:cNvSpPr>
          <p:nvPr/>
        </p:nvSpPr>
        <p:spPr>
          <a:xfrm>
            <a:off x="4762500" y="2781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Flask Web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0356F8-6D37-4778-8C23-CA7F1EF42E81}"/>
              </a:ext>
            </a:extLst>
          </p:cNvPr>
          <p:cNvSpPr>
            <a:spLocks noGrp="1"/>
          </p:cNvSpPr>
          <p:nvPr/>
        </p:nvSpPr>
        <p:spPr>
          <a:xfrm>
            <a:off x="4705350" y="31051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实时监控 / 工单 / 快照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A7B967C-CA81-4628-858A-6CD8D5798CE9}"/>
              </a:ext>
            </a:extLst>
          </p:cNvPr>
          <p:cNvSpPr>
            <a:spLocks noGrp="1"/>
          </p:cNvSpPr>
          <p:nvPr/>
        </p:nvSpPr>
        <p:spPr>
          <a:xfrm>
            <a:off x="5924550" y="2971800"/>
            <a:ext cx="514350" cy="57150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3928A523-4119-4437-88BF-902065C5823C}"/>
              </a:ext>
            </a:extLst>
          </p:cNvPr>
          <p:cNvSpPr>
            <a:spLocks noGrp="1"/>
          </p:cNvSpPr>
          <p:nvPr/>
        </p:nvSpPr>
        <p:spPr>
          <a:xfrm>
            <a:off x="6362700" y="2886075"/>
            <a:ext cx="171450" cy="228600"/>
          </a:xfrm>
          <a:prstGeom prst="triangle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C29CEAA-368D-4BA5-8F36-7E31FD37ABE8}"/>
              </a:ext>
            </a:extLst>
          </p:cNvPr>
          <p:cNvSpPr>
            <a:spLocks noGrp="1"/>
          </p:cNvSpPr>
          <p:nvPr/>
        </p:nvSpPr>
        <p:spPr>
          <a:xfrm>
            <a:off x="6153150" y="2514600"/>
            <a:ext cx="990600" cy="990600"/>
          </a:xfrm>
          <a:prstGeom prst="ellipse">
            <a:avLst/>
          </a:prstGeom>
          <a:solidFill>
            <a:srgbClr val="6C7A89">
              <a:alpha val="13333"/>
            </a:srgbClr>
          </a:solidFill>
          <a:ln w="28575">
            <a:solidFill>
              <a:srgbClr val="6C7A89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120E4D8-04CC-4AE1-87B0-72AB64EF3BFB}"/>
              </a:ext>
            </a:extLst>
          </p:cNvPr>
          <p:cNvSpPr>
            <a:spLocks noGrp="1"/>
          </p:cNvSpPr>
          <p:nvPr/>
        </p:nvSpPr>
        <p:spPr>
          <a:xfrm>
            <a:off x="6076950" y="2781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C7A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C7A89"/>
                </a:solidFill>
                <a:latin typeface="Microsoft YaHei"/>
                <a:ea typeface="Microsoft YaHei"/>
                <a:cs typeface="Microsoft YaHei"/>
              </a:rPr>
              <a:t>智能诊断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2416CFF-E3B7-45C2-830C-4789DE11CB08}"/>
              </a:ext>
            </a:extLst>
          </p:cNvPr>
          <p:cNvSpPr>
            <a:spLocks noGrp="1"/>
          </p:cNvSpPr>
          <p:nvPr/>
        </p:nvSpPr>
        <p:spPr>
          <a:xfrm>
            <a:off x="6019800" y="31051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知识图谱 / DeepSeek辅助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371908" y="4171950"/>
            <a:ext cx="3581034" cy="1095375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1D884689-D4F4-4F64-95DC-F03DA10595CF}"/>
              </a:ext>
            </a:extLst>
          </p:cNvPr>
          <p:cNvSpPr>
            <a:spLocks noGrp="1"/>
          </p:cNvSpPr>
          <p:nvPr/>
        </p:nvSpPr>
        <p:spPr>
          <a:xfrm>
            <a:off x="1123950" y="1638300"/>
            <a:ext cx="590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技术闭环：采样数据在边缘侧形成波形、频谱与状态判断，中心侧负责可视化、审计和辅助诊断。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A1C8A94-207F-4D6C-8707-86AE7E46EC14}"/>
              </a:ext>
            </a:extLst>
          </p:cNvPr>
          <p:cNvSpPr>
            <a:spLocks noGrp="1"/>
          </p:cNvSpPr>
          <p:nvPr/>
        </p:nvSpPr>
        <p:spPr>
          <a:xfrm>
            <a:off x="8096250" y="1200150"/>
            <a:ext cx="3381375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63EC73-A302-484D-8696-657791B130AB}"/>
              </a:ext>
            </a:extLst>
          </p:cNvPr>
          <p:cNvSpPr>
            <a:spLocks noGrp="1"/>
          </p:cNvSpPr>
          <p:nvPr/>
        </p:nvSpPr>
        <p:spPr>
          <a:xfrm>
            <a:off x="8362950" y="13906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边缘采集与处理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D900E14-9D40-44E9-AFE5-17F9CABF1D9B}"/>
              </a:ext>
            </a:extLst>
          </p:cNvPr>
          <p:cNvSpPr>
            <a:spLocks noGrp="1"/>
          </p:cNvSpPr>
          <p:nvPr/>
        </p:nvSpPr>
        <p:spPr>
          <a:xfrm>
            <a:off x="8362950" y="181927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1B55BF-9919-48F4-A645-B05556A600BF}"/>
              </a:ext>
            </a:extLst>
          </p:cNvPr>
          <p:cNvSpPr>
            <a:spLocks noGrp="1"/>
          </p:cNvSpPr>
          <p:nvPr/>
        </p:nvSpPr>
        <p:spPr>
          <a:xfrm>
            <a:off x="8534400" y="175260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4通道同步采样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5A83B566-2248-4A85-A284-B0F74F69CB86}"/>
              </a:ext>
            </a:extLst>
          </p:cNvPr>
          <p:cNvSpPr>
            <a:spLocks noGrp="1"/>
          </p:cNvSpPr>
          <p:nvPr/>
        </p:nvSpPr>
        <p:spPr>
          <a:xfrm>
            <a:off x="8362950" y="204787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0134BFA-F16F-4A73-BD13-74F04BF6B724}"/>
              </a:ext>
            </a:extLst>
          </p:cNvPr>
          <p:cNvSpPr>
            <a:spLocks noGrp="1"/>
          </p:cNvSpPr>
          <p:nvPr/>
        </p:nvSpPr>
        <p:spPr>
          <a:xfrm>
            <a:off x="8534400" y="198120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4096点波形窗口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A091CC4A-5AA0-4DF5-8C7C-BCB5323D774E}"/>
              </a:ext>
            </a:extLst>
          </p:cNvPr>
          <p:cNvSpPr>
            <a:spLocks noGrp="1"/>
          </p:cNvSpPr>
          <p:nvPr/>
        </p:nvSpPr>
        <p:spPr>
          <a:xfrm>
            <a:off x="8362950" y="227647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EB65E95-9CB7-4698-A24C-2FD6976210F4}"/>
              </a:ext>
            </a:extLst>
          </p:cNvPr>
          <p:cNvSpPr>
            <a:spLocks noGrp="1"/>
          </p:cNvSpPr>
          <p:nvPr/>
        </p:nvSpPr>
        <p:spPr>
          <a:xfrm>
            <a:off x="8534400" y="220980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2048点FFT频谱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E7E15C05-2F49-4454-9D7D-8CDD1F0F6926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3381375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156B069-BC2D-47DD-908E-3C1844BFB2B1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网络上传与协议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914B0427-C900-44ED-BEFD-5470DB104045}"/>
              </a:ext>
            </a:extLst>
          </p:cNvPr>
          <p:cNvSpPr>
            <a:spLocks noGrp="1"/>
          </p:cNvSpPr>
          <p:nvPr/>
        </p:nvSpPr>
        <p:spPr>
          <a:xfrm>
            <a:off x="8362950" y="3190875"/>
            <a:ext cx="66675" cy="66675"/>
          </a:xfrm>
          <a:prstGeom prst="ellipse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D0A535F-CED6-4DA2-B840-8A8C311E4F63}"/>
              </a:ext>
            </a:extLst>
          </p:cNvPr>
          <p:cNvSpPr>
            <a:spLocks noGrp="1"/>
          </p:cNvSpPr>
          <p:nvPr/>
        </p:nvSpPr>
        <p:spPr>
          <a:xfrm>
            <a:off x="8534400" y="312420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ESP32 SPI协处理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F6EAFD41-7DAE-4B61-8EA7-D845DBE299AF}"/>
              </a:ext>
            </a:extLst>
          </p:cNvPr>
          <p:cNvSpPr>
            <a:spLocks noGrp="1"/>
          </p:cNvSpPr>
          <p:nvPr/>
        </p:nvSpPr>
        <p:spPr>
          <a:xfrm>
            <a:off x="8362950" y="3419475"/>
            <a:ext cx="66675" cy="66675"/>
          </a:xfrm>
          <a:prstGeom prst="ellipse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859AF7C-8245-4736-8B4C-2A5EEB3A8D47}"/>
              </a:ext>
            </a:extLst>
          </p:cNvPr>
          <p:cNvSpPr>
            <a:spLocks noGrp="1"/>
          </p:cNvSpPr>
          <p:nvPr/>
        </p:nvSpPr>
        <p:spPr>
          <a:xfrm>
            <a:off x="8534400" y="335280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HTTP raw keep-alive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FB3BDDAA-0345-4C47-BA86-892E53B878AB}"/>
              </a:ext>
            </a:extLst>
          </p:cNvPr>
          <p:cNvSpPr>
            <a:spLocks noGrp="1"/>
          </p:cNvSpPr>
          <p:nvPr/>
        </p:nvSpPr>
        <p:spPr>
          <a:xfrm>
            <a:off x="8362950" y="3648075"/>
            <a:ext cx="66675" cy="66675"/>
          </a:xfrm>
          <a:prstGeom prst="ellipse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7620811-D539-4549-88A2-4F92D16DDE15}"/>
              </a:ext>
            </a:extLst>
          </p:cNvPr>
          <p:cNvSpPr>
            <a:spLocks noGrp="1"/>
          </p:cNvSpPr>
          <p:nvPr/>
        </p:nvSpPr>
        <p:spPr>
          <a:xfrm>
            <a:off x="8534400" y="3581400"/>
            <a:ext cx="2590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payload 49348 bytes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4945D5A2-4344-4903-BC2A-5D34C8F27C73}"/>
              </a:ext>
            </a:extLst>
          </p:cNvPr>
          <p:cNvSpPr>
            <a:spLocks noGrp="1"/>
          </p:cNvSpPr>
          <p:nvPr/>
        </p:nvSpPr>
        <p:spPr>
          <a:xfrm>
            <a:off x="8096250" y="3943350"/>
            <a:ext cx="3381375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599C3AE-C7AC-446D-8506-EA2BFC6B429D}"/>
              </a:ext>
            </a:extLst>
          </p:cNvPr>
          <p:cNvSpPr>
            <a:spLocks noGrp="1"/>
          </p:cNvSpPr>
          <p:nvPr/>
        </p:nvSpPr>
        <p:spPr>
          <a:xfrm>
            <a:off x="8362950" y="41338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Web智能运维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895D068F-6285-4A1B-A83E-2F666C73FB53}"/>
              </a:ext>
            </a:extLst>
          </p:cNvPr>
          <p:cNvSpPr>
            <a:spLocks noGrp="1"/>
          </p:cNvSpPr>
          <p:nvPr/>
        </p:nvSpPr>
        <p:spPr>
          <a:xfrm>
            <a:off x="8362950" y="4562475"/>
            <a:ext cx="66675" cy="66675"/>
          </a:xfrm>
          <a:prstGeom prst="ellipse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9230F80-194B-4C35-83C1-14523A9618E9}"/>
              </a:ext>
            </a:extLst>
          </p:cNvPr>
          <p:cNvSpPr>
            <a:spLocks noGrp="1"/>
          </p:cNvSpPr>
          <p:nvPr/>
        </p:nvSpPr>
        <p:spPr>
          <a:xfrm>
            <a:off x="8534400" y="4495800"/>
            <a:ext cx="2686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实时监控与历史回放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D8DE670F-6BBD-48F4-8C1E-50C139FC7528}"/>
              </a:ext>
            </a:extLst>
          </p:cNvPr>
          <p:cNvSpPr>
            <a:spLocks noGrp="1"/>
          </p:cNvSpPr>
          <p:nvPr/>
        </p:nvSpPr>
        <p:spPr>
          <a:xfrm>
            <a:off x="8362950" y="4791075"/>
            <a:ext cx="66675" cy="66675"/>
          </a:xfrm>
          <a:prstGeom prst="ellipse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E5FBE5C-74EA-4CE1-8495-741C9E2DFB1C}"/>
              </a:ext>
            </a:extLst>
          </p:cNvPr>
          <p:cNvSpPr>
            <a:spLocks noGrp="1"/>
          </p:cNvSpPr>
          <p:nvPr/>
        </p:nvSpPr>
        <p:spPr>
          <a:xfrm>
            <a:off x="8534400" y="4724400"/>
            <a:ext cx="2686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故障工单与快照追踪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F07E1B56-742A-490D-8B0F-8E3B21B18D14}"/>
              </a:ext>
            </a:extLst>
          </p:cNvPr>
          <p:cNvSpPr>
            <a:spLocks noGrp="1"/>
          </p:cNvSpPr>
          <p:nvPr/>
        </p:nvSpPr>
        <p:spPr>
          <a:xfrm>
            <a:off x="8362950" y="5019675"/>
            <a:ext cx="66675" cy="66675"/>
          </a:xfrm>
          <a:prstGeom prst="ellipse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D3AB2E7-1149-4CB5-98D2-BA9B3A3FA6F5}"/>
              </a:ext>
            </a:extLst>
          </p:cNvPr>
          <p:cNvSpPr>
            <a:spLocks noGrp="1"/>
          </p:cNvSpPr>
          <p:nvPr/>
        </p:nvSpPr>
        <p:spPr>
          <a:xfrm>
            <a:off x="8534400" y="4953000"/>
            <a:ext cx="2686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知识图谱 + DeepSeek辅助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DC6AF13-F8D4-4CF3-B557-7089470A096D}"/>
              </a:ext>
            </a:extLst>
          </p:cNvPr>
          <p:cNvSpPr>
            <a:spLocks noGrp="1"/>
          </p:cNvSpPr>
          <p:nvPr/>
        </p:nvSpPr>
        <p:spPr>
          <a:xfrm>
            <a:off x="8172450" y="571500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外部接口保持稳定：/api/node/full_frame_bin，协议 ewfull/2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E3BABE3-81E8-4DDC-8CA7-96F8319D6DCD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03</a:t>
            </a:r>
          </a:p>
        </p:txBody>
      </p:sp>
    </p:spTree>
    <p:extLst>
      <p:ext uri="{BB962C8B-B14F-4D97-AF65-F5344CB8AC3E}">
        <p14:creationId xmlns:p14="http://schemas.microsoft.com/office/powerpoint/2010/main" val="114765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B930FA-7CE6-45A6-8544-E865F2EE31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39BCFDD-1044-43B7-93A8-EDBE71FA4A7E}"/>
              </a:ext>
            </a:extLst>
          </p:cNvPr>
          <p:cNvSpPr>
            <a:spLocks noGrp="1"/>
          </p:cNvSpPr>
          <p:nvPr/>
        </p:nvSpPr>
        <p:spPr>
          <a:xfrm>
            <a:off x="371475" y="333375"/>
            <a:ext cx="266700" cy="2667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B36A40-2D5A-4810-88A5-8A185A40B253}"/>
              </a:ext>
            </a:extLst>
          </p:cNvPr>
          <p:cNvSpPr>
            <a:spLocks noGrp="1"/>
          </p:cNvSpPr>
          <p:nvPr/>
        </p:nvSpPr>
        <p:spPr>
          <a:xfrm>
            <a:off x="371475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D39E45-D40D-48AD-BD59-05B68E54A708}"/>
              </a:ext>
            </a:extLst>
          </p:cNvPr>
          <p:cNvSpPr>
            <a:spLocks noGrp="1"/>
          </p:cNvSpPr>
          <p:nvPr/>
        </p:nvSpPr>
        <p:spPr>
          <a:xfrm>
            <a:off x="733425" y="276225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边缘端研发进展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FC48A9-3317-43A9-A96F-6CCE58C68FD5}"/>
              </a:ext>
            </a:extLst>
          </p:cNvPr>
          <p:cNvSpPr>
            <a:spLocks noGrp="1"/>
          </p:cNvSpPr>
          <p:nvPr/>
        </p:nvSpPr>
        <p:spPr>
          <a:xfrm>
            <a:off x="733425" y="638175"/>
            <a:ext cx="34290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57113D-EB30-4122-826B-1FBADACB6B2F}"/>
              </a:ext>
            </a:extLst>
          </p:cNvPr>
          <p:cNvSpPr>
            <a:spLocks noGrp="1"/>
          </p:cNvSpPr>
          <p:nvPr/>
        </p:nvSpPr>
        <p:spPr>
          <a:xfrm>
            <a:off x="733425" y="7048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STM32H750边缘节点已实现采样、FFT、界面配置、通信维护和固件升级等核心功能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C9C4D9-8662-44BC-9365-DED822474E3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3333750" cy="3028950"/>
          </a:xfrm>
          <a:prstGeom prst="roundRect">
            <a:avLst>
              <a:gd name="adj" fmla="val 2516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t="4901" b="4901"/>
          <a:stretch>
            <a:fillRect/>
          </a:stretch>
        </p:blipFill>
        <p:spPr>
          <a:xfrm>
            <a:off x="752475" y="1409700"/>
            <a:ext cx="3048000" cy="21526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4279242-4B0C-44AC-9D69-03BE0BF7FA73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主界面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492B12-D42D-4C0D-858B-38C591EA6701}"/>
              </a:ext>
            </a:extLst>
          </p:cNvPr>
          <p:cNvSpPr>
            <a:spLocks noGrp="1"/>
          </p:cNvSpPr>
          <p:nvPr/>
        </p:nvSpPr>
        <p:spPr>
          <a:xfrm>
            <a:off x="819150" y="4010025"/>
            <a:ext cx="2714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节点状态、采样与故障概览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37E32B7-7C95-4978-A446-B7E38C5E2344}"/>
              </a:ext>
            </a:extLst>
          </p:cNvPr>
          <p:cNvSpPr>
            <a:spLocks noGrp="1"/>
          </p:cNvSpPr>
          <p:nvPr/>
        </p:nvSpPr>
        <p:spPr>
          <a:xfrm>
            <a:off x="4343400" y="1257300"/>
            <a:ext cx="3333750" cy="3028950"/>
          </a:xfrm>
          <a:prstGeom prst="roundRect">
            <a:avLst>
              <a:gd name="adj" fmla="val 2516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rcRect t="4901" b="4901"/>
          <a:stretch>
            <a:fillRect/>
          </a:stretch>
        </p:blipFill>
        <p:spPr>
          <a:xfrm>
            <a:off x="4486275" y="1409700"/>
            <a:ext cx="3048000" cy="21526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91332F5-04FC-46E2-B648-B0AAB0E0BB0D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通信配置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84548A-C286-402B-8ECF-0F45125EBB7E}"/>
              </a:ext>
            </a:extLst>
          </p:cNvPr>
          <p:cNvSpPr>
            <a:spLocks noGrp="1"/>
          </p:cNvSpPr>
          <p:nvPr/>
        </p:nvSpPr>
        <p:spPr>
          <a:xfrm>
            <a:off x="4552950" y="4010025"/>
            <a:ext cx="2714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服务器、APN、上传周期等参数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54A16AF-92BF-4593-81A5-7BF31DC3C3FF}"/>
              </a:ext>
            </a:extLst>
          </p:cNvPr>
          <p:cNvSpPr>
            <a:spLocks noGrp="1"/>
          </p:cNvSpPr>
          <p:nvPr/>
        </p:nvSpPr>
        <p:spPr>
          <a:xfrm>
            <a:off x="8077200" y="1257300"/>
            <a:ext cx="3333750" cy="3028950"/>
          </a:xfrm>
          <a:prstGeom prst="roundRect">
            <a:avLst>
              <a:gd name="adj" fmla="val 2516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rcRect t="4901" b="4901"/>
          <a:stretch>
            <a:fillRect/>
          </a:stretch>
        </p:blipFill>
        <p:spPr>
          <a:xfrm>
            <a:off x="8220075" y="1409700"/>
            <a:ext cx="3048000" cy="215265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49A99330-93EB-4323-8F4D-B5E45CEDACAE}"/>
              </a:ext>
            </a:extLst>
          </p:cNvPr>
          <p:cNvSpPr>
            <a:spLocks noGrp="1"/>
          </p:cNvSpPr>
          <p:nvPr/>
        </p:nvSpPr>
        <p:spPr>
          <a:xfrm>
            <a:off x="8286750" y="37338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系统维护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50692D-5504-4CD9-AD02-3A9FC4A79CEB}"/>
              </a:ext>
            </a:extLst>
          </p:cNvPr>
          <p:cNvSpPr>
            <a:spLocks noGrp="1"/>
          </p:cNvSpPr>
          <p:nvPr/>
        </p:nvSpPr>
        <p:spPr>
          <a:xfrm>
            <a:off x="8286750" y="4010025"/>
            <a:ext cx="2714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诊断、日志、升级与恢复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721D90F-7372-4EFC-89B6-1602041B9999}"/>
              </a:ext>
            </a:extLst>
          </p:cNvPr>
          <p:cNvSpPr>
            <a:spLocks noGrp="1"/>
          </p:cNvSpPr>
          <p:nvPr/>
        </p:nvSpPr>
        <p:spPr>
          <a:xfrm>
            <a:off x="800100" y="4686300"/>
            <a:ext cx="1038225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5CBB73-4911-4CEE-B4E3-5003D7F3A828}"/>
              </a:ext>
            </a:extLst>
          </p:cNvPr>
          <p:cNvSpPr>
            <a:spLocks noGrp="1"/>
          </p:cNvSpPr>
          <p:nvPr/>
        </p:nvSpPr>
        <p:spPr>
          <a:xfrm>
            <a:off x="1066800" y="48768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采样窗口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BA41DEA-B886-4065-9A5A-33078196A7AE}"/>
              </a:ext>
            </a:extLst>
          </p:cNvPr>
          <p:cNvSpPr>
            <a:spLocks noGrp="1"/>
          </p:cNvSpPr>
          <p:nvPr/>
        </p:nvSpPr>
        <p:spPr>
          <a:xfrm>
            <a:off x="1066800" y="51244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4ch x 4096 waveform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B43134-9316-400D-9231-CA48F7F25B8B}"/>
              </a:ext>
            </a:extLst>
          </p:cNvPr>
          <p:cNvSpPr>
            <a:spLocks noGrp="1"/>
          </p:cNvSpPr>
          <p:nvPr/>
        </p:nvSpPr>
        <p:spPr>
          <a:xfrm>
            <a:off x="3590925" y="48768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频域特征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7DEFCA3-C679-49FD-A5FF-4C711E97AAC4}"/>
              </a:ext>
            </a:extLst>
          </p:cNvPr>
          <p:cNvSpPr>
            <a:spLocks noGrp="1"/>
          </p:cNvSpPr>
          <p:nvPr/>
        </p:nvSpPr>
        <p:spPr>
          <a:xfrm>
            <a:off x="3590925" y="51244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rPr>
              <a:t>4ch x 2048 FFT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1A1691-4CD1-46EA-B3CE-5156A69D3734}"/>
              </a:ext>
            </a:extLst>
          </p:cNvPr>
          <p:cNvSpPr>
            <a:spLocks noGrp="1"/>
          </p:cNvSpPr>
          <p:nvPr/>
        </p:nvSpPr>
        <p:spPr>
          <a:xfrm>
            <a:off x="6115050" y="48768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运行系统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44540C6-4E9A-448E-A312-847C6F2697BA}"/>
              </a:ext>
            </a:extLst>
          </p:cNvPr>
          <p:cNvSpPr>
            <a:spLocks noGrp="1"/>
          </p:cNvSpPr>
          <p:nvPr/>
        </p:nvSpPr>
        <p:spPr>
          <a:xfrm>
            <a:off x="6115050" y="51244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FreeRTOS + LVGL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E6F861E-B54F-4DB8-BDDC-C60D788E42AE}"/>
              </a:ext>
            </a:extLst>
          </p:cNvPr>
          <p:cNvSpPr>
            <a:spLocks noGrp="1"/>
          </p:cNvSpPr>
          <p:nvPr/>
        </p:nvSpPr>
        <p:spPr>
          <a:xfrm>
            <a:off x="8639175" y="48768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边缘推理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74D7F6-AE6E-457C-BFA5-4E300D8877A5}"/>
              </a:ext>
            </a:extLst>
          </p:cNvPr>
          <p:cNvSpPr>
            <a:spLocks noGrp="1"/>
          </p:cNvSpPr>
          <p:nvPr/>
        </p:nvSpPr>
        <p:spPr>
          <a:xfrm>
            <a:off x="8639175" y="51244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X-CUBE-AI部署准备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5817252-116C-4866-B5E7-574EF408CAA0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04</a:t>
            </a:r>
          </a:p>
        </p:txBody>
      </p:sp>
    </p:spTree>
    <p:extLst>
      <p:ext uri="{BB962C8B-B14F-4D97-AF65-F5344CB8AC3E}">
        <p14:creationId xmlns:p14="http://schemas.microsoft.com/office/powerpoint/2010/main" val="1195265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43D4274-71BB-4EB8-9A62-41ED4944AD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7CA839D-5EE0-45E3-BF91-E7A361CD8142}"/>
              </a:ext>
            </a:extLst>
          </p:cNvPr>
          <p:cNvSpPr>
            <a:spLocks noGrp="1"/>
          </p:cNvSpPr>
          <p:nvPr/>
        </p:nvSpPr>
        <p:spPr>
          <a:xfrm>
            <a:off x="371475" y="333375"/>
            <a:ext cx="266700" cy="2667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C9235C-1673-47B0-A79B-20A456EE98A7}"/>
              </a:ext>
            </a:extLst>
          </p:cNvPr>
          <p:cNvSpPr>
            <a:spLocks noGrp="1"/>
          </p:cNvSpPr>
          <p:nvPr/>
        </p:nvSpPr>
        <p:spPr>
          <a:xfrm>
            <a:off x="371475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B707A5-BABA-464D-A887-B65077AD7429}"/>
              </a:ext>
            </a:extLst>
          </p:cNvPr>
          <p:cNvSpPr>
            <a:spLocks noGrp="1"/>
          </p:cNvSpPr>
          <p:nvPr/>
        </p:nvSpPr>
        <p:spPr>
          <a:xfrm>
            <a:off x="733425" y="276225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Web运维平台进展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63EAAE-AC36-474B-97D6-D4F5DDEFA9AD}"/>
              </a:ext>
            </a:extLst>
          </p:cNvPr>
          <p:cNvSpPr>
            <a:spLocks noGrp="1"/>
          </p:cNvSpPr>
          <p:nvPr/>
        </p:nvSpPr>
        <p:spPr>
          <a:xfrm>
            <a:off x="733425" y="638175"/>
            <a:ext cx="34290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56DCFE-00F8-4F3C-97B7-371A334B1F16}"/>
              </a:ext>
            </a:extLst>
          </p:cNvPr>
          <p:cNvSpPr>
            <a:spLocks noGrp="1"/>
          </p:cNvSpPr>
          <p:nvPr/>
        </p:nvSpPr>
        <p:spPr>
          <a:xfrm>
            <a:off x="733425" y="7048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平台已覆盖概览、实时监控、故障工单、快照追踪、设置状态与智能诊断入口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85466C4-525D-4FB3-9E36-B2992C3C1092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5029200" cy="2266950"/>
          </a:xfrm>
          <a:prstGeom prst="roundRect">
            <a:avLst>
              <a:gd name="adj" fmla="val 3361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t="15414" b="15414"/>
          <a:stretch>
            <a:fillRect/>
          </a:stretch>
        </p:blipFill>
        <p:spPr>
          <a:xfrm>
            <a:off x="685800" y="1257300"/>
            <a:ext cx="4800600" cy="19240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B7640A-5126-475A-A3EF-28D3F98DD1A0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概览与节点态势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F384F1-F4C9-4735-8FCB-C63720815399}"/>
              </a:ext>
            </a:extLst>
          </p:cNvPr>
          <p:cNvSpPr>
            <a:spLocks noGrp="1"/>
          </p:cNvSpPr>
          <p:nvPr/>
        </p:nvSpPr>
        <p:spPr>
          <a:xfrm>
            <a:off x="5924550" y="1143000"/>
            <a:ext cx="5638800" cy="2266950"/>
          </a:xfrm>
          <a:prstGeom prst="roundRect">
            <a:avLst>
              <a:gd name="adj" fmla="val 3361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rcRect t="19091" b="19091"/>
          <a:stretch>
            <a:fillRect/>
          </a:stretch>
        </p:blipFill>
        <p:spPr>
          <a:xfrm>
            <a:off x="6038850" y="1257300"/>
            <a:ext cx="5410200" cy="192405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A9992B6-B671-4123-88D6-942DB0697DE4}"/>
              </a:ext>
            </a:extLst>
          </p:cNvPr>
          <p:cNvSpPr>
            <a:spLocks noGrp="1"/>
          </p:cNvSpPr>
          <p:nvPr/>
        </p:nvSpPr>
        <p:spPr>
          <a:xfrm>
            <a:off x="6076950" y="318135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实时波形 / FFT监测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A49DE7B-7E79-480D-AEF9-A72A9E562B64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3429000" cy="2057400"/>
          </a:xfrm>
          <a:prstGeom prst="roundRect">
            <a:avLst>
              <a:gd name="adj" fmla="val 3704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rcRect t="8096" b="8096"/>
          <a:stretch>
            <a:fillRect/>
          </a:stretch>
        </p:blipFill>
        <p:spPr>
          <a:xfrm>
            <a:off x="685800" y="3848100"/>
            <a:ext cx="3200400" cy="15430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F1ED684-A3B2-4E73-A069-2AB5E52F9AEA}"/>
              </a:ext>
            </a:extLst>
          </p:cNvPr>
          <p:cNvSpPr>
            <a:spLocks noGrp="1"/>
          </p:cNvSpPr>
          <p:nvPr/>
        </p:nvSpPr>
        <p:spPr>
          <a:xfrm>
            <a:off x="723900" y="54483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故障工单 + 知识图谱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0D33230-BD17-494D-A74B-D19E772539B5}"/>
              </a:ext>
            </a:extLst>
          </p:cNvPr>
          <p:cNvSpPr>
            <a:spLocks noGrp="1"/>
          </p:cNvSpPr>
          <p:nvPr/>
        </p:nvSpPr>
        <p:spPr>
          <a:xfrm>
            <a:off x="4381500" y="3733800"/>
            <a:ext cx="3429000" cy="2057400"/>
          </a:xfrm>
          <a:prstGeom prst="roundRect">
            <a:avLst>
              <a:gd name="adj" fmla="val 3704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rcRect t="8096" b="8096"/>
          <a:stretch>
            <a:fillRect/>
          </a:stretch>
        </p:blipFill>
        <p:spPr>
          <a:xfrm>
            <a:off x="4495800" y="3848100"/>
            <a:ext cx="3200400" cy="15430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7BCD9E5-ADEE-41A4-9AD6-4C695EC3201D}"/>
              </a:ext>
            </a:extLst>
          </p:cNvPr>
          <p:cNvSpPr>
            <a:spLocks noGrp="1"/>
          </p:cNvSpPr>
          <p:nvPr/>
        </p:nvSpPr>
        <p:spPr>
          <a:xfrm>
            <a:off x="4533900" y="54483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故障快照与证据追踪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B5895BE-5BFE-4D4B-A8C3-B3F23422AAB4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3371850" cy="2057400"/>
          </a:xfrm>
          <a:prstGeom prst="roundRect">
            <a:avLst>
              <a:gd name="adj" fmla="val 3704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rcRect t="7637" b="7637"/>
          <a:stretch>
            <a:fillRect/>
          </a:stretch>
        </p:blipFill>
        <p:spPr>
          <a:xfrm>
            <a:off x="8305800" y="3848100"/>
            <a:ext cx="3143250" cy="154305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BB8352B-A5CE-4CE9-B76B-483740CC9E0C}"/>
              </a:ext>
            </a:extLst>
          </p:cNvPr>
          <p:cNvSpPr>
            <a:spLocks noGrp="1"/>
          </p:cNvSpPr>
          <p:nvPr/>
        </p:nvSpPr>
        <p:spPr>
          <a:xfrm>
            <a:off x="8343900" y="54483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系统配置与AI状态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82C7FAD-65B6-4E46-9F73-E4A912AD710E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05</a:t>
            </a:r>
          </a:p>
        </p:txBody>
      </p:sp>
    </p:spTree>
    <p:extLst>
      <p:ext uri="{BB962C8B-B14F-4D97-AF65-F5344CB8AC3E}">
        <p14:creationId xmlns:p14="http://schemas.microsoft.com/office/powerpoint/2010/main" val="911189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A16E483-5271-4A7D-B443-F4DEE8E42F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EA68F0-E3F1-41F2-BE02-135EEF8D8CC7}"/>
              </a:ext>
            </a:extLst>
          </p:cNvPr>
          <p:cNvSpPr>
            <a:spLocks noGrp="1"/>
          </p:cNvSpPr>
          <p:nvPr/>
        </p:nvSpPr>
        <p:spPr>
          <a:xfrm>
            <a:off x="371475" y="333375"/>
            <a:ext cx="266700" cy="2667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452BDF-2CCB-4AEE-83F8-E8128EF30D2F}"/>
              </a:ext>
            </a:extLst>
          </p:cNvPr>
          <p:cNvSpPr>
            <a:spLocks noGrp="1"/>
          </p:cNvSpPr>
          <p:nvPr/>
        </p:nvSpPr>
        <p:spPr>
          <a:xfrm>
            <a:off x="371475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3CFC77-83FD-4C26-A4A3-766E9624F4A8}"/>
              </a:ext>
            </a:extLst>
          </p:cNvPr>
          <p:cNvSpPr>
            <a:spLocks noGrp="1"/>
          </p:cNvSpPr>
          <p:nvPr/>
        </p:nvSpPr>
        <p:spPr>
          <a:xfrm>
            <a:off x="733425" y="276225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AI模型与故障识别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7D832-820E-443A-BC0E-D1953B4F9A11}"/>
              </a:ext>
            </a:extLst>
          </p:cNvPr>
          <p:cNvSpPr>
            <a:spLocks noGrp="1"/>
          </p:cNvSpPr>
          <p:nvPr/>
        </p:nvSpPr>
        <p:spPr>
          <a:xfrm>
            <a:off x="733425" y="638175"/>
            <a:ext cx="34290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092E26-78F3-4FDF-B36D-5D04799A81B1}"/>
              </a:ext>
            </a:extLst>
          </p:cNvPr>
          <p:cNvSpPr>
            <a:spLocks noGrp="1"/>
          </p:cNvSpPr>
          <p:nvPr/>
        </p:nvSpPr>
        <p:spPr>
          <a:xfrm>
            <a:off x="733425" y="7048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采用工程特征、FFT频域特征和db3小波特征融合，完成E00-E06七类状态识别验证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58E6DC6-A82C-4BED-9EE4-9076E7382FD1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4953000" cy="3886200"/>
          </a:xfrm>
          <a:prstGeom prst="roundRect">
            <a:avLst>
              <a:gd name="adj" fmla="val 1961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24310" y="1428750"/>
            <a:ext cx="3123580" cy="31432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5F6CC3E-B80E-4700-BC79-A43C05B79E86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模型混淆矩阵（仿真/生成数据与HIL holdout验证）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0F5ABDA-03C6-42D2-BE47-2A47626118B5}"/>
              </a:ext>
            </a:extLst>
          </p:cNvPr>
          <p:cNvSpPr>
            <a:spLocks noGrp="1"/>
          </p:cNvSpPr>
          <p:nvPr/>
        </p:nvSpPr>
        <p:spPr>
          <a:xfrm>
            <a:off x="5905500" y="1200150"/>
            <a:ext cx="5657850" cy="2095500"/>
          </a:xfrm>
          <a:prstGeom prst="roundRect">
            <a:avLst>
              <a:gd name="adj" fmla="val 3636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rcRect t="47112" b="47112"/>
          <a:stretch>
            <a:fillRect/>
          </a:stretch>
        </p:blipFill>
        <p:spPr>
          <a:xfrm>
            <a:off x="6096000" y="1409700"/>
            <a:ext cx="5276850" cy="1524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D1BFB5D-CB31-4725-BE49-EF91FB60CA89}"/>
              </a:ext>
            </a:extLst>
          </p:cNvPr>
          <p:cNvSpPr>
            <a:spLocks noGrp="1"/>
          </p:cNvSpPr>
          <p:nvPr/>
        </p:nvSpPr>
        <p:spPr>
          <a:xfrm>
            <a:off x="6153150" y="299085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样本波形与故障特征可视化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9817BAA-7728-415B-94E3-EFFF2C43CDD6}"/>
              </a:ext>
            </a:extLst>
          </p:cNvPr>
          <p:cNvSpPr>
            <a:spLocks noGrp="1"/>
          </p:cNvSpPr>
          <p:nvPr/>
        </p:nvSpPr>
        <p:spPr>
          <a:xfrm>
            <a:off x="5905500" y="3562350"/>
            <a:ext cx="565785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5C74F16-4F8D-4740-A9FA-A4DB9E029373}"/>
              </a:ext>
            </a:extLst>
          </p:cNvPr>
          <p:cNvSpPr>
            <a:spLocks noGrp="1"/>
          </p:cNvSpPr>
          <p:nvPr/>
        </p:nvSpPr>
        <p:spPr>
          <a:xfrm>
            <a:off x="6153150" y="3886200"/>
            <a:ext cx="552450" cy="552450"/>
          </a:xfrm>
          <a:prstGeom prst="ellipse">
            <a:avLst/>
          </a:prstGeom>
          <a:solidFill>
            <a:srgbClr val="E8F4FA"/>
          </a:solidFill>
          <a:ln w="19050">
            <a:solidFill>
              <a:srgbClr val="4484A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8623CA-D8B0-48F3-B3A8-18B85136B234}"/>
              </a:ext>
            </a:extLst>
          </p:cNvPr>
          <p:cNvSpPr>
            <a:spLocks noGrp="1"/>
          </p:cNvSpPr>
          <p:nvPr/>
        </p:nvSpPr>
        <p:spPr>
          <a:xfrm>
            <a:off x="6153150" y="4029075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116维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30DD67E-98F5-464F-9FC7-C8800B3F8B78}"/>
              </a:ext>
            </a:extLst>
          </p:cNvPr>
          <p:cNvSpPr>
            <a:spLocks noGrp="1"/>
          </p:cNvSpPr>
          <p:nvPr/>
        </p:nvSpPr>
        <p:spPr>
          <a:xfrm>
            <a:off x="6000750" y="4514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工程特征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91F37D2-61FB-4688-8AC4-D6093D7676AA}"/>
              </a:ext>
            </a:extLst>
          </p:cNvPr>
          <p:cNvSpPr>
            <a:spLocks noGrp="1"/>
          </p:cNvSpPr>
          <p:nvPr/>
        </p:nvSpPr>
        <p:spPr>
          <a:xfrm>
            <a:off x="7448550" y="3886200"/>
            <a:ext cx="552450" cy="552450"/>
          </a:xfrm>
          <a:prstGeom prst="ellipse">
            <a:avLst/>
          </a:prstGeom>
          <a:solidFill>
            <a:srgbClr val="EBF7EA"/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BCE8B4-3E46-4DB9-8A25-A485AF3A3F67}"/>
              </a:ext>
            </a:extLst>
          </p:cNvPr>
          <p:cNvSpPr>
            <a:spLocks noGrp="1"/>
          </p:cNvSpPr>
          <p:nvPr/>
        </p:nvSpPr>
        <p:spPr>
          <a:xfrm>
            <a:off x="7448550" y="4029075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rPr>
              <a:t>4 x 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272EB9-DF84-48D6-8C18-E16034D670AB}"/>
              </a:ext>
            </a:extLst>
          </p:cNvPr>
          <p:cNvSpPr>
            <a:spLocks noGrp="1"/>
          </p:cNvSpPr>
          <p:nvPr/>
        </p:nvSpPr>
        <p:spPr>
          <a:xfrm>
            <a:off x="7296150" y="4514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FFT输入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042C8F6-D4FD-4358-9330-C981AD47127A}"/>
              </a:ext>
            </a:extLst>
          </p:cNvPr>
          <p:cNvSpPr>
            <a:spLocks noGrp="1"/>
          </p:cNvSpPr>
          <p:nvPr/>
        </p:nvSpPr>
        <p:spPr>
          <a:xfrm>
            <a:off x="8743950" y="3886200"/>
            <a:ext cx="552450" cy="552450"/>
          </a:xfrm>
          <a:prstGeom prst="ellipse">
            <a:avLst/>
          </a:prstGeom>
          <a:solidFill>
            <a:srgbClr val="FFF2DA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55435D-7110-4981-A075-A0C8CB70DDC1}"/>
              </a:ext>
            </a:extLst>
          </p:cNvPr>
          <p:cNvSpPr>
            <a:spLocks noGrp="1"/>
          </p:cNvSpPr>
          <p:nvPr/>
        </p:nvSpPr>
        <p:spPr>
          <a:xfrm>
            <a:off x="8743950" y="4029075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104维 db3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328446F-DA03-4109-9592-C45863716605}"/>
              </a:ext>
            </a:extLst>
          </p:cNvPr>
          <p:cNvSpPr>
            <a:spLocks noGrp="1"/>
          </p:cNvSpPr>
          <p:nvPr/>
        </p:nvSpPr>
        <p:spPr>
          <a:xfrm>
            <a:off x="8591550" y="4514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DWT输入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16176A1-480F-459C-B845-E028E504DD93}"/>
              </a:ext>
            </a:extLst>
          </p:cNvPr>
          <p:cNvSpPr>
            <a:spLocks noGrp="1"/>
          </p:cNvSpPr>
          <p:nvPr/>
        </p:nvSpPr>
        <p:spPr>
          <a:xfrm>
            <a:off x="10039350" y="3886200"/>
            <a:ext cx="552450" cy="55245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22425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8298673-D8BA-4070-ADA1-3563EC009C6A}"/>
              </a:ext>
            </a:extLst>
          </p:cNvPr>
          <p:cNvSpPr>
            <a:spLocks noGrp="1"/>
          </p:cNvSpPr>
          <p:nvPr/>
        </p:nvSpPr>
        <p:spPr>
          <a:xfrm>
            <a:off x="10039350" y="4029075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E00-E06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9128CA-4DA9-4976-86A0-F9C408F57621}"/>
              </a:ext>
            </a:extLst>
          </p:cNvPr>
          <p:cNvSpPr>
            <a:spLocks noGrp="1"/>
          </p:cNvSpPr>
          <p:nvPr/>
        </p:nvSpPr>
        <p:spPr>
          <a:xfrm>
            <a:off x="9886950" y="4514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分类输出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B4E1107-B07E-4064-9073-B9B8B6BB2BAD}"/>
              </a:ext>
            </a:extLst>
          </p:cNvPr>
          <p:cNvSpPr>
            <a:spLocks noGrp="1"/>
          </p:cNvSpPr>
          <p:nvPr/>
        </p:nvSpPr>
        <p:spPr>
          <a:xfrm>
            <a:off x="838200" y="53340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4902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8163FD-5CFD-43F7-ABD8-184B334F8AF6}"/>
              </a:ext>
            </a:extLst>
          </p:cNvPr>
          <p:cNvSpPr>
            <a:spLocks noGrp="1"/>
          </p:cNvSpPr>
          <p:nvPr/>
        </p:nvSpPr>
        <p:spPr>
          <a:xfrm>
            <a:off x="1009650" y="54673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Test accuracy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E46DBA1-8A19-4990-9D87-CBDF72F14257}"/>
              </a:ext>
            </a:extLst>
          </p:cNvPr>
          <p:cNvSpPr>
            <a:spLocks noGrp="1"/>
          </p:cNvSpPr>
          <p:nvPr/>
        </p:nvSpPr>
        <p:spPr>
          <a:xfrm>
            <a:off x="1009650" y="56578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99.9643%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AD4727B-EA12-4340-9DE6-3F489024B0F9}"/>
              </a:ext>
            </a:extLst>
          </p:cNvPr>
          <p:cNvSpPr>
            <a:spLocks noGrp="1"/>
          </p:cNvSpPr>
          <p:nvPr/>
        </p:nvSpPr>
        <p:spPr>
          <a:xfrm>
            <a:off x="1009650" y="596265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83970 / 84000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FCB9243-3537-4E4B-B8E5-039E44B2BBC9}"/>
              </a:ext>
            </a:extLst>
          </p:cNvPr>
          <p:cNvSpPr>
            <a:spLocks noGrp="1"/>
          </p:cNvSpPr>
          <p:nvPr/>
        </p:nvSpPr>
        <p:spPr>
          <a:xfrm>
            <a:off x="3562350" y="53340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4902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E730A5E-2E85-4BA0-9627-DE5F7C85D31C}"/>
              </a:ext>
            </a:extLst>
          </p:cNvPr>
          <p:cNvSpPr>
            <a:spLocks noGrp="1"/>
          </p:cNvSpPr>
          <p:nvPr/>
        </p:nvSpPr>
        <p:spPr>
          <a:xfrm>
            <a:off x="3733800" y="54673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HIL holdout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82F1262-9007-4111-86B5-9BADFB5E99CC}"/>
              </a:ext>
            </a:extLst>
          </p:cNvPr>
          <p:cNvSpPr>
            <a:spLocks noGrp="1"/>
          </p:cNvSpPr>
          <p:nvPr/>
        </p:nvSpPr>
        <p:spPr>
          <a:xfrm>
            <a:off x="3733800" y="56578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rPr>
              <a:t>99.9690%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1B02064-9E66-4113-9768-545F4D97B581}"/>
              </a:ext>
            </a:extLst>
          </p:cNvPr>
          <p:cNvSpPr>
            <a:spLocks noGrp="1"/>
          </p:cNvSpPr>
          <p:nvPr/>
        </p:nvSpPr>
        <p:spPr>
          <a:xfrm>
            <a:off x="3733800" y="596265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83974 / 84000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5E11139-3BA6-496E-9A5C-1E021B5DD1FF}"/>
              </a:ext>
            </a:extLst>
          </p:cNvPr>
          <p:cNvSpPr>
            <a:spLocks noGrp="1"/>
          </p:cNvSpPr>
          <p:nvPr/>
        </p:nvSpPr>
        <p:spPr>
          <a:xfrm>
            <a:off x="6286500" y="53340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4902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F846EE6-A72B-4FC2-87D1-EF5274E48CBF}"/>
              </a:ext>
            </a:extLst>
          </p:cNvPr>
          <p:cNvSpPr>
            <a:spLocks noGrp="1"/>
          </p:cNvSpPr>
          <p:nvPr/>
        </p:nvSpPr>
        <p:spPr>
          <a:xfrm>
            <a:off x="6457950" y="54673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X-CUBE-AI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BE8A62-2952-4786-A188-4F88C6CD389B}"/>
              </a:ext>
            </a:extLst>
          </p:cNvPr>
          <p:cNvSpPr>
            <a:spLocks noGrp="1"/>
          </p:cNvSpPr>
          <p:nvPr/>
        </p:nvSpPr>
        <p:spPr>
          <a:xfrm>
            <a:off x="6457950" y="56578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6.22M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A9C1FD8-355C-482A-997F-BD9493A8D774}"/>
              </a:ext>
            </a:extLst>
          </p:cNvPr>
          <p:cNvSpPr>
            <a:spLocks noGrp="1"/>
          </p:cNvSpPr>
          <p:nvPr/>
        </p:nvSpPr>
        <p:spPr>
          <a:xfrm>
            <a:off x="6457950" y="596265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MACC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2322006-02E8-40BB-A138-9622853F11F3}"/>
              </a:ext>
            </a:extLst>
          </p:cNvPr>
          <p:cNvSpPr>
            <a:spLocks noGrp="1"/>
          </p:cNvSpPr>
          <p:nvPr/>
        </p:nvSpPr>
        <p:spPr>
          <a:xfrm>
            <a:off x="9010650" y="53340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4902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8F4BF70-161A-4458-A112-6203832818C7}"/>
              </a:ext>
            </a:extLst>
          </p:cNvPr>
          <p:cNvSpPr>
            <a:spLocks noGrp="1"/>
          </p:cNvSpPr>
          <p:nvPr/>
        </p:nvSpPr>
        <p:spPr>
          <a:xfrm>
            <a:off x="9182100" y="54673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MCU资源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A53B403-5D92-418F-8D79-45ACC1C2493A}"/>
              </a:ext>
            </a:extLst>
          </p:cNvPr>
          <p:cNvSpPr>
            <a:spLocks noGrp="1"/>
          </p:cNvSpPr>
          <p:nvPr/>
        </p:nvSpPr>
        <p:spPr>
          <a:xfrm>
            <a:off x="9182100" y="56578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238.9KB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9A22BC5-1932-4E87-924F-282AE460480D}"/>
              </a:ext>
            </a:extLst>
          </p:cNvPr>
          <p:cNvSpPr>
            <a:spLocks noGrp="1"/>
          </p:cNvSpPr>
          <p:nvPr/>
        </p:nvSpPr>
        <p:spPr>
          <a:xfrm>
            <a:off x="9182100" y="596265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weights；295.9KB activations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D5C4915-6FA3-4DA5-A02D-8E1697A82E36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06</a:t>
            </a:r>
          </a:p>
        </p:txBody>
      </p:sp>
    </p:spTree>
    <p:extLst>
      <p:ext uri="{BB962C8B-B14F-4D97-AF65-F5344CB8AC3E}">
        <p14:creationId xmlns:p14="http://schemas.microsoft.com/office/powerpoint/2010/main" val="808001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9FAA087-7FB8-400A-8665-AB17231545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AD3CCCD-30F1-4104-AAC9-4A41B7243B89}"/>
              </a:ext>
            </a:extLst>
          </p:cNvPr>
          <p:cNvSpPr>
            <a:spLocks noGrp="1"/>
          </p:cNvSpPr>
          <p:nvPr/>
        </p:nvSpPr>
        <p:spPr>
          <a:xfrm>
            <a:off x="371475" y="333375"/>
            <a:ext cx="266700" cy="2667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DA4AF5-B96B-4EAC-AA29-8F9052E96FD0}"/>
              </a:ext>
            </a:extLst>
          </p:cNvPr>
          <p:cNvSpPr>
            <a:spLocks noGrp="1"/>
          </p:cNvSpPr>
          <p:nvPr/>
        </p:nvSpPr>
        <p:spPr>
          <a:xfrm>
            <a:off x="371475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395CCD-F26E-43FA-8099-47EFB91D418E}"/>
              </a:ext>
            </a:extLst>
          </p:cNvPr>
          <p:cNvSpPr>
            <a:spLocks noGrp="1"/>
          </p:cNvSpPr>
          <p:nvPr/>
        </p:nvSpPr>
        <p:spPr>
          <a:xfrm>
            <a:off x="733425" y="276225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三端联调与稳定性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210A59-9FAC-489C-AFA7-7589345BE1E6}"/>
              </a:ext>
            </a:extLst>
          </p:cNvPr>
          <p:cNvSpPr>
            <a:spLocks noGrp="1"/>
          </p:cNvSpPr>
          <p:nvPr/>
        </p:nvSpPr>
        <p:spPr>
          <a:xfrm>
            <a:off x="733425" y="638175"/>
            <a:ext cx="34290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64A3EC-3BBE-4503-A218-A9EB63CAFC05}"/>
              </a:ext>
            </a:extLst>
          </p:cNvPr>
          <p:cNvSpPr>
            <a:spLocks noGrp="1"/>
          </p:cNvSpPr>
          <p:nvPr/>
        </p:nvSpPr>
        <p:spPr>
          <a:xfrm>
            <a:off x="733425" y="7048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以STM32、ESP32和云端服务三端日志交叉验证上传链路，20分钟测试中无超时和HTTP失败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D07ED62-785C-4EED-A1A5-B48256ABCCD0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4476750" cy="3905250"/>
          </a:xfrm>
          <a:prstGeom prst="roundRect">
            <a:avLst>
              <a:gd name="adj" fmla="val 1951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8200" y="2207768"/>
            <a:ext cx="4019550" cy="166141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16C91E9-18DF-463C-9391-407A2EF261EE}"/>
              </a:ext>
            </a:extLst>
          </p:cNvPr>
          <p:cNvSpPr>
            <a:spLocks noGrp="1"/>
          </p:cNvSpPr>
          <p:nvPr/>
        </p:nvSpPr>
        <p:spPr>
          <a:xfrm>
            <a:off x="895350" y="47244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稳定链路证据卡：full帧上传、HTTP成功率、云端错误均已纳入验收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69A75D-394D-47E4-9DDF-B862CC81C79D}"/>
              </a:ext>
            </a:extLst>
          </p:cNvPr>
          <p:cNvSpPr>
            <a:spLocks noGrp="1"/>
          </p:cNvSpPr>
          <p:nvPr/>
        </p:nvSpPr>
        <p:spPr>
          <a:xfrm>
            <a:off x="5467350" y="1200150"/>
            <a:ext cx="6096000" cy="3905250"/>
          </a:xfrm>
          <a:prstGeom prst="roundRect">
            <a:avLst>
              <a:gd name="adj" fmla="val 1951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971A40F-7097-4962-8E89-376BF94464EF}"/>
              </a:ext>
            </a:extLst>
          </p:cNvPr>
          <p:cNvSpPr>
            <a:spLocks noGrp="1"/>
          </p:cNvSpPr>
          <p:nvPr/>
        </p:nvSpPr>
        <p:spPr>
          <a:xfrm>
            <a:off x="5810250" y="1485900"/>
            <a:ext cx="323850" cy="32385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B83FCF-3C89-4B90-9FBE-8BEDC1882073}"/>
              </a:ext>
            </a:extLst>
          </p:cNvPr>
          <p:cNvSpPr>
            <a:spLocks noGrp="1"/>
          </p:cNvSpPr>
          <p:nvPr/>
        </p:nvSpPr>
        <p:spPr>
          <a:xfrm>
            <a:off x="6286500" y="14668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full starts / ends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DF29E9-2CE9-4008-B994-D0C283DFF3D9}"/>
              </a:ext>
            </a:extLst>
          </p:cNvPr>
          <p:cNvSpPr>
            <a:spLocks noGrp="1"/>
          </p:cNvSpPr>
          <p:nvPr/>
        </p:nvSpPr>
        <p:spPr>
          <a:xfrm>
            <a:off x="6286500" y="16954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1062 / 1062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3D1CC0E-EA88-4D52-97A8-1ECB35C6EA20}"/>
              </a:ext>
            </a:extLst>
          </p:cNvPr>
          <p:cNvSpPr>
            <a:spLocks noGrp="1"/>
          </p:cNvSpPr>
          <p:nvPr/>
        </p:nvSpPr>
        <p:spPr>
          <a:xfrm>
            <a:off x="8515350" y="1485900"/>
            <a:ext cx="323850" cy="323850"/>
          </a:xfrm>
          <a:prstGeom prst="ellipse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BE28A9-319D-4CD6-93CB-85BEB16013A7}"/>
              </a:ext>
            </a:extLst>
          </p:cNvPr>
          <p:cNvSpPr>
            <a:spLocks noGrp="1"/>
          </p:cNvSpPr>
          <p:nvPr/>
        </p:nvSpPr>
        <p:spPr>
          <a:xfrm>
            <a:off x="8991600" y="14668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ESP HTTP success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D0A27A-87E0-43CF-A306-108ACADC9075}"/>
              </a:ext>
            </a:extLst>
          </p:cNvPr>
          <p:cNvSpPr>
            <a:spLocks noGrp="1"/>
          </p:cNvSpPr>
          <p:nvPr/>
        </p:nvSpPr>
        <p:spPr>
          <a:xfrm>
            <a:off x="8991600" y="16954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C003EB7-C8CC-4272-9CDB-A9F992C5FABF}"/>
              </a:ext>
            </a:extLst>
          </p:cNvPr>
          <p:cNvSpPr>
            <a:spLocks noGrp="1"/>
          </p:cNvSpPr>
          <p:nvPr/>
        </p:nvSpPr>
        <p:spPr>
          <a:xfrm>
            <a:off x="5810250" y="2552700"/>
            <a:ext cx="323850" cy="323850"/>
          </a:xfrm>
          <a:prstGeom prst="ellipse">
            <a:avLst/>
          </a:prstGeom>
          <a:solidFill>
            <a:srgbClr val="2242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4B19A0-539A-474A-AAEA-7B0CAD25541F}"/>
              </a:ext>
            </a:extLst>
          </p:cNvPr>
          <p:cNvSpPr>
            <a:spLocks noGrp="1"/>
          </p:cNvSpPr>
          <p:nvPr/>
        </p:nvSpPr>
        <p:spPr>
          <a:xfrm>
            <a:off x="6286500" y="25336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payload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25799B-9E3F-490F-AB98-7580547DCF62}"/>
              </a:ext>
            </a:extLst>
          </p:cNvPr>
          <p:cNvSpPr>
            <a:spLocks noGrp="1"/>
          </p:cNvSpPr>
          <p:nvPr/>
        </p:nvSpPr>
        <p:spPr>
          <a:xfrm>
            <a:off x="6286500" y="27622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49348 bytes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D4B6A22D-5D15-4259-A2BB-20F023966453}"/>
              </a:ext>
            </a:extLst>
          </p:cNvPr>
          <p:cNvSpPr>
            <a:spLocks noGrp="1"/>
          </p:cNvSpPr>
          <p:nvPr/>
        </p:nvSpPr>
        <p:spPr>
          <a:xfrm>
            <a:off x="8515350" y="2552700"/>
            <a:ext cx="323850" cy="323850"/>
          </a:xfrm>
          <a:prstGeom prst="ellipse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06660C-9FAD-41C8-AB29-C49CFCB5CB45}"/>
              </a:ext>
            </a:extLst>
          </p:cNvPr>
          <p:cNvSpPr>
            <a:spLocks noGrp="1"/>
          </p:cNvSpPr>
          <p:nvPr/>
        </p:nvSpPr>
        <p:spPr>
          <a:xfrm>
            <a:off x="8991600" y="25336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p50 / p95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D4DCF7-D5A2-44C5-A1F0-B20ABB6C88CF}"/>
              </a:ext>
            </a:extLst>
          </p:cNvPr>
          <p:cNvSpPr>
            <a:spLocks noGrp="1"/>
          </p:cNvSpPr>
          <p:nvPr/>
        </p:nvSpPr>
        <p:spPr>
          <a:xfrm>
            <a:off x="8991600" y="27622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1120 / 1158 ms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F5F71D6-75C3-4DAA-953F-6CE94B15138F}"/>
              </a:ext>
            </a:extLst>
          </p:cNvPr>
          <p:cNvSpPr>
            <a:spLocks noGrp="1"/>
          </p:cNvSpPr>
          <p:nvPr/>
        </p:nvSpPr>
        <p:spPr>
          <a:xfrm>
            <a:off x="5810250" y="3619500"/>
            <a:ext cx="323850" cy="323850"/>
          </a:xfrm>
          <a:prstGeom prst="ellipse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9A1991-0E46-40F2-839B-49E17239954A}"/>
              </a:ext>
            </a:extLst>
          </p:cNvPr>
          <p:cNvSpPr>
            <a:spLocks noGrp="1"/>
          </p:cNvSpPr>
          <p:nvPr/>
        </p:nvSpPr>
        <p:spPr>
          <a:xfrm>
            <a:off x="6286500" y="36004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full timeout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DD25228-0E3E-4259-8F9C-C630BDF6F833}"/>
              </a:ext>
            </a:extLst>
          </p:cNvPr>
          <p:cNvSpPr>
            <a:spLocks noGrp="1"/>
          </p:cNvSpPr>
          <p:nvPr/>
        </p:nvSpPr>
        <p:spPr>
          <a:xfrm>
            <a:off x="6286500" y="38290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8D92BD86-965B-41FC-AB91-082400F4F417}"/>
              </a:ext>
            </a:extLst>
          </p:cNvPr>
          <p:cNvSpPr>
            <a:spLocks noGrp="1"/>
          </p:cNvSpPr>
          <p:nvPr/>
        </p:nvSpPr>
        <p:spPr>
          <a:xfrm>
            <a:off x="8515350" y="3619500"/>
            <a:ext cx="323850" cy="323850"/>
          </a:xfrm>
          <a:prstGeom prst="ellipse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41E887A-5B58-4490-9EA3-6799AEE17E6A}"/>
              </a:ext>
            </a:extLst>
          </p:cNvPr>
          <p:cNvSpPr>
            <a:spLocks noGrp="1"/>
          </p:cNvSpPr>
          <p:nvPr/>
        </p:nvSpPr>
        <p:spPr>
          <a:xfrm>
            <a:off x="8991600" y="36004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http fail / cloud err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61FF91-40FB-400E-A5C3-D38E6238546F}"/>
              </a:ext>
            </a:extLst>
          </p:cNvPr>
          <p:cNvSpPr>
            <a:spLocks noGrp="1"/>
          </p:cNvSpPr>
          <p:nvPr/>
        </p:nvSpPr>
        <p:spPr>
          <a:xfrm>
            <a:off x="8991600" y="38290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0 / 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DA809DF-EAA7-4864-B926-2B36C668F82D}"/>
              </a:ext>
            </a:extLst>
          </p:cNvPr>
          <p:cNvSpPr>
            <a:spLocks noGrp="1"/>
          </p:cNvSpPr>
          <p:nvPr/>
        </p:nvSpPr>
        <p:spPr>
          <a:xfrm>
            <a:off x="5829300" y="4533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说明：服务器展示日志存在节流，真实帧间隔以STM32/ESP32链路日志为准。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406039F-DAC5-4465-AB70-D502C7A5A89A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9906000" cy="514350"/>
          </a:xfrm>
          <a:prstGeom prst="roundRect">
            <a:avLst>
              <a:gd name="adj" fmla="val 14815"/>
            </a:avLst>
          </a:prstGeom>
          <a:solidFill>
            <a:srgbClr val="EAF6F8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8067D1-35D8-440D-A025-B92B7A016905}"/>
              </a:ext>
            </a:extLst>
          </p:cNvPr>
          <p:cNvSpPr>
            <a:spLocks noGrp="1"/>
          </p:cNvSpPr>
          <p:nvPr/>
        </p:nvSpPr>
        <p:spPr>
          <a:xfrm>
            <a:off x="1409700" y="5581650"/>
            <a:ext cx="937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验收结论：在当前稳定基线上，full_frame_bin外部协议、上传数据量和服务器解码语义保持不变，20分钟三端联调通过。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9614ECC-7377-4A1D-A63E-6DDB6D573151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07</a:t>
            </a:r>
          </a:p>
        </p:txBody>
      </p:sp>
    </p:spTree>
    <p:extLst>
      <p:ext uri="{BB962C8B-B14F-4D97-AF65-F5344CB8AC3E}">
        <p14:creationId xmlns:p14="http://schemas.microsoft.com/office/powerpoint/2010/main" val="123559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CEE2A06-7FD2-4E85-AABE-F21522A602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1AE7127-7578-4C5F-82A2-564D2F5E5EC3}"/>
              </a:ext>
            </a:extLst>
          </p:cNvPr>
          <p:cNvSpPr>
            <a:spLocks noGrp="1"/>
          </p:cNvSpPr>
          <p:nvPr/>
        </p:nvSpPr>
        <p:spPr>
          <a:xfrm>
            <a:off x="371475" y="333375"/>
            <a:ext cx="266700" cy="2667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8CE3DC-4BF6-4A11-8781-99D2757521A3}"/>
              </a:ext>
            </a:extLst>
          </p:cNvPr>
          <p:cNvSpPr>
            <a:spLocks noGrp="1"/>
          </p:cNvSpPr>
          <p:nvPr/>
        </p:nvSpPr>
        <p:spPr>
          <a:xfrm>
            <a:off x="371475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C858C2-7937-4355-8626-8B883D203F72}"/>
              </a:ext>
            </a:extLst>
          </p:cNvPr>
          <p:cNvSpPr>
            <a:spLocks noGrp="1"/>
          </p:cNvSpPr>
          <p:nvPr/>
        </p:nvSpPr>
        <p:spPr>
          <a:xfrm>
            <a:off x="733425" y="276225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阶段性成果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36AE82-D117-41D5-B261-D059F905197A}"/>
              </a:ext>
            </a:extLst>
          </p:cNvPr>
          <p:cNvSpPr>
            <a:spLocks noGrp="1"/>
          </p:cNvSpPr>
          <p:nvPr/>
        </p:nvSpPr>
        <p:spPr>
          <a:xfrm>
            <a:off x="733425" y="638175"/>
            <a:ext cx="34290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71222D-6254-4111-8D39-2B1BD6570572}"/>
              </a:ext>
            </a:extLst>
          </p:cNvPr>
          <p:cNvSpPr>
            <a:spLocks noGrp="1"/>
          </p:cNvSpPr>
          <p:nvPr/>
        </p:nvSpPr>
        <p:spPr>
          <a:xfrm>
            <a:off x="733425" y="7048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已形成系统原型、论文录用和软件著作权登记三类可佐证成果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7098CA8-9780-441E-BB15-A28D2432A3E5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5143500" cy="4238625"/>
          </a:xfrm>
          <a:prstGeom prst="roundRect">
            <a:avLst>
              <a:gd name="adj" fmla="val 1798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97703" y="1466850"/>
            <a:ext cx="1929194" cy="27241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8A9B9F2-5F73-45C0-9BE7-6C113BD60932}"/>
              </a:ext>
            </a:extLst>
          </p:cNvPr>
          <p:cNvSpPr>
            <a:spLocks noGrp="1"/>
          </p:cNvSpPr>
          <p:nvPr/>
        </p:nvSpPr>
        <p:spPr>
          <a:xfrm>
            <a:off x="895350" y="44005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论文录用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A944E8-6390-43FE-B569-8B63185E9F0D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428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Fault Feature Extraction and Identification in Wind Farm DC Systems Based on Wavelet Transform and Fourier Analysis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2011E2-C1F7-4E00-B509-FA286B470A26}"/>
              </a:ext>
            </a:extLst>
          </p:cNvPr>
          <p:cNvSpPr>
            <a:spLocks noGrp="1"/>
          </p:cNvSpPr>
          <p:nvPr/>
        </p:nvSpPr>
        <p:spPr>
          <a:xfrm>
            <a:off x="895350" y="5191125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EIECT 2025 已录用，待会议发表并提交 EI Compendex、Scopus。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930C503-B788-4BE4-A3EB-ECB40F61F141}"/>
              </a:ext>
            </a:extLst>
          </p:cNvPr>
          <p:cNvSpPr>
            <a:spLocks noGrp="1"/>
          </p:cNvSpPr>
          <p:nvPr/>
        </p:nvSpPr>
        <p:spPr>
          <a:xfrm>
            <a:off x="6457950" y="1200150"/>
            <a:ext cx="5143500" cy="4238625"/>
          </a:xfrm>
          <a:prstGeom prst="roundRect">
            <a:avLst>
              <a:gd name="adj" fmla="val 1798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25170" y="1466850"/>
            <a:ext cx="2009061" cy="272415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4CBE64C-5ED2-4B72-9E94-81A5A7B7AE77}"/>
              </a:ext>
            </a:extLst>
          </p:cNvPr>
          <p:cNvSpPr>
            <a:spLocks noGrp="1"/>
          </p:cNvSpPr>
          <p:nvPr/>
        </p:nvSpPr>
        <p:spPr>
          <a:xfrm>
            <a:off x="6762750" y="44005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软件著作权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65405C-EAFE-4372-AE44-ADF4502BE9A9}"/>
              </a:ext>
            </a:extLst>
          </p:cNvPr>
          <p:cNvSpPr>
            <a:spLocks noGrp="1"/>
          </p:cNvSpPr>
          <p:nvPr/>
        </p:nvSpPr>
        <p:spPr>
          <a:xfrm>
            <a:off x="6762750" y="4743450"/>
            <a:ext cx="428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基于边缘计算的风力电厂故障监测系统 V1.0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30F2F5-24E6-4F05-BCC1-F6E310FA72EF}"/>
              </a:ext>
            </a:extLst>
          </p:cNvPr>
          <p:cNvSpPr>
            <a:spLocks noGrp="1"/>
          </p:cNvSpPr>
          <p:nvPr/>
        </p:nvSpPr>
        <p:spPr>
          <a:xfrm>
            <a:off x="6762750" y="5048250"/>
            <a:ext cx="428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登记号：2026SR0358519；证书号：软著登字第17572800号；登记日期：2026年03月02日。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E29B54-A2F1-4594-A2C7-F09BA0497D19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08</a:t>
            </a:r>
          </a:p>
        </p:txBody>
      </p:sp>
    </p:spTree>
    <p:extLst>
      <p:ext uri="{BB962C8B-B14F-4D97-AF65-F5344CB8AC3E}">
        <p14:creationId xmlns:p14="http://schemas.microsoft.com/office/powerpoint/2010/main" val="51677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825F4E6-AC95-4A62-BFE0-CC05152CB1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23A71C8-AE63-4E20-BADF-DA9EDA5D9298}"/>
              </a:ext>
            </a:extLst>
          </p:cNvPr>
          <p:cNvSpPr>
            <a:spLocks noGrp="1"/>
          </p:cNvSpPr>
          <p:nvPr/>
        </p:nvSpPr>
        <p:spPr>
          <a:xfrm>
            <a:off x="371475" y="333375"/>
            <a:ext cx="266700" cy="2667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EDB941-45F1-49F2-AA4A-9D96230C1274}"/>
              </a:ext>
            </a:extLst>
          </p:cNvPr>
          <p:cNvSpPr>
            <a:spLocks noGrp="1"/>
          </p:cNvSpPr>
          <p:nvPr/>
        </p:nvSpPr>
        <p:spPr>
          <a:xfrm>
            <a:off x="371475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A6BED6-012E-4033-A2FA-A91C571EBE28}"/>
              </a:ext>
            </a:extLst>
          </p:cNvPr>
          <p:cNvSpPr>
            <a:spLocks noGrp="1"/>
          </p:cNvSpPr>
          <p:nvPr/>
        </p:nvSpPr>
        <p:spPr>
          <a:xfrm>
            <a:off x="733425" y="276225"/>
            <a:ext cx="590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存在问题与下一步计划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72A080-0594-41E9-9AE5-3E8547D54510}"/>
              </a:ext>
            </a:extLst>
          </p:cNvPr>
          <p:cNvSpPr>
            <a:spLocks noGrp="1"/>
          </p:cNvSpPr>
          <p:nvPr/>
        </p:nvSpPr>
        <p:spPr>
          <a:xfrm>
            <a:off x="733425" y="638175"/>
            <a:ext cx="34290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80AD1C-6C07-4365-A855-EC2A042510E4}"/>
              </a:ext>
            </a:extLst>
          </p:cNvPr>
          <p:cNvSpPr>
            <a:spLocks noGrp="1"/>
          </p:cNvSpPr>
          <p:nvPr/>
        </p:nvSpPr>
        <p:spPr>
          <a:xfrm>
            <a:off x="733425" y="7048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后半阶段聚焦真实样本、长期稳定性、PCB抗干扰、知识图谱解释和结题材料完善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BC44049-4C57-43DC-86F9-795F30BFC523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2400300" cy="3105150"/>
          </a:xfrm>
          <a:prstGeom prst="roundRect">
            <a:avLst>
              <a:gd name="adj" fmla="val 3175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A9C59B7-5205-4225-ADAC-448FA28B1708}"/>
              </a:ext>
            </a:extLst>
          </p:cNvPr>
          <p:cNvSpPr>
            <a:spLocks noGrp="1"/>
          </p:cNvSpPr>
          <p:nvPr/>
        </p:nvSpPr>
        <p:spPr>
          <a:xfrm>
            <a:off x="952500" y="1647825"/>
            <a:ext cx="419100" cy="4191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4B622C-8D40-4C43-8E6A-2E2D7E7A3185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FE56EB-1C0F-4D2B-9D33-7450E9F77BE3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真实样本不足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53A53D-9595-4D0C-8CB5-7715B372DF79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1905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继续扩充HIL与现场工况样本，明确仿真数据、生成数据和真实数据边界。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0E2C192-4AE5-47C7-AF7E-2843FD56C303}"/>
              </a:ext>
            </a:extLst>
          </p:cNvPr>
          <p:cNvSpPr>
            <a:spLocks noGrp="1"/>
          </p:cNvSpPr>
          <p:nvPr/>
        </p:nvSpPr>
        <p:spPr>
          <a:xfrm>
            <a:off x="3543300" y="1381125"/>
            <a:ext cx="2400300" cy="3105150"/>
          </a:xfrm>
          <a:prstGeom prst="roundRect">
            <a:avLst>
              <a:gd name="adj" fmla="val 3175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2DE9E44-A827-400B-A1C2-6AA155862D46}"/>
              </a:ext>
            </a:extLst>
          </p:cNvPr>
          <p:cNvSpPr>
            <a:spLocks noGrp="1"/>
          </p:cNvSpPr>
          <p:nvPr/>
        </p:nvSpPr>
        <p:spPr>
          <a:xfrm>
            <a:off x="3771900" y="1647825"/>
            <a:ext cx="419100" cy="419100"/>
          </a:xfrm>
          <a:prstGeom prst="ellipse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EE7C83-DD44-488A-AA3E-F47ED1C78565}"/>
              </a:ext>
            </a:extLst>
          </p:cNvPr>
          <p:cNvSpPr>
            <a:spLocks noGrp="1"/>
          </p:cNvSpPr>
          <p:nvPr/>
        </p:nvSpPr>
        <p:spPr>
          <a:xfrm>
            <a:off x="3771900" y="1762125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52FAF4-A26D-4237-8D02-0EA5270FEB24}"/>
              </a:ext>
            </a:extLst>
          </p:cNvPr>
          <p:cNvSpPr>
            <a:spLocks noGrp="1"/>
          </p:cNvSpPr>
          <p:nvPr/>
        </p:nvSpPr>
        <p:spPr>
          <a:xfrm>
            <a:off x="3771900" y="22669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长期稳定性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FB604C-07A7-4669-9BF0-61DD6AAB33B6}"/>
              </a:ext>
            </a:extLst>
          </p:cNvPr>
          <p:cNvSpPr>
            <a:spLocks noGrp="1"/>
          </p:cNvSpPr>
          <p:nvPr/>
        </p:nvSpPr>
        <p:spPr>
          <a:xfrm>
            <a:off x="3771900" y="2781300"/>
            <a:ext cx="1905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延长三端联调时间，完善READY timeout、HTTP失败、低堆内存等红线监测。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952E218-BDBC-4FEF-8F61-C3B8A4F0B0A1}"/>
              </a:ext>
            </a:extLst>
          </p:cNvPr>
          <p:cNvSpPr>
            <a:spLocks noGrp="1"/>
          </p:cNvSpPr>
          <p:nvPr/>
        </p:nvSpPr>
        <p:spPr>
          <a:xfrm>
            <a:off x="6362700" y="1381125"/>
            <a:ext cx="2400300" cy="3105150"/>
          </a:xfrm>
          <a:prstGeom prst="roundRect">
            <a:avLst>
              <a:gd name="adj" fmla="val 3175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10D4D3A-4531-404B-BE63-EF660C991B1A}"/>
              </a:ext>
            </a:extLst>
          </p:cNvPr>
          <p:cNvSpPr>
            <a:spLocks noGrp="1"/>
          </p:cNvSpPr>
          <p:nvPr/>
        </p:nvSpPr>
        <p:spPr>
          <a:xfrm>
            <a:off x="6591300" y="1647825"/>
            <a:ext cx="419100" cy="419100"/>
          </a:xfrm>
          <a:prstGeom prst="ellipse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553F01-7CFE-4FC2-9A7D-ED915CF66924}"/>
              </a:ext>
            </a:extLst>
          </p:cNvPr>
          <p:cNvSpPr>
            <a:spLocks noGrp="1"/>
          </p:cNvSpPr>
          <p:nvPr/>
        </p:nvSpPr>
        <p:spPr>
          <a:xfrm>
            <a:off x="6591300" y="1762125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E35197-C969-489B-8985-073BF0128A90}"/>
              </a:ext>
            </a:extLst>
          </p:cNvPr>
          <p:cNvSpPr>
            <a:spLocks noGrp="1"/>
          </p:cNvSpPr>
          <p:nvPr/>
        </p:nvSpPr>
        <p:spPr>
          <a:xfrm>
            <a:off x="6591300" y="22669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PCB与抗干扰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F0ECE3-059A-4284-B6CB-63A87A02811C}"/>
              </a:ext>
            </a:extLst>
          </p:cNvPr>
          <p:cNvSpPr>
            <a:spLocks noGrp="1"/>
          </p:cNvSpPr>
          <p:nvPr/>
        </p:nvSpPr>
        <p:spPr>
          <a:xfrm>
            <a:off x="6591300" y="2781300"/>
            <a:ext cx="1905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替代杜邦线连接，优化供电、地线、SPI走线、屏蔽与AD7606接口稳定性。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88C69F8-3E55-472C-A8E3-E36E5C41AE97}"/>
              </a:ext>
            </a:extLst>
          </p:cNvPr>
          <p:cNvSpPr>
            <a:spLocks noGrp="1"/>
          </p:cNvSpPr>
          <p:nvPr/>
        </p:nvSpPr>
        <p:spPr>
          <a:xfrm>
            <a:off x="9182100" y="1381125"/>
            <a:ext cx="2400300" cy="3105150"/>
          </a:xfrm>
          <a:prstGeom prst="roundRect">
            <a:avLst>
              <a:gd name="adj" fmla="val 3175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0E32D90-EF12-4267-8C28-FAA394045018}"/>
              </a:ext>
            </a:extLst>
          </p:cNvPr>
          <p:cNvSpPr>
            <a:spLocks noGrp="1"/>
          </p:cNvSpPr>
          <p:nvPr/>
        </p:nvSpPr>
        <p:spPr>
          <a:xfrm>
            <a:off x="9410700" y="1647825"/>
            <a:ext cx="419100" cy="419100"/>
          </a:xfrm>
          <a:prstGeom prst="ellipse">
            <a:avLst/>
          </a:prstGeom>
          <a:solidFill>
            <a:srgbClr val="2242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83C285F-8912-4604-94A1-C7A6BE23B616}"/>
              </a:ext>
            </a:extLst>
          </p:cNvPr>
          <p:cNvSpPr>
            <a:spLocks noGrp="1"/>
          </p:cNvSpPr>
          <p:nvPr/>
        </p:nvSpPr>
        <p:spPr>
          <a:xfrm>
            <a:off x="9410700" y="1762125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A1D37B-A70C-48FA-978A-D1C314F79FFE}"/>
              </a:ext>
            </a:extLst>
          </p:cNvPr>
          <p:cNvSpPr>
            <a:spLocks noGrp="1"/>
          </p:cNvSpPr>
          <p:nvPr/>
        </p:nvSpPr>
        <p:spPr>
          <a:xfrm>
            <a:off x="9410700" y="22669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知识图谱与AI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947DEEB-D901-4728-BCDF-80454710B648}"/>
              </a:ext>
            </a:extLst>
          </p:cNvPr>
          <p:cNvSpPr>
            <a:spLocks noGrp="1"/>
          </p:cNvSpPr>
          <p:nvPr/>
        </p:nvSpPr>
        <p:spPr>
          <a:xfrm>
            <a:off x="9410700" y="2781300"/>
            <a:ext cx="1905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完善专家知识库，DeepSeek只做辅助解释和人工复核建议，不进入控制热路径。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CAD4163-D01C-4F83-BE7C-3D628C4EA95E}"/>
              </a:ext>
            </a:extLst>
          </p:cNvPr>
          <p:cNvSpPr>
            <a:spLocks noGrp="1"/>
          </p:cNvSpPr>
          <p:nvPr/>
        </p:nvSpPr>
        <p:spPr>
          <a:xfrm>
            <a:off x="1619250" y="5219700"/>
            <a:ext cx="8953500" cy="38100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30033B8-509A-49CB-B1C5-68929E58DB55}"/>
              </a:ext>
            </a:extLst>
          </p:cNvPr>
          <p:cNvSpPr>
            <a:spLocks noGrp="1"/>
          </p:cNvSpPr>
          <p:nvPr/>
        </p:nvSpPr>
        <p:spPr>
          <a:xfrm>
            <a:off x="1809750" y="5067300"/>
            <a:ext cx="342900" cy="3429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3B56737-6661-4AB4-A2D2-28D00073075F}"/>
              </a:ext>
            </a:extLst>
          </p:cNvPr>
          <p:cNvSpPr>
            <a:spLocks noGrp="1"/>
          </p:cNvSpPr>
          <p:nvPr/>
        </p:nvSpPr>
        <p:spPr>
          <a:xfrm>
            <a:off x="1543050" y="55245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2026.6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B352645C-8BE9-4D42-8511-11D4254A57F2}"/>
              </a:ext>
            </a:extLst>
          </p:cNvPr>
          <p:cNvSpPr>
            <a:spLocks noGrp="1"/>
          </p:cNvSpPr>
          <p:nvPr/>
        </p:nvSpPr>
        <p:spPr>
          <a:xfrm>
            <a:off x="4667250" y="5067300"/>
            <a:ext cx="342900" cy="342900"/>
          </a:xfrm>
          <a:prstGeom prst="ellipse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D6330CE-7FDB-4E1D-8D68-E60E5F8E9139}"/>
              </a:ext>
            </a:extLst>
          </p:cNvPr>
          <p:cNvSpPr>
            <a:spLocks noGrp="1"/>
          </p:cNvSpPr>
          <p:nvPr/>
        </p:nvSpPr>
        <p:spPr>
          <a:xfrm>
            <a:off x="4400550" y="55245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2026.7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C26A6A1B-C50C-444A-9EC8-A914FCF637B3}"/>
              </a:ext>
            </a:extLst>
          </p:cNvPr>
          <p:cNvSpPr>
            <a:spLocks noGrp="1"/>
          </p:cNvSpPr>
          <p:nvPr/>
        </p:nvSpPr>
        <p:spPr>
          <a:xfrm>
            <a:off x="7524750" y="5067300"/>
            <a:ext cx="342900" cy="342900"/>
          </a:xfrm>
          <a:prstGeom prst="ellipse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4BCEA4B-F6C4-433B-9CAD-C16A4CB169B7}"/>
              </a:ext>
            </a:extLst>
          </p:cNvPr>
          <p:cNvSpPr>
            <a:spLocks noGrp="1"/>
          </p:cNvSpPr>
          <p:nvPr/>
        </p:nvSpPr>
        <p:spPr>
          <a:xfrm>
            <a:off x="7258050" y="55245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2026.8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EE13797-B17C-40C2-A23F-2CCD653C298D}"/>
              </a:ext>
            </a:extLst>
          </p:cNvPr>
          <p:cNvSpPr>
            <a:spLocks noGrp="1"/>
          </p:cNvSpPr>
          <p:nvPr/>
        </p:nvSpPr>
        <p:spPr>
          <a:xfrm>
            <a:off x="10382250" y="5067300"/>
            <a:ext cx="342900" cy="342900"/>
          </a:xfrm>
          <a:prstGeom prst="ellipse">
            <a:avLst/>
          </a:prstGeom>
          <a:solidFill>
            <a:srgbClr val="2242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5D9063F-9B17-42C1-9A9C-779118366ED7}"/>
              </a:ext>
            </a:extLst>
          </p:cNvPr>
          <p:cNvSpPr>
            <a:spLocks noGrp="1"/>
          </p:cNvSpPr>
          <p:nvPr/>
        </p:nvSpPr>
        <p:spPr>
          <a:xfrm>
            <a:off x="10115550" y="55245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结题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34153E4-B2E1-414A-A91A-50F5F6472BA9}"/>
              </a:ext>
            </a:extLst>
          </p:cNvPr>
          <p:cNvSpPr>
            <a:spLocks noGrp="1"/>
          </p:cNvSpPr>
          <p:nvPr/>
        </p:nvSpPr>
        <p:spPr>
          <a:xfrm>
            <a:off x="2857500" y="6000750"/>
            <a:ext cx="647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目标：形成可长期演示的软硬件系统、完成结题报告与成果归档。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216638D-077C-4481-A4E0-238F055AE552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09</a:t>
            </a:r>
          </a:p>
        </p:txBody>
      </p:sp>
    </p:spTree>
    <p:extLst>
      <p:ext uri="{BB962C8B-B14F-4D97-AF65-F5344CB8AC3E}">
        <p14:creationId xmlns:p14="http://schemas.microsoft.com/office/powerpoint/2010/main" val="199351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11385" b="113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D32AE90-D4F7-4D7E-BB80-D3B5C14F42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35ECCD1-0FFF-4695-A0D4-ED1C89DBB912}"/>
              </a:ext>
            </a:extLst>
          </p:cNvPr>
          <p:cNvSpPr>
            <a:spLocks noGrp="1"/>
          </p:cNvSpPr>
          <p:nvPr/>
        </p:nvSpPr>
        <p:spPr>
          <a:xfrm>
            <a:off x="1381125" y="1619250"/>
            <a:ext cx="9429750" cy="3143250"/>
          </a:xfrm>
          <a:prstGeom prst="roundRect">
            <a:avLst>
              <a:gd name="adj" fmla="val 2424"/>
            </a:avLst>
          </a:prstGeom>
          <a:solidFill>
            <a:srgbClr val="FFFFFF">
              <a:alpha val="8470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D54918-6B8A-4366-8B9A-443F903512D1}"/>
              </a:ext>
            </a:extLst>
          </p:cNvPr>
          <p:cNvSpPr>
            <a:spLocks noGrp="1"/>
          </p:cNvSpPr>
          <p:nvPr/>
        </p:nvSpPr>
        <p:spPr>
          <a:xfrm>
            <a:off x="0" y="2095500"/>
            <a:ext cx="1219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中期汇报总结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93DB95-1BD3-4B69-B922-B72635488228}"/>
              </a:ext>
            </a:extLst>
          </p:cNvPr>
          <p:cNvSpPr>
            <a:spLocks noGrp="1"/>
          </p:cNvSpPr>
          <p:nvPr/>
        </p:nvSpPr>
        <p:spPr>
          <a:xfrm>
            <a:off x="0" y="2857500"/>
            <a:ext cx="1219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EdgeWind 已从方案设计进入软硬件联调与可演示系统阶段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8E8AA9-41CE-419E-8912-BF7D88BA26BA}"/>
              </a:ext>
            </a:extLst>
          </p:cNvPr>
          <p:cNvSpPr>
            <a:spLocks noGrp="1"/>
          </p:cNvSpPr>
          <p:nvPr/>
        </p:nvSpPr>
        <p:spPr>
          <a:xfrm>
            <a:off x="0" y="3390900"/>
            <a:ext cx="1219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下一步将围绕PCB稳定连接、真实样本扩充、长期联调和结题成果固化继续推进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22024C-2F17-4529-8662-0D9483A4C4D8}"/>
              </a:ext>
            </a:extLst>
          </p:cNvPr>
          <p:cNvSpPr>
            <a:spLocks noGrp="1"/>
          </p:cNvSpPr>
          <p:nvPr/>
        </p:nvSpPr>
        <p:spPr>
          <a:xfrm>
            <a:off x="0" y="5286375"/>
            <a:ext cx="1219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6138658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DocSecurity>0</DocSecurity>
  <PresentationFormat>宽屏</PresentationFormat>
  <Paragraphs>170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Noto Sans SC</vt:lpstr>
      <vt:lpstr>Microsoft YaHei</vt:lpstr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建中 彭</cp:lastModifiedBy>
  <cp:revision>2</cp:revision>
  <dcterms:created xsi:type="dcterms:W3CDTF">2026-05-27T14:41:58Z</dcterms:created>
  <dcterms:modified xsi:type="dcterms:W3CDTF">2026-05-27T16:05:06Z</dcterms:modified>
</cp:coreProperties>
</file>