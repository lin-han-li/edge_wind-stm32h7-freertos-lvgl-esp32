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2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/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/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/>
        </p:txBody>
      </p:sp>
      <p:sp>
        <p:nvSpPr>
          <p:cNvPr id="5" name="日期占位符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/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/>
        </p:txBody>
      </p:sp>
      <p:sp>
        <p:nvSpPr>
          <p:cNvPr id="4" name="文本占位符 3"/>
          <p:cNvSpPr/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/>
        </p:txBody>
      </p:sp>
      <p:sp>
        <p:nvSpPr>
          <p:cNvPr id="5" name="日期占位符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日期占位符 2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/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/>
        </p:txBody>
      </p:sp>
      <p:sp>
        <p:nvSpPr>
          <p:cNvPr id="4" name="内容占位符 3"/>
          <p:cNvSpPr/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/>
        </p:txBody>
      </p:sp>
      <p:sp>
        <p:nvSpPr>
          <p:cNvPr id="5" name="文本占位符 4"/>
          <p:cNvSpPr/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/>
        </p:txBody>
      </p:sp>
      <p:sp>
        <p:nvSpPr>
          <p:cNvPr id="6" name="内容占位符 5"/>
          <p:cNvSpPr/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/>
        </p:txBody>
      </p:sp>
      <p:sp>
        <p:nvSpPr>
          <p:cNvPr id="7" name="日期占位符 6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/>
        </p:txBody>
      </p:sp>
      <p:sp>
        <p:nvSpPr>
          <p:cNvPr id="4" name="内容占位符 3"/>
          <p:cNvSpPr/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/>
        </p:txBody>
      </p:sp>
      <p:sp>
        <p:nvSpPr>
          <p:cNvPr id="5" name="日期占位符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/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结尾页">
    <p:spTree>
      <p:nvGrpSpPr>
        <p:cNvPr id="1" name=""/>
        <p:cNvGrpSpPr/>
        <p:nvPr/>
      </p:nvGrpSpPr>
      <p:grpSpPr/>
      <p:sp>
        <p:nvSpPr>
          <p:cNvPr id="9" name="图片占位符 8"/>
          <p:cNvSpPr/>
          <p:nvPr>
            <p:ph type="pic" idx="10"/>
          </p:nvPr>
        </p:nvSpPr>
        <p:spPr>
          <a:xfrm>
            <a:off x="6494480" y="0"/>
            <a:ext cx="5697520" cy="6858000"/>
          </a:xfrm>
          <a:custGeom>
            <a:avLst/>
            <a:gdLst/>
            <a:ahLst/>
            <a:cxnLst/>
            <a:rect l="l" t="t" r="r" b="b"/>
            <a:pathLst>
              <a:path w="5697520" h="6858000">
                <a:moveTo>
                  <a:pt x="0" y="0"/>
                </a:moveTo>
                <a:lnTo>
                  <a:pt x="5697520" y="0"/>
                </a:lnTo>
                <a:lnTo>
                  <a:pt x="5697520" y="6858000"/>
                </a:lnTo>
                <a:lnTo>
                  <a:pt x="664621" y="6858000"/>
                </a:lnTo>
                <a:lnTo>
                  <a:pt x="681506" y="6816042"/>
                </a:lnTo>
                <a:cubicBezTo>
                  <a:pt x="1021029" y="5919997"/>
                  <a:pt x="1148364" y="4610583"/>
                  <a:pt x="976126" y="3183063"/>
                </a:cubicBezTo>
                <a:cubicBezTo>
                  <a:pt x="823626" y="1919115"/>
                  <a:pt x="465034" y="800957"/>
                  <a:pt x="8013" y="13235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16" name="文本占位符 15"/>
          <p:cNvSpPr/>
          <p:nvPr>
            <p:ph type="body" idx="11"/>
          </p:nvPr>
        </p:nvSpPr>
        <p:spPr>
          <a:xfrm>
            <a:off x="695326" y="1561083"/>
            <a:ext cx="6073775" cy="1764457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 spc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304800" indent="-152400" algn="l">
              <a:lnSpc>
                <a:spcPct val="90000"/>
              </a:lnSpc>
              <a:buNone/>
              <a:defRPr/>
            </a:lvl2pPr>
            <a:lvl3pPr marL="610235" indent="-152400" algn="l">
              <a:lnSpc>
                <a:spcPct val="90000"/>
              </a:lnSpc>
              <a:buNone/>
              <a:defRPr/>
            </a:lvl3pPr>
            <a:lvl4pPr marL="915035" indent="-152400" algn="l">
              <a:lnSpc>
                <a:spcPct val="90000"/>
              </a:lnSpc>
              <a:buNone/>
              <a:defRPr/>
            </a:lvl4pPr>
            <a:lvl5pPr marL="1219200" indent="-152400" algn="l">
              <a:lnSpc>
                <a:spcPct val="90000"/>
              </a:lnSpc>
              <a:buNone/>
              <a:defRPr/>
            </a:lvl5pPr>
          </a:lstStyle>
          <a:p/>
        </p:txBody>
      </p:sp>
      <p:sp>
        <p:nvSpPr>
          <p:cNvPr id="18" name="文本占位符 17"/>
          <p:cNvSpPr/>
          <p:nvPr>
            <p:ph type="body" idx="12"/>
          </p:nvPr>
        </p:nvSpPr>
        <p:spPr>
          <a:xfrm>
            <a:off x="857329" y="4914587"/>
            <a:ext cx="2571669" cy="40011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304800" indent="-152400" algn="l">
              <a:lnSpc>
                <a:spcPct val="90000"/>
              </a:lnSpc>
              <a:buNone/>
              <a:defRPr/>
            </a:lvl2pPr>
            <a:lvl3pPr marL="610235" indent="-152400" algn="l">
              <a:lnSpc>
                <a:spcPct val="90000"/>
              </a:lnSpc>
              <a:buNone/>
              <a:defRPr/>
            </a:lvl3pPr>
            <a:lvl4pPr marL="915035" indent="-152400" algn="l">
              <a:lnSpc>
                <a:spcPct val="90000"/>
              </a:lnSpc>
              <a:buNone/>
              <a:defRPr/>
            </a:lvl4pPr>
            <a:lvl5pPr marL="1219200" indent="-152400" algn="l">
              <a:lnSpc>
                <a:spcPct val="90000"/>
              </a:lnSpc>
              <a:buNone/>
              <a:defRPr/>
            </a:lvl5pPr>
          </a:lstStyle>
          <a:p/>
        </p:txBody>
      </p:sp>
      <p:sp>
        <p:nvSpPr>
          <p:cNvPr id="19" name="文本占位符 18"/>
          <p:cNvSpPr/>
          <p:nvPr>
            <p:ph type="body" idx="13"/>
          </p:nvPr>
        </p:nvSpPr>
        <p:spPr>
          <a:xfrm>
            <a:off x="838200" y="3568700"/>
            <a:ext cx="4689936" cy="761234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spc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304800" indent="-152400" algn="l">
              <a:lnSpc>
                <a:spcPct val="90000"/>
              </a:lnSpc>
              <a:buNone/>
              <a:defRPr/>
            </a:lvl2pPr>
            <a:lvl3pPr marL="610235" indent="-152400" algn="l">
              <a:lnSpc>
                <a:spcPct val="90000"/>
              </a:lnSpc>
              <a:buNone/>
              <a:defRPr/>
            </a:lvl3pPr>
            <a:lvl4pPr marL="915035" indent="-152400" algn="l">
              <a:lnSpc>
                <a:spcPct val="90000"/>
              </a:lnSpc>
              <a:buNone/>
              <a:defRPr/>
            </a:lvl4pPr>
            <a:lvl5pPr marL="1219200" indent="-152400" algn="l">
              <a:lnSpc>
                <a:spcPct val="90000"/>
              </a:lnSpc>
              <a:buNone/>
              <a:defRPr/>
            </a:lvl5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/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/>
        </p:txBody>
      </p:sp>
      <p:sp>
        <p:nvSpPr>
          <p:cNvPr id="3" name="竖排文字占位符 2"/>
          <p:cNvSpPr/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竖排文字占位符 2"/>
          <p:cNvSpPr/>
          <p:nvPr>
            <p:ph type="body" idx="1"/>
          </p:nvPr>
        </p:nvSpPr>
        <p:spPr/>
        <p:txBody>
          <a:bodyPr vert="eaVert"/>
          <a:lstStyle/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/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/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/>
        </p:txBody>
      </p:sp>
      <p:sp>
        <p:nvSpPr>
          <p:cNvPr id="4" name="日期占位符 3"/>
          <p:cNvSpPr/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/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/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/>
        </p:nvCxnSpPr>
        <p:spPr>
          <a:xfrm>
            <a:off x="695325" y="3329519"/>
            <a:ext cx="5982640" cy="0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95325" y="3329519"/>
            <a:ext cx="391103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占位符 14" descr="D:/桌面/图片/3.png3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1"/>
          <a:srcRect l="13690" r="13690"/>
          <a:stretch>
            <a:fillRect/>
          </a:stretch>
        </p:blipFill>
        <p:spPr>
          <a:xfrm>
            <a:off x="6494480" y="0"/>
            <a:ext cx="5697520" cy="6858000"/>
          </a:xfrm>
        </p:spPr>
      </p:pic>
      <p:sp>
        <p:nvSpPr>
          <p:cNvPr id="9" name="文本占位符 8"/>
          <p:cNvSpPr>
            <a:spLocks noGrp="1"/>
          </p:cNvSpPr>
          <p:nvPr>
            <p:ph type="body" sz="quarter" idx="11"/>
          </p:nvPr>
        </p:nvSpPr>
        <p:spPr>
          <a:xfrm>
            <a:off x="221615" y="1350645"/>
            <a:ext cx="6636385" cy="1827530"/>
          </a:xfrm>
          <a:solidFill>
            <a:schemeClr val="bg1"/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zh-CN" altLang="en-US" sz="4800" spc="300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基于边缘计算的</a:t>
            </a:r>
            <a:endParaRPr lang="zh-CN" altLang="en-US" sz="4800" spc="300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  <a:p>
            <a:pPr algn="ctr"/>
            <a:r>
              <a:rPr lang="zh-CN" altLang="en-US" sz="4800" spc="300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风力电厂直流系统监测</a:t>
            </a:r>
            <a:endParaRPr lang="zh-CN" altLang="en-US" sz="4800" spc="300" dirty="0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838200" y="3568700"/>
            <a:ext cx="5188585" cy="129857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报告人：彭建中</a:t>
            </a:r>
            <a:endParaRPr lang="en-US" altLang="zh-CN" sz="2800" dirty="0"/>
          </a:p>
          <a:p>
            <a:r>
              <a:rPr lang="zh-CN" altLang="en-US" sz="2800" dirty="0"/>
              <a:t>指导老师：刘争红</a:t>
            </a:r>
            <a:endParaRPr lang="zh-CN" altLang="en-US" sz="2800" dirty="0"/>
          </a:p>
        </p:txBody>
      </p:sp>
      <p:pic>
        <p:nvPicPr>
          <p:cNvPr id="3" name="图片 2" descr="校标蓝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7965"/>
            <a:ext cx="4783455" cy="786765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2"/>
          </p:nvPr>
        </p:nvSpPr>
        <p:spPr>
          <a:xfrm>
            <a:off x="762079" y="4933002"/>
            <a:ext cx="2571669" cy="39878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年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月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日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汇报框架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说明中期完成度、工程证据和后半阶段计划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按证据链组织：从原型闭环到平台功能，再到验证指标和成果归档。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02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95350" y="1571625"/>
            <a:ext cx="2324100" cy="2905125"/>
          </a:xfrm>
          <a:prstGeom prst="roundRect">
            <a:avLst>
              <a:gd name="adj" fmla="val 3279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62050" y="1847850"/>
            <a:ext cx="514350" cy="51435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62050" y="200025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2619375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中期总答复</a:t>
            </a:r>
            <a:endParaRPr sz="172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62050" y="3143250"/>
            <a:ext cx="171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目标对照、原型闭环、总体架构</a:t>
            </a:r>
            <a:endParaRPr sz="120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676650" y="1571625"/>
            <a:ext cx="2324100" cy="2905125"/>
          </a:xfrm>
          <a:prstGeom prst="roundRect">
            <a:avLst>
              <a:gd name="adj" fmla="val 3279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3943350" y="1847850"/>
            <a:ext cx="514350" cy="51435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943350" y="200025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43350" y="2619375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软硬件进展</a:t>
            </a:r>
            <a:endParaRPr sz="172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943350" y="3143250"/>
            <a:ext cx="171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边缘节点、通信链路、Web运维平台</a:t>
            </a:r>
            <a:endParaRPr sz="120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457950" y="1571625"/>
            <a:ext cx="2324100" cy="2905125"/>
          </a:xfrm>
          <a:prstGeom prst="roundRect">
            <a:avLst>
              <a:gd name="adj" fmla="val 3279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6724650" y="1847850"/>
            <a:ext cx="514350" cy="514350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724650" y="200025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724650" y="2619375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识别与诊断</a:t>
            </a:r>
            <a:endParaRPr sz="172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724650" y="3143250"/>
            <a:ext cx="171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AI模型、故障快照、DeepSeek辅助解释</a:t>
            </a:r>
            <a:endParaRPr sz="120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239250" y="1571625"/>
            <a:ext cx="2324100" cy="2905125"/>
          </a:xfrm>
          <a:prstGeom prst="roundRect">
            <a:avLst>
              <a:gd name="adj" fmla="val 3279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9505950" y="1847850"/>
            <a:ext cx="514350" cy="514350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505950" y="200025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05950" y="2619375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验证与成果</a:t>
            </a:r>
            <a:endParaRPr sz="172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505950" y="3143250"/>
            <a:ext cx="171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三端联调、论文软著、问题计划</a:t>
            </a:r>
            <a:endParaRPr sz="120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285875" y="5000625"/>
            <a:ext cx="9620250" cy="704850"/>
          </a:xfrm>
          <a:prstGeom prst="roundRect">
            <a:avLst>
              <a:gd name="adj" fmla="val 10811"/>
            </a:avLst>
          </a:prstGeom>
          <a:solidFill>
            <a:srgbClr val="EAF6F8"/>
          </a:solidFill>
          <a:ln w="9525">
            <a:solidFill>
              <a:srgbClr val="CBE2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中期总答复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83844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已形成边缘采集、ESP32上传、Web运维与AI辅助诊断的可演示原型闭环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当前成果处于软硬件联调和可演示系统阶段，后续重点是长期验证、真实样本和PCB固化。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03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l="6275" r="6275"/>
          <a:stretch>
            <a:fillRect/>
          </a:stretch>
        </p:blipFill>
        <p:spPr>
          <a:xfrm>
            <a:off x="571500" y="1428750"/>
            <a:ext cx="5334000" cy="34290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571500" y="1428750"/>
            <a:ext cx="53340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4991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原型主视觉：主控板、ESP32天线、触控屏与实时波形同框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77000" y="1905000"/>
            <a:ext cx="4381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项目已从“方案设计”推进到“可演示系统原型”，形成数据采集、特征处理、上传、展示、工单和辅助诊断的闭环证据链。</a:t>
            </a:r>
            <a:endParaRPr sz="18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96050" y="333375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96050" y="3333750"/>
            <a:ext cx="57150" cy="8763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86550" y="344805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硬件端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86550" y="36576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H7 + ESP32</a:t>
            </a:r>
            <a:endParaRPr sz="1875" b="1">
              <a:solidFill>
                <a:srgbClr val="4476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86550" y="396240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采样、FFT、UI、通信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782050" y="333375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82050" y="3333750"/>
            <a:ext cx="57150" cy="87630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72550" y="344805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平台端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72550" y="36576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Web运维</a:t>
            </a:r>
            <a:endParaRPr sz="1875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396240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总览、监控、工单、快照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496050" y="447675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496050" y="4476750"/>
            <a:ext cx="57150" cy="876300"/>
          </a:xfrm>
          <a:prstGeom prst="rect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86550" y="459105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模型端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686550" y="48006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7类识别</a:t>
            </a:r>
            <a:endParaRPr sz="1875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686550" y="510540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仿真/生成 + HIL holdout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782050" y="447675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782050" y="4476750"/>
            <a:ext cx="57150" cy="876300"/>
          </a:xfrm>
          <a:prstGeom prst="rect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972550" y="459105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成果端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72550" y="48006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 + 软著</a:t>
            </a:r>
            <a:endParaRPr sz="1875" b="1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510540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录用通知与登记证书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目标对照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80022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申报目标已拆解为采集、边缘处理、平台、智能诊断和成果归档五条进度线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中期重点不是声称工业化完成，而是证明关键模块均已有可验证实物或日志证据。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04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1504950"/>
            <a:ext cx="361950" cy="36195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6300" y="160972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504950" y="14287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直流系统状态采集</a:t>
            </a:r>
            <a:endParaRPr sz="15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504950" y="1733550"/>
            <a:ext cx="638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AD7606 + STM32完成4通道波形窗口采样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048750" y="1543050"/>
            <a:ext cx="1219200" cy="285750"/>
          </a:xfrm>
          <a:prstGeom prst="roundRect">
            <a:avLst>
              <a:gd name="adj" fmla="val 26667"/>
            </a:avLst>
          </a:prstGeom>
          <a:solidFill>
            <a:srgbClr val="447691">
              <a:alpha val="9412"/>
            </a:srgbClr>
          </a:solidFill>
          <a:ln w="9525">
            <a:solidFill>
              <a:srgbClr val="447691">
                <a:alpha val="43922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163050" y="1600200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900" b="1">
              <a:solidFill>
                <a:srgbClr val="4476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504950" y="2038350"/>
            <a:ext cx="8858250" cy="9525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76300" y="2286000"/>
            <a:ext cx="361950" cy="36195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76300" y="23907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504950" y="22098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边缘特征提取</a:t>
            </a:r>
            <a:endParaRPr sz="15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504950" y="2514600"/>
            <a:ext cx="638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4096点波形窗口、2048点FFT、工程特征与AI输入打通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048750" y="2324100"/>
            <a:ext cx="1219200" cy="285750"/>
          </a:xfrm>
          <a:prstGeom prst="roundRect">
            <a:avLst>
              <a:gd name="adj" fmla="val 26667"/>
            </a:avLst>
          </a:prstGeom>
          <a:solidFill>
            <a:srgbClr val="4484A4">
              <a:alpha val="9412"/>
            </a:srgbClr>
          </a:solidFill>
          <a:ln w="9525">
            <a:solidFill>
              <a:srgbClr val="4484A4">
                <a:alpha val="43922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163050" y="2381250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504950" y="2819400"/>
            <a:ext cx="8858250" cy="9525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76300" y="3067050"/>
            <a:ext cx="361950" cy="361950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76300" y="317182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504950" y="29908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无线/云端上传</a:t>
            </a:r>
            <a:endParaRPr sz="15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504950" y="3295650"/>
            <a:ext cx="638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ESP32 raw HTTP上传完成20分钟三端验证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9048750" y="3105150"/>
            <a:ext cx="1219200" cy="285750"/>
          </a:xfrm>
          <a:prstGeom prst="roundRect">
            <a:avLst>
              <a:gd name="adj" fmla="val 26667"/>
            </a:avLst>
          </a:prstGeom>
          <a:solidFill>
            <a:srgbClr val="3E9A63">
              <a:alpha val="9412"/>
            </a:srgbClr>
          </a:solidFill>
          <a:ln w="9525">
            <a:solidFill>
              <a:srgbClr val="3E9A63">
                <a:alpha val="43922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163050" y="3162300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已验证</a:t>
            </a:r>
            <a:endParaRPr sz="900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504950" y="3600450"/>
            <a:ext cx="8858250" cy="9525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椭圆 3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76300" y="3848100"/>
            <a:ext cx="361950" cy="361950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76300" y="395287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1504950" y="37719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Web运维平台</a:t>
            </a:r>
            <a:endParaRPr sz="15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1504950" y="4076700"/>
            <a:ext cx="638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总览、实时监控、历史曲线、工单、快照、设置页面已联通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9048750" y="3886200"/>
            <a:ext cx="1219200" cy="285750"/>
          </a:xfrm>
          <a:prstGeom prst="roundRect">
            <a:avLst>
              <a:gd name="adj" fmla="val 26667"/>
            </a:avLst>
          </a:prstGeom>
          <a:solidFill>
            <a:srgbClr val="F2A93B">
              <a:alpha val="9412"/>
            </a:srgbClr>
          </a:solidFill>
          <a:ln w="9525">
            <a:solidFill>
              <a:srgbClr val="F2A93B">
                <a:alpha val="43922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163050" y="3943350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endParaRPr sz="900" b="1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04950" y="4381500"/>
            <a:ext cx="8858250" cy="9525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椭圆 39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76300" y="4629150"/>
            <a:ext cx="361950" cy="361950"/>
          </a:xfrm>
          <a:prstGeom prst="ellipse">
            <a:avLst/>
          </a:prstGeom>
          <a:solidFill>
            <a:srgbClr val="2242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76300" y="4733925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1504950" y="4552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智能辅助诊断</a:t>
            </a:r>
            <a:endParaRPr sz="15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1504950" y="4857750"/>
            <a:ext cx="638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知识图谱与DeepSeek用于Web端解释和人工复核建议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9048750" y="4667250"/>
            <a:ext cx="1219200" cy="285750"/>
          </a:xfrm>
          <a:prstGeom prst="roundRect">
            <a:avLst>
              <a:gd name="adj" fmla="val 26667"/>
            </a:avLst>
          </a:prstGeom>
          <a:solidFill>
            <a:srgbClr val="224252">
              <a:alpha val="9412"/>
            </a:srgbClr>
          </a:solidFill>
          <a:ln w="9525">
            <a:solidFill>
              <a:srgbClr val="224252">
                <a:alpha val="43922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163050" y="4724400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辅助阶段</a:t>
            </a:r>
            <a:endParaRPr sz="9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504950" y="5162550"/>
            <a:ext cx="8858250" cy="9525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圆角矩形 46"/>
          <p:cNvSpPr>
            <a:spLocks noGrp="1"/>
          </p:cNvSpPr>
          <p:nvPr/>
        </p:nvSpPr>
        <p:spPr>
          <a:xfrm>
            <a:off x="876300" y="5638800"/>
            <a:ext cx="9620250" cy="49530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162050" y="5800725"/>
            <a:ext cx="904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边界说明：DeepSeek不进入实时控制闭环；AI准确率仅代表仿真/生成数据与HIL holdout阶段验证。</a:t>
            </a:r>
            <a:endParaRPr sz="12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22225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边缘侧负责采集和初步处理，中心侧负责可视化、追溯和辅助诊断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链路保持清晰分工，避免把Web端大模型解释写成实时控制闭环。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05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14375" y="1762125"/>
            <a:ext cx="1476375" cy="933450"/>
          </a:xfrm>
          <a:prstGeom prst="roundRect">
            <a:avLst>
              <a:gd name="adj" fmla="val 8163"/>
            </a:avLst>
          </a:prstGeom>
          <a:solidFill>
            <a:srgbClr val="447691">
              <a:alpha val="8627"/>
            </a:srgbClr>
          </a:solidFill>
          <a:ln w="19050">
            <a:solidFill>
              <a:srgbClr val="44769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8675" y="1914525"/>
            <a:ext cx="1247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AD7606</a:t>
            </a:r>
            <a:endParaRPr sz="1275" b="1">
              <a:solidFill>
                <a:srgbClr val="4476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28675" y="2200275"/>
            <a:ext cx="12477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4通道同步采样</a:t>
            </a:r>
            <a:endParaRPr sz="86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90750" y="2210435"/>
            <a:ext cx="514350" cy="47625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等腰三角形 15"/>
          <p:cNvSpPr>
            <a:spLocks noGrp="1"/>
          </p:cNvSpPr>
          <p:nvPr/>
        </p:nvSpPr>
        <p:spPr>
          <a:xfrm rot="5400000">
            <a:off x="2686050" y="2134235"/>
            <a:ext cx="171450" cy="200025"/>
          </a:xfrm>
          <a:prstGeom prst="triangle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altLang="zh-CN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867025" y="1762125"/>
            <a:ext cx="1476375" cy="933450"/>
          </a:xfrm>
          <a:prstGeom prst="roundRect">
            <a:avLst>
              <a:gd name="adj" fmla="val 8163"/>
            </a:avLst>
          </a:prstGeom>
          <a:solidFill>
            <a:srgbClr val="224252">
              <a:alpha val="8627"/>
            </a:srgbClr>
          </a:solidFill>
          <a:ln w="19050">
            <a:solidFill>
              <a:srgbClr val="22425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81325" y="1914525"/>
            <a:ext cx="1247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STM32H750</a:t>
            </a:r>
            <a:endParaRPr sz="12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81325" y="2200275"/>
            <a:ext cx="12477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窗口、FFT、特征、UI</a:t>
            </a:r>
            <a:endParaRPr sz="86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362450" y="2210435"/>
            <a:ext cx="514350" cy="47625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/>
        </p:nvSpPr>
        <p:spPr>
          <a:xfrm rot="5400000">
            <a:off x="4857750" y="2134235"/>
            <a:ext cx="171450" cy="200025"/>
          </a:xfrm>
          <a:prstGeom prst="triangle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5019675" y="1762125"/>
            <a:ext cx="1476375" cy="933450"/>
          </a:xfrm>
          <a:prstGeom prst="roundRect">
            <a:avLst>
              <a:gd name="adj" fmla="val 8163"/>
            </a:avLst>
          </a:prstGeom>
          <a:solidFill>
            <a:srgbClr val="3E9A63">
              <a:alpha val="8627"/>
            </a:srgbClr>
          </a:solidFill>
          <a:ln w="19050">
            <a:solidFill>
              <a:srgbClr val="3E9A63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133975" y="1914525"/>
            <a:ext cx="1247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ESP32</a:t>
            </a:r>
            <a:endParaRPr sz="1275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33975" y="2200275"/>
            <a:ext cx="12477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SPI协处理与HTTP上传</a:t>
            </a:r>
            <a:endParaRPr sz="86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496050" y="2209800"/>
            <a:ext cx="514350" cy="47625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等腰三角形 25"/>
          <p:cNvSpPr>
            <a:spLocks noGrp="1"/>
          </p:cNvSpPr>
          <p:nvPr/>
        </p:nvSpPr>
        <p:spPr>
          <a:xfrm rot="5400000">
            <a:off x="6991350" y="2133600"/>
            <a:ext cx="171450" cy="200025"/>
          </a:xfrm>
          <a:prstGeom prst="triangle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7172325" y="1762125"/>
            <a:ext cx="1476375" cy="933450"/>
          </a:xfrm>
          <a:prstGeom prst="roundRect">
            <a:avLst>
              <a:gd name="adj" fmla="val 8163"/>
            </a:avLst>
          </a:prstGeom>
          <a:solidFill>
            <a:srgbClr val="4484A4">
              <a:alpha val="8627"/>
            </a:srgbClr>
          </a:solidFill>
          <a:ln w="19050">
            <a:solidFill>
              <a:srgbClr val="4484A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286625" y="1914525"/>
            <a:ext cx="1247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Flask Web</a:t>
            </a:r>
            <a:endParaRPr sz="1275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286625" y="2200275"/>
            <a:ext cx="12477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监控、历史、工单、快照</a:t>
            </a:r>
            <a:endParaRPr sz="86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670925" y="2209800"/>
            <a:ext cx="514350" cy="47625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 rot="5400000">
            <a:off x="9166225" y="2133600"/>
            <a:ext cx="171450" cy="200025"/>
          </a:xfrm>
          <a:prstGeom prst="triangle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9324975" y="1762125"/>
            <a:ext cx="1476375" cy="933450"/>
          </a:xfrm>
          <a:prstGeom prst="roundRect">
            <a:avLst>
              <a:gd name="adj" fmla="val 8163"/>
            </a:avLst>
          </a:prstGeom>
          <a:solidFill>
            <a:srgbClr val="F2A93B">
              <a:alpha val="8627"/>
            </a:srgbClr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439275" y="1914525"/>
            <a:ext cx="1247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AI辅助诊断</a:t>
            </a:r>
            <a:endParaRPr sz="1275" b="1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439275" y="2200275"/>
            <a:ext cx="12477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模型识别、知识图谱、DeepSeek解释</a:t>
            </a:r>
            <a:endParaRPr sz="86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42950" y="3286125"/>
            <a:ext cx="4953000" cy="1847850"/>
          </a:xfrm>
          <a:prstGeom prst="roundRect">
            <a:avLst>
              <a:gd name="adj" fmla="val 4124"/>
            </a:avLst>
          </a:prstGeom>
          <a:solidFill>
            <a:srgbClr val="FFFFFF">
              <a:alpha val="97255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05468"/>
            <a:ext cx="4762500" cy="1456765"/>
          </a:xfrm>
          <a:prstGeom prst="rect">
            <a:avLst/>
          </a:prstGeom>
        </p:spPr>
      </p:pic>
      <p:sp>
        <p:nvSpPr>
          <p:cNvPr id="37" name="矩形 36"/>
          <p:cNvSpPr>
            <a:spLocks noGrp="1"/>
          </p:cNvSpPr>
          <p:nvPr/>
        </p:nvSpPr>
        <p:spPr>
          <a:xfrm>
            <a:off x="895350" y="4886325"/>
            <a:ext cx="464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技术路线图：采集、特征、识别、上传与展示链路</a:t>
            </a:r>
            <a:endParaRPr sz="9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115050" y="3143250"/>
            <a:ext cx="4762500" cy="2133600"/>
          </a:xfrm>
          <a:prstGeom prst="roundRect">
            <a:avLst>
              <a:gd name="adj" fmla="val 3571"/>
            </a:avLst>
          </a:prstGeom>
          <a:solidFill>
            <a:srgbClr val="FFFFFF">
              <a:alpha val="97255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rcRect t="15169" b="15169"/>
          <a:stretch>
            <a:fillRect/>
          </a:stretch>
        </p:blipFill>
        <p:spPr>
          <a:xfrm>
            <a:off x="6210300" y="3238500"/>
            <a:ext cx="4572000" cy="1790700"/>
          </a:xfrm>
          <a:prstGeom prst="rect">
            <a:avLst/>
          </a:prstGeom>
        </p:spPr>
      </p:pic>
      <p:sp>
        <p:nvSpPr>
          <p:cNvPr id="40" name="矩形 39"/>
          <p:cNvSpPr>
            <a:spLocks noGrp="1"/>
          </p:cNvSpPr>
          <p:nvPr/>
        </p:nvSpPr>
        <p:spPr>
          <a:xfrm>
            <a:off x="6267450" y="5029200"/>
            <a:ext cx="445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原型实物：边缘端、通信端和屏幕状态同步</a:t>
            </a:r>
            <a:endParaRPr sz="9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1190625" y="5381625"/>
            <a:ext cx="9429750" cy="514350"/>
          </a:xfrm>
          <a:prstGeom prst="roundRect">
            <a:avLst>
              <a:gd name="adj" fmla="val 14815"/>
            </a:avLst>
          </a:prstGeom>
          <a:solidFill>
            <a:srgbClr val="EAF6F8"/>
          </a:solidFill>
          <a:ln w="9525">
            <a:solidFill>
              <a:srgbClr val="CBE2EB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524000" y="55435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关键判断：边缘端保留实时采集与处理职责，Web端负责运维呈现和辅助解释，诊断建议需要人工复核。</a:t>
            </a:r>
            <a:endParaRPr sz="13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边缘硬件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STM32边缘节点已具备采样、FFT、触控界面和通信维护能力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实物照片作为工程证据，当前仍是实验原型，PCB抗干扰和结构化封装将继续推进。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06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l="26" r="26"/>
          <a:stretch>
            <a:fillRect/>
          </a:stretch>
        </p:blipFill>
        <p:spPr>
          <a:xfrm>
            <a:off x="628650" y="1381125"/>
            <a:ext cx="4905375" cy="36766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28650" y="1381125"/>
            <a:ext cx="4905375" cy="36766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l="21266" r="21266"/>
          <a:stretch>
            <a:fillRect/>
          </a:stretch>
        </p:blipFill>
        <p:spPr>
          <a:xfrm>
            <a:off x="5953125" y="1428750"/>
            <a:ext cx="1524000" cy="20764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l="21266" r="21266"/>
          <a:stretch>
            <a:fillRect/>
          </a:stretch>
        </p:blipFill>
        <p:spPr>
          <a:xfrm>
            <a:off x="7620000" y="1428750"/>
            <a:ext cx="1524000" cy="20764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rcRect l="21266" r="21266"/>
          <a:stretch>
            <a:fillRect/>
          </a:stretch>
        </p:blipFill>
        <p:spPr>
          <a:xfrm>
            <a:off x="9286875" y="1428750"/>
            <a:ext cx="1524000" cy="20764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5953125" y="1428750"/>
            <a:ext cx="485775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000750" y="36385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触控界面：实时监控、通信配置与系统维护入口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953125" y="4095750"/>
            <a:ext cx="106680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953125" y="4095750"/>
            <a:ext cx="57150" cy="8763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43625" y="42100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同步采样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43625" y="4419600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4ch</a:t>
            </a:r>
            <a:endParaRPr sz="1875" b="1">
              <a:solidFill>
                <a:srgbClr val="4476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43625" y="47244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边缘端能力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172325" y="4095750"/>
            <a:ext cx="106680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172325" y="4095750"/>
            <a:ext cx="57150" cy="87630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362825" y="42100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波形窗口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362825" y="4419600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4096</a:t>
            </a:r>
            <a:endParaRPr sz="1875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362825" y="47244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边缘端能力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391525" y="4095750"/>
            <a:ext cx="106680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391525" y="4095750"/>
            <a:ext cx="57150" cy="876300"/>
          </a:xfrm>
          <a:prstGeom prst="rect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582025" y="42100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FFT点数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82025" y="4419600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2048</a:t>
            </a:r>
            <a:endParaRPr sz="1875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582025" y="47244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边缘端能力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610725" y="4095750"/>
            <a:ext cx="106680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610725" y="4095750"/>
            <a:ext cx="57150" cy="876300"/>
          </a:xfrm>
          <a:prstGeom prst="rect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801225" y="42100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触控界面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801225" y="4419600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LVGL</a:t>
            </a:r>
            <a:endParaRPr sz="1875" b="1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801225" y="47244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边缘端能力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53340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275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椭圆 39"/>
          <p:cNvSpPr>
            <a:spLocks noGrp="1"/>
          </p:cNvSpPr>
          <p:nvPr/>
        </p:nvSpPr>
        <p:spPr>
          <a:xfrm>
            <a:off x="895350" y="568642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66800" y="561975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4通道波形采集与屏幕实时显示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椭圆 41"/>
          <p:cNvSpPr>
            <a:spLocks noGrp="1"/>
          </p:cNvSpPr>
          <p:nvPr/>
        </p:nvSpPr>
        <p:spPr>
          <a:xfrm>
            <a:off x="895350" y="593407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66800" y="586740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FFT频域分析和边缘参数维护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895350" y="618172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66800" y="611505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通信状态、节点状态和维护入口可见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通信链路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ESP32上传链路已完成WiFi、TCP、注册和上报状态闭环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该页说明演示链路稳定上传，不表述为工业级长期可靠闭环。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07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l="5314" r="5314"/>
          <a:stretch>
            <a:fillRect/>
          </a:stretch>
        </p:blipFill>
        <p:spPr>
          <a:xfrm>
            <a:off x="666750" y="1381125"/>
            <a:ext cx="5905500" cy="37147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66750" y="1381125"/>
            <a:ext cx="5905500" cy="37147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5238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现场联调图：边缘主板、ESP32天线、触控屏连接状态同框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7124700" y="1562100"/>
            <a:ext cx="495300" cy="4953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124700" y="17240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WiFi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58125" y="1628775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网络接入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58125" y="19431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屏幕侧状态可见，便于定位链路问题</a:t>
            </a:r>
            <a:endParaRPr sz="94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7124700" y="2400300"/>
            <a:ext cx="495300" cy="495300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124700" y="25622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TCP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58125" y="2466975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链路建立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58125" y="27813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屏幕侧状态可见，便于定位链路问题</a:t>
            </a:r>
            <a:endParaRPr sz="94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7124700" y="3238500"/>
            <a:ext cx="495300" cy="495300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124700" y="34004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58125" y="3305175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设备注册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58125" y="36195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屏幕侧状态可见，便于定位链路问题</a:t>
            </a:r>
            <a:endParaRPr sz="94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124700" y="4076700"/>
            <a:ext cx="495300" cy="495300"/>
          </a:xfrm>
          <a:prstGeom prst="ellipse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124700" y="4238625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58125" y="4143375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数据上报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858125" y="44577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屏幕侧状态可见，便于定位链路问题</a:t>
            </a:r>
            <a:endParaRPr sz="94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124700" y="5143500"/>
            <a:ext cx="3429000" cy="590550"/>
          </a:xfrm>
          <a:prstGeom prst="roundRect">
            <a:avLst>
              <a:gd name="adj" fmla="val 12903"/>
            </a:avLst>
          </a:prstGeom>
          <a:solidFill>
            <a:srgbClr val="EAF6F8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410450" y="53340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单次全量报告载荷：49,348 bytes</a:t>
            </a:r>
            <a:endParaRPr sz="13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Web平台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运维平台已覆盖总览、节点状态、故障趋势和边缘节点概览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截图已裁掉浏览器栏、公网地址和任务栏，仅保留平台内容。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08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937208"/>
            <a:ext cx="7524750" cy="3116934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590550" y="1352550"/>
            <a:ext cx="7524750" cy="42862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477250" y="1428750"/>
            <a:ext cx="2381250" cy="1000125"/>
          </a:xfrm>
          <a:prstGeom prst="roundRect">
            <a:avLst>
              <a:gd name="adj" fmla="val 7619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2490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总览态势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8724900" y="210502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896350" y="20383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在线边缘节点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8724900" y="2343150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896350" y="2276475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系统健康度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8724900" y="258127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96350" y="251460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近24小时故障趋势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477250" y="2714625"/>
            <a:ext cx="2381250" cy="1000125"/>
          </a:xfrm>
          <a:prstGeom prst="roundRect">
            <a:avLst>
              <a:gd name="adj" fmla="val 7619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24900" y="29051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运维入口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8724900" y="3390900"/>
            <a:ext cx="66675" cy="66675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896350" y="3324225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实时监控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8724900" y="3629025"/>
            <a:ext cx="66675" cy="66675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896350" y="35623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历史曲线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8724900" y="3867150"/>
            <a:ext cx="66675" cy="66675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896350" y="3800475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故障管理与快照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8477250" y="4000500"/>
            <a:ext cx="2381250" cy="1000125"/>
          </a:xfrm>
          <a:prstGeom prst="roundRect">
            <a:avLst>
              <a:gd name="adj" fmla="val 7619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724900" y="41910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展示边界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724900" y="45720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用于监测、追溯和辅助诊断展示，不宣称现场长期自动运维。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实时监控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平台已可同步展示电参量、时域波形和FFT频谱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正常状态和频域特征分开展示，支撑后续故障识别与证据追踪。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09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52450" y="1381125"/>
            <a:ext cx="5334000" cy="3276600"/>
          </a:xfrm>
          <a:prstGeom prst="roundRect">
            <a:avLst>
              <a:gd name="adj" fmla="val 2326"/>
            </a:avLst>
          </a:prstGeom>
          <a:solidFill>
            <a:srgbClr val="FFFFFF">
              <a:alpha val="97255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l="5467" r="5467"/>
          <a:stretch>
            <a:fillRect/>
          </a:stretch>
        </p:blipFill>
        <p:spPr>
          <a:xfrm>
            <a:off x="647700" y="1476375"/>
            <a:ext cx="5143500" cy="29337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704850" y="4410075"/>
            <a:ext cx="502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实时监控：四项电参量、节点状态和主曲线</a:t>
            </a:r>
            <a:endParaRPr sz="9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286500" y="1381125"/>
            <a:ext cx="5334000" cy="3276600"/>
          </a:xfrm>
          <a:prstGeom prst="roundRect">
            <a:avLst>
              <a:gd name="adj" fmla="val 2326"/>
            </a:avLst>
          </a:prstGeom>
          <a:solidFill>
            <a:srgbClr val="FFFFFF">
              <a:alpha val="97255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l="5467" r="5467"/>
          <a:stretch>
            <a:fillRect/>
          </a:stretch>
        </p:blipFill>
        <p:spPr>
          <a:xfrm>
            <a:off x="6381750" y="1476375"/>
            <a:ext cx="5143500" cy="293370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6438900" y="4410075"/>
            <a:ext cx="502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频域分析：FFT Spectrum 页面与峰值特征</a:t>
            </a:r>
            <a:endParaRPr sz="9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76300" y="5095875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5095875"/>
            <a:ext cx="57150" cy="8763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52101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监测频率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541972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Hz</a:t>
            </a:r>
            <a:endParaRPr sz="1875" b="1">
              <a:solidFill>
                <a:srgbClr val="4476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66800" y="572452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Web显示刷新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3219450" y="5095875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219450" y="5095875"/>
            <a:ext cx="57150" cy="87630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409950" y="52101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波形窗口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09950" y="541972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4096</a:t>
            </a:r>
            <a:endParaRPr sz="1875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409950" y="572452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上传点数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562600" y="5095875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62600" y="5095875"/>
            <a:ext cx="57150" cy="876300"/>
          </a:xfrm>
          <a:prstGeom prst="rect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753100" y="52101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频谱点数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753100" y="541972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2048/512</a:t>
            </a:r>
            <a:endParaRPr sz="1875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53100" y="572452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边缘/显示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905750" y="5095875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905750" y="5095875"/>
            <a:ext cx="57150" cy="876300"/>
          </a:xfrm>
          <a:prstGeom prst="rect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096250" y="52101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状态来源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96250" y="541972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STM32_H7</a:t>
            </a:r>
            <a:endParaRPr sz="1875" b="1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96250" y="572452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智能设备节点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故障工单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故障管理页已形成事件留痕、状态跟踪和操作入口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工单列表用于把异常波形、设备、时间、快照和诊断操作串到同一条证据链。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10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92727"/>
            <a:ext cx="6667500" cy="3405796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571500" y="1381125"/>
            <a:ext cx="66675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5" y="1695051"/>
            <a:ext cx="3333750" cy="1143797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7667625" y="1457325"/>
            <a:ext cx="33337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0" y="316230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报告导出预览</a:t>
            </a:r>
            <a:endParaRPr sz="9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67625" y="3581400"/>
            <a:ext cx="3333750" cy="1219200"/>
          </a:xfrm>
          <a:prstGeom prst="roundRect">
            <a:avLst>
              <a:gd name="adj" fmla="val 6250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05750" y="3790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工单闭环能力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7905750" y="423862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077200" y="417195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故障类型与严重度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7905750" y="446722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77200" y="440055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设备和时间戳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7905750" y="469582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077200" y="462915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详情、诊断、快照、导出</a:t>
            </a:r>
            <a:endParaRPr sz="97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428750" y="5381625"/>
            <a:ext cx="8858250" cy="476250"/>
          </a:xfrm>
          <a:prstGeom prst="roundRect">
            <a:avLst>
              <a:gd name="adj" fmla="val 16000"/>
            </a:avLst>
          </a:prstGeom>
          <a:solidFill>
            <a:srgbClr val="EAF6F8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714500" y="554355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当前阶段重点是“可追溯”和“可复核”，不是把故障处置写成无人值守闭环。</a:t>
            </a:r>
            <a:endParaRPr sz="12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快照证据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故障快照把故障前后波形、统计量和频谱保存为可复核证据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快照证据页将异常过程从“报警列表”推进到“有波形、有统计、有频域”的说明。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11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28" y="1428750"/>
            <a:ext cx="5544944" cy="37147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66750" y="1428750"/>
            <a:ext cx="5905500" cy="37147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3249" b="3249"/>
          <a:stretch>
            <a:fillRect/>
          </a:stretch>
        </p:blipFill>
        <p:spPr>
          <a:xfrm>
            <a:off x="7096125" y="1428750"/>
            <a:ext cx="3810000" cy="180975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7096125" y="1428750"/>
            <a:ext cx="38100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rcRect t="8170" b="8170"/>
          <a:stretch>
            <a:fillRect/>
          </a:stretch>
        </p:blipFill>
        <p:spPr>
          <a:xfrm>
            <a:off x="7096125" y="3524250"/>
            <a:ext cx="3810000" cy="16192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096125" y="3524250"/>
            <a:ext cx="3810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1447800" y="5476875"/>
            <a:ext cx="2381250" cy="285750"/>
          </a:xfrm>
          <a:prstGeom prst="roundRect">
            <a:avLst>
              <a:gd name="adj" fmla="val 26667"/>
            </a:avLst>
          </a:prstGeom>
          <a:solidFill>
            <a:srgbClr val="447691">
              <a:alpha val="9412"/>
            </a:srgbClr>
          </a:solidFill>
          <a:ln w="9525">
            <a:solidFill>
              <a:srgbClr val="447691">
                <a:alpha val="43922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5534025"/>
            <a:ext cx="2152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时域：故障前后波形窗口</a:t>
            </a:r>
            <a:endParaRPr sz="900" b="1">
              <a:solidFill>
                <a:srgbClr val="4476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400550" y="5476875"/>
            <a:ext cx="2381250" cy="285750"/>
          </a:xfrm>
          <a:prstGeom prst="roundRect">
            <a:avLst>
              <a:gd name="adj" fmla="val 26667"/>
            </a:avLst>
          </a:prstGeom>
          <a:solidFill>
            <a:srgbClr val="3E9A63">
              <a:alpha val="9412"/>
            </a:srgbClr>
          </a:solidFill>
          <a:ln w="9525">
            <a:solidFill>
              <a:srgbClr val="3E9A63">
                <a:alpha val="43922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514850" y="5534025"/>
            <a:ext cx="2152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统计：均值、标准差、峰值</a:t>
            </a:r>
            <a:endParaRPr sz="900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353300" y="5476875"/>
            <a:ext cx="2381250" cy="285750"/>
          </a:xfrm>
          <a:prstGeom prst="roundRect">
            <a:avLst>
              <a:gd name="adj" fmla="val 26667"/>
            </a:avLst>
          </a:prstGeom>
          <a:solidFill>
            <a:srgbClr val="F2A93B">
              <a:alpha val="9412"/>
            </a:srgbClr>
          </a:solidFill>
          <a:ln w="9525">
            <a:solidFill>
              <a:srgbClr val="F2A93B">
                <a:alpha val="43922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67600" y="5534025"/>
            <a:ext cx="2152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频域：FFT谱峰与频率分量</a:t>
            </a:r>
            <a:endParaRPr sz="900" b="1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辅助诊断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DeepSeek用于Web端解释和人工复核建议，不进入实时控制热路径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裁掉推理中或错误态区域，仅保留已经完成的诊断摘要和知识图谱视图。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12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23" y="1381125"/>
            <a:ext cx="6854053" cy="40767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552450" y="1381125"/>
            <a:ext cx="6858000" cy="40767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7810500" y="146685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5686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058150" y="16764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Web端辅助解释</a:t>
            </a:r>
            <a:endParaRPr sz="172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8058150" y="216217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229600" y="209550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摘要风险等级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8058150" y="2419350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29600" y="2352675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证据与根因候选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8058150" y="267652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229600" y="260985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处置步骤建议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810500" y="3200400"/>
            <a:ext cx="3143250" cy="1504950"/>
          </a:xfrm>
          <a:prstGeom prst="roundRect">
            <a:avLst>
              <a:gd name="adj" fmla="val 5063"/>
            </a:avLst>
          </a:prstGeom>
          <a:solidFill>
            <a:srgbClr val="FFF7E8"/>
          </a:solidFill>
          <a:ln w="9525">
            <a:solidFill>
              <a:srgbClr val="F0D7A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058150" y="3409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边界写法</a:t>
            </a:r>
            <a:endParaRPr sz="172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058150" y="3810000"/>
            <a:ext cx="2381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 Pro用于运维辅助说明；最终处置仍需人工复核，不作为实时控制闭环。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096250" y="5048250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C94848">
              <a:alpha val="9412"/>
            </a:srgbClr>
          </a:solidFill>
          <a:ln w="9525">
            <a:solidFill>
              <a:srgbClr val="C94848">
                <a:alpha val="43922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210550" y="51054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94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94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不写：自动闭环控制</a:t>
            </a:r>
            <a:endParaRPr sz="900" b="1">
              <a:solidFill>
                <a:srgbClr val="C94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096250" y="5467350"/>
            <a:ext cx="2190750" cy="285750"/>
          </a:xfrm>
          <a:prstGeom prst="roundRect">
            <a:avLst>
              <a:gd name="adj" fmla="val 26667"/>
            </a:avLst>
          </a:prstGeom>
          <a:solidFill>
            <a:srgbClr val="3E9A63">
              <a:alpha val="9412"/>
            </a:srgbClr>
          </a:solidFill>
          <a:ln w="9525">
            <a:solidFill>
              <a:srgbClr val="3E9A63">
                <a:alpha val="43922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210550" y="552450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可写：智能运维辅助诊断</a:t>
            </a:r>
            <a:endParaRPr sz="900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AI识别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AI识别完成阶段验证，指标限定于生成/HIL数据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准确率不写成真实风场长期泛化能力，主叙事是特征融合、可部署资源和后续复验。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13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52450" y="1381125"/>
            <a:ext cx="4476750" cy="3371850"/>
          </a:xfrm>
          <a:prstGeom prst="roundRect">
            <a:avLst>
              <a:gd name="adj" fmla="val 2260"/>
            </a:avLst>
          </a:prstGeom>
          <a:solidFill>
            <a:srgbClr val="FFFFFF">
              <a:alpha val="97255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27" y="1476375"/>
            <a:ext cx="3009995" cy="302895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704850" y="4505325"/>
            <a:ext cx="417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混淆矩阵：7类故障识别测试结果</a:t>
            </a:r>
            <a:endParaRPr sz="9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429250" y="1381125"/>
            <a:ext cx="5334000" cy="2276475"/>
          </a:xfrm>
          <a:prstGeom prst="roundRect">
            <a:avLst>
              <a:gd name="adj" fmla="val 3347"/>
            </a:avLst>
          </a:prstGeom>
          <a:solidFill>
            <a:srgbClr val="FFFFFF">
              <a:alpha val="97255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t="46241" b="46241"/>
          <a:stretch>
            <a:fillRect/>
          </a:stretch>
        </p:blipFill>
        <p:spPr>
          <a:xfrm>
            <a:off x="5524500" y="1476375"/>
            <a:ext cx="5143500" cy="1933575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5581650" y="3409950"/>
            <a:ext cx="502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样本波形：训练侧多故障工况特征</a:t>
            </a:r>
            <a:endParaRPr sz="9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429250" y="3829050"/>
            <a:ext cx="533400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657850" y="40386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输入结构</a:t>
            </a:r>
            <a:endParaRPr sz="112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705600" y="4038600"/>
            <a:ext cx="3524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116维工程特征 + 4 x 512频谱 + 104维db3小波特征，输出E00-E06七类状态。</a:t>
            </a:r>
            <a:endParaRPr sz="1125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23900" y="5191125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5191125"/>
            <a:ext cx="57150" cy="8763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530542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4400" y="551497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99.964%</a:t>
            </a:r>
            <a:endParaRPr sz="1875" b="1">
              <a:solidFill>
                <a:srgbClr val="4476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4400" y="58197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83,970 / 84,000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3028950" y="5191125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028950" y="5191125"/>
            <a:ext cx="57150" cy="876300"/>
          </a:xfrm>
          <a:prstGeom prst="rect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219450" y="530542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HIL holdout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219450" y="551497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99.969%</a:t>
            </a:r>
            <a:endParaRPr sz="1875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219450" y="58197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83,974 / 84,000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5334000" y="5191125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334000" y="5191125"/>
            <a:ext cx="57150" cy="876300"/>
          </a:xfrm>
          <a:prstGeom prst="rect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524500" y="530542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X-CUBE-AI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524500" y="551497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6.22M</a:t>
            </a:r>
            <a:endParaRPr sz="1875" b="1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0" y="58197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MACC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639050" y="5191125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639050" y="5191125"/>
            <a:ext cx="57150" cy="876300"/>
          </a:xfrm>
          <a:prstGeom prst="rect">
            <a:avLst/>
          </a:prstGeom>
          <a:solidFill>
            <a:srgbClr val="2242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29550" y="530542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部署资源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29550" y="5514975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238.9KB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829550" y="5819775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weights, 295.9KB activations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联调验证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ESP32上传链路完成20分钟三端日志验证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当前演示链路无失败和超时；该指标是阶段性稳定性验证，不写作长期生产级可靠性。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14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254250"/>
            <a:ext cx="4762500" cy="19685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66750" y="1381125"/>
            <a:ext cx="4762500" cy="37147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53125" y="1476375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953125" y="1476375"/>
            <a:ext cx="57150" cy="8763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143625" y="159067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 HTTP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43625" y="1800225"/>
            <a:ext cx="17049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47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1062 / 1062</a:t>
            </a:r>
            <a:endParaRPr sz="1875" b="1">
              <a:solidFill>
                <a:srgbClr val="4476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43625" y="210502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完成数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334375" y="1476375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34375" y="1476375"/>
            <a:ext cx="57150" cy="876300"/>
          </a:xfrm>
          <a:prstGeom prst="rect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524875" y="159067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ESP读取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24875" y="1800225"/>
            <a:ext cx="17049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1062 / 1062</a:t>
            </a:r>
            <a:endParaRPr sz="1875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24875" y="210502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成功数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5953125" y="2543175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953125" y="2543175"/>
            <a:ext cx="57150" cy="876300"/>
          </a:xfrm>
          <a:prstGeom prst="rect">
            <a:avLst/>
          </a:prstGeom>
          <a:solidFill>
            <a:srgbClr val="F2A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143625" y="265747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失败/超时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43625" y="2867025"/>
            <a:ext cx="17049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/ 0</a:t>
            </a:r>
            <a:endParaRPr sz="1875" b="1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143625" y="317182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 / timeout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334375" y="2543175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334375" y="2543175"/>
            <a:ext cx="57150" cy="876300"/>
          </a:xfrm>
          <a:prstGeom prst="rect">
            <a:avLst/>
          </a:prstGeom>
          <a:solidFill>
            <a:srgbClr val="2242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524875" y="265747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载荷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24875" y="2867025"/>
            <a:ext cx="17049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49,348 bytes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524875" y="317182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单帧全量报告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5953125" y="3609975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953125" y="3609975"/>
            <a:ext cx="57150" cy="87630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143625" y="372427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ESP total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143625" y="3933825"/>
            <a:ext cx="17049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p50 603 ms</a:t>
            </a:r>
            <a:endParaRPr sz="1875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143625" y="423862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p95 642 ms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334375" y="3609975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5294"/>
            </a:srgbClr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334375" y="3609975"/>
            <a:ext cx="57150" cy="876300"/>
          </a:xfrm>
          <a:prstGeom prst="rect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524875" y="372427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云端错误</a:t>
            </a:r>
            <a:endParaRPr sz="900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24875" y="3933825"/>
            <a:ext cx="17049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E9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875" b="1">
              <a:solidFill>
                <a:srgbClr val="3E9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24875" y="4238625"/>
            <a:ext cx="17049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b="0">
                <a:solidFill>
                  <a:srgbClr val="718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runtime errors</a:t>
            </a:r>
            <a:endParaRPr sz="790" b="0">
              <a:solidFill>
                <a:srgbClr val="718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6429375" y="5095875"/>
            <a:ext cx="4000500" cy="704850"/>
          </a:xfrm>
          <a:prstGeom prst="roundRect">
            <a:avLst>
              <a:gd name="adj" fmla="val 10811"/>
            </a:avLst>
          </a:prstGeom>
          <a:solidFill>
            <a:srgbClr val="EAF6F8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15125" y="52959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HIL故障注入源已准备7类波形，每类4 MB、102,400 Hz、4通道，用于后续复验。</a:t>
            </a:r>
            <a:endParaRPr sz="12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>
              <a:alpha val="9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81000" y="333375"/>
            <a:ext cx="266700" cy="266700"/>
          </a:xfrm>
          <a:prstGeom prst="ellipse">
            <a:avLst/>
          </a:prstGeom>
          <a:solidFill>
            <a:srgbClr val="4476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" y="371475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67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4484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成果与计划</a:t>
            </a:r>
            <a:endParaRPr sz="900" b="1">
              <a:solidFill>
                <a:srgbClr val="4484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57200"/>
            <a:ext cx="723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已形成论文录用、软著登记和可演示原型，后半阶段转入验证固化</a:t>
            </a:r>
            <a:endParaRPr sz="187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866775"/>
            <a:ext cx="3619500" cy="19050"/>
          </a:xfrm>
          <a:prstGeom prst="rect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962025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D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论文只写录用和待会议发表并提交检索，不写已检索。</a:t>
            </a:r>
            <a:endParaRPr sz="975" b="0">
              <a:solidFill>
                <a:srgbClr val="5D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0" y="64960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B92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EdgeWind 中期进展汇报 | 15</a:t>
            </a:r>
            <a:endParaRPr sz="750" b="0">
              <a:solidFill>
                <a:srgbClr val="7B92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71500" y="1381125"/>
            <a:ext cx="4762500" cy="2800350"/>
          </a:xfrm>
          <a:prstGeom prst="roundRect">
            <a:avLst>
              <a:gd name="adj" fmla="val 2721"/>
            </a:avLst>
          </a:prstGeom>
          <a:solidFill>
            <a:srgbClr val="FFFFFF">
              <a:alpha val="97255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589" y="1476375"/>
            <a:ext cx="1740321" cy="245745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723900" y="3933825"/>
            <a:ext cx="445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论文录用通知：EIECT 2025</a:t>
            </a:r>
            <a:endParaRPr sz="9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810250" y="1381125"/>
            <a:ext cx="4762500" cy="2800350"/>
          </a:xfrm>
          <a:prstGeom prst="roundRect">
            <a:avLst>
              <a:gd name="adj" fmla="val 2721"/>
            </a:avLst>
          </a:prstGeom>
          <a:solidFill>
            <a:srgbClr val="FFFFFF">
              <a:alpha val="97255"/>
            </a:srgbClr>
          </a:solidFill>
          <a:ln w="9525">
            <a:solidFill>
              <a:srgbClr val="D7E6EC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315" y="1476375"/>
            <a:ext cx="1812369" cy="24574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5962650" y="3933825"/>
            <a:ext cx="445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软件著作权登记证书</a:t>
            </a:r>
            <a:endParaRPr sz="90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43053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阶段成果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819150" y="473392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4667250"/>
            <a:ext cx="449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论文：已录用，待会议发表并提交EI Compendex、Scopus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819150" y="4991100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90600" y="4924425"/>
            <a:ext cx="449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软著：基于边缘计算的风力电厂故障监测系统 V1.0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819150" y="5248275"/>
            <a:ext cx="66675" cy="66675"/>
          </a:xfrm>
          <a:prstGeom prst="ellipse">
            <a:avLst/>
          </a:prstGeom>
          <a:solidFill>
            <a:srgbClr val="4484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90600" y="5181600"/>
            <a:ext cx="449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原型：边缘采集、ESP32上传、Web运维、AI辅助诊断可演示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43053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endParaRPr sz="1650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6191250" y="4733925"/>
            <a:ext cx="66675" cy="66675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362700" y="4667250"/>
            <a:ext cx="421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扩充真实工况样本，区分仿真、生成与现场数据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191250" y="4991100"/>
            <a:ext cx="66675" cy="66675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362700" y="4924425"/>
            <a:ext cx="421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拉长三端稳定性测试，持续监测失败、超时与延迟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6191250" y="5248275"/>
            <a:ext cx="66675" cy="66675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362700" y="5181600"/>
            <a:ext cx="421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推进PCB抗干扰、标定、结构化封装与结题归档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6191250" y="5505450"/>
            <a:ext cx="66675" cy="66675"/>
          </a:xfrm>
          <a:prstGeom prst="ellipse">
            <a:avLst/>
          </a:prstGeom>
          <a:solidFill>
            <a:srgbClr val="3E9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362700" y="5438775"/>
            <a:ext cx="421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完善知识图谱和DeepSeek解释，保留人工复核边界</a:t>
            </a:r>
            <a:endParaRPr sz="1050" b="0">
              <a:solidFill>
                <a:srgbClr val="16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428875" y="6191250"/>
            <a:ext cx="7334250" cy="19050"/>
          </a:xfrm>
          <a:prstGeom prst="rect">
            <a:avLst/>
          </a:prstGeom>
          <a:solidFill>
            <a:srgbClr val="D7E6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0" y="5981700"/>
            <a:ext cx="1219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24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请各位老师批评指正</a:t>
            </a:r>
            <a:endParaRPr lang="zh-CN" sz="2025" b="1">
              <a:solidFill>
                <a:srgbClr val="2242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2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3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4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5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6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7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8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9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0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1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2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3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4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5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6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7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8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19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ags/tag20.xml><?xml version="1.0" encoding="utf-8"?>
<p:tagLst xmlns:p="http://schemas.openxmlformats.org/presentationml/2006/main">
  <p:tag name="KSO_WM_DIAGRAM_VIRTUALLY_FRAME" val="{&quot;height&quot;:288,&quot;left&quot;:69,&quot;top&quot;:112.5,&quot;width&quot;:552}"/>
</p:tagLst>
</file>

<file path=ppt/theme/theme1.xml><?xml version="1.0" encoding="utf-8"?>
<a:theme xmlns:a="http://schemas.openxmlformats.org/drawingml/2006/main" name="自定义 837">
  <a:themeElements>
    <a:clrScheme name="自定义 837">
      <a:dk1>
        <a:sysClr val="windowText" lastClr="000000"/>
      </a:dk1>
      <a:lt1>
        <a:sysClr val="window" lastClr="FFFFFF"/>
      </a:lt1>
      <a:dk2>
        <a:srgbClr val="447691"/>
      </a:dk2>
      <a:lt2>
        <a:srgbClr val="E7E6E6"/>
      </a:lt2>
      <a:accent1>
        <a:srgbClr val="4484A4"/>
      </a:accent1>
      <a:accent2>
        <a:srgbClr val="447691"/>
      </a:accent2>
      <a:accent3>
        <a:srgbClr val="89B7CE"/>
      </a:accent3>
      <a:accent4>
        <a:srgbClr val="22425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xtmetwjb">
      <a:majorFont>
        <a:latin typeface="思源黑体 CN Normal"/>
        <a:ea typeface="思源黑体 CN Normal"/>
        <a:cs typeface="Arial"/>
      </a:majorFont>
      <a:minorFont>
        <a:latin typeface="思源黑体 CN Normal"/>
        <a:ea typeface="思源黑体 CN Normal"/>
        <a:cs typeface="Arial"/>
      </a:minorFont>
    </a:fontScheme>
    <a:fmtScheme name="自定义 837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 837">
  <a:themeElements>
    <a:clrScheme name="自定义 837">
      <a:dk1>
        <a:sysClr val="windowText" lastClr="000000"/>
      </a:dk1>
      <a:lt1>
        <a:sysClr val="window" lastClr="FFFFFF"/>
      </a:lt1>
      <a:dk2>
        <a:srgbClr val="447691"/>
      </a:dk2>
      <a:lt2>
        <a:srgbClr val="E7E6E6"/>
      </a:lt2>
      <a:accent1>
        <a:srgbClr val="4484A4"/>
      </a:accent1>
      <a:accent2>
        <a:srgbClr val="447691"/>
      </a:accent2>
      <a:accent3>
        <a:srgbClr val="89B7CE"/>
      </a:accent3>
      <a:accent4>
        <a:srgbClr val="22425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xtmetwjb">
      <a:majorFont>
        <a:latin typeface="思源黑体 CN Normal"/>
        <a:ea typeface="思源黑体 CN Normal"/>
        <a:cs typeface="Arial"/>
      </a:majorFont>
      <a:minorFont>
        <a:latin typeface="思源黑体 CN Normal"/>
        <a:ea typeface="思源黑体 CN Normal"/>
        <a:cs typeface="Arial"/>
      </a:minorFont>
    </a:fontScheme>
    <a:fmtScheme name="自定义 837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3201</Words>
  <Application>WPS 演示</Application>
  <PresentationFormat>Converted Presentation</PresentationFormat>
  <Paragraphs>508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Noto Sans SC</vt:lpstr>
      <vt:lpstr>Arial Unicode MS</vt:lpstr>
      <vt:lpstr>思源黑体 CN Normal</vt:lpstr>
      <vt:lpstr>黑体</vt:lpstr>
      <vt:lpstr>KSOF954951BB</vt:lpstr>
      <vt:lpstr>Segoe Print</vt:lpstr>
      <vt:lpstr>自定义 837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落秋.</cp:lastModifiedBy>
  <cp:revision>3</cp:revision>
  <dcterms:created xsi:type="dcterms:W3CDTF">2026-05-27T18:01:00Z</dcterms:created>
  <dcterms:modified xsi:type="dcterms:W3CDTF">2026-05-27T18:48:58Z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ED1862B35A12416DB353A6D59306AD5A_12</vt:lpwstr>
  </property>
  <property fmtid="{D5CDD505-2E9C-101B-9397-08002B2CF9AE}" pid="3" name="KSOProductBuildVer">
    <vt:lpwstr>2052-12.1.0.26895</vt:lpwstr>
  </property>
</Properties>
</file>