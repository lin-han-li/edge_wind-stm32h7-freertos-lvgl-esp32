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24"/>
  </p:handoutMasterIdLst>
  <p:sldIdLst>
    <p:sldId id="13043" r:id="rId3"/>
    <p:sldId id="257" r:id="rId4"/>
    <p:sldId id="258" r:id="rId5"/>
    <p:sldId id="13028" r:id="rId6"/>
    <p:sldId id="260" r:id="rId7"/>
    <p:sldId id="13055" r:id="rId8"/>
    <p:sldId id="13034" r:id="rId9"/>
    <p:sldId id="13059" r:id="rId11"/>
    <p:sldId id="13061" r:id="rId12"/>
    <p:sldId id="13062" r:id="rId13"/>
    <p:sldId id="13056" r:id="rId14"/>
    <p:sldId id="13063" r:id="rId15"/>
    <p:sldId id="13060" r:id="rId16"/>
    <p:sldId id="259" r:id="rId17"/>
    <p:sldId id="13058" r:id="rId18"/>
    <p:sldId id="261" r:id="rId19"/>
    <p:sldId id="13057" r:id="rId20"/>
    <p:sldId id="13035" r:id="rId21"/>
    <p:sldId id="13038" r:id="rId22"/>
    <p:sldId id="13039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clrMru>
    <a:srgbClr val="448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50" y="102"/>
      </p:cViewPr>
      <p:guideLst>
        <p:guide orient="horz" pos="229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1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5BEF2-A5DA-4E04-974E-4A313883213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18F5D-E43D-49E9-BC14-D1D903A131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90d9abf2-fdaf-4f99-ad4c-6f49c3bf0e98.source.2.zh-Hans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BAC62-997D-4408-B49A-7890FEDCBD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90d9abf2-fdaf-4f99-ad4c-6f49c3bf0e98.source.2.zh-Hans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BAC62-997D-4408-B49A-7890FEDCBD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90d9abf2-fdaf-4f99-ad4c-6f49c3bf0e98.source.2.zh-Hans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BAC62-997D-4408-B49A-7890FEDCBD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90d9abf2-fdaf-4f99-ad4c-6f49c3bf0e98.source.2.zh-Hans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BAC62-997D-4408-B49A-7890FEDCBD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90d9abf2-fdaf-4f99-ad4c-6f49c3bf0e98.source.2.zh-Hans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BAC62-997D-4408-B49A-7890FEDCBD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90d9abf2-fdaf-4f99-ad4c-6f49c3bf0e98.source.2.zh-Hans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BAC62-997D-4408-B49A-7890FEDCBD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90d9abf2-fdaf-4f99-ad4c-6f49c3bf0e98.source.2.zh-Hans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BAC62-997D-4408-B49A-7890FEDCBD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90d9abf2-fdaf-4f99-ad4c-6f49c3bf0e98.source.2.zh-Hans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BAC62-997D-4408-B49A-7890FEDCBD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494480" y="0"/>
            <a:ext cx="5697520" cy="6858000"/>
          </a:xfrm>
          <a:custGeom>
            <a:avLst/>
            <a:gdLst>
              <a:gd name="connsiteX0" fmla="*/ 0 w 5697520"/>
              <a:gd name="connsiteY0" fmla="*/ 0 h 6858000"/>
              <a:gd name="connsiteX1" fmla="*/ 5697520 w 5697520"/>
              <a:gd name="connsiteY1" fmla="*/ 0 h 6858000"/>
              <a:gd name="connsiteX2" fmla="*/ 5697520 w 5697520"/>
              <a:gd name="connsiteY2" fmla="*/ 6858000 h 6858000"/>
              <a:gd name="connsiteX3" fmla="*/ 664621 w 5697520"/>
              <a:gd name="connsiteY3" fmla="*/ 6858000 h 6858000"/>
              <a:gd name="connsiteX4" fmla="*/ 681506 w 5697520"/>
              <a:gd name="connsiteY4" fmla="*/ 6816042 h 6858000"/>
              <a:gd name="connsiteX5" fmla="*/ 976126 w 5697520"/>
              <a:gd name="connsiteY5" fmla="*/ 3183063 h 6858000"/>
              <a:gd name="connsiteX6" fmla="*/ 8013 w 5697520"/>
              <a:gd name="connsiteY6" fmla="*/ 132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7520" h="6858000">
                <a:moveTo>
                  <a:pt x="0" y="0"/>
                </a:moveTo>
                <a:lnTo>
                  <a:pt x="5697520" y="0"/>
                </a:lnTo>
                <a:lnTo>
                  <a:pt x="5697520" y="6858000"/>
                </a:lnTo>
                <a:lnTo>
                  <a:pt x="664621" y="6858000"/>
                </a:lnTo>
                <a:lnTo>
                  <a:pt x="681506" y="6816042"/>
                </a:lnTo>
                <a:cubicBezTo>
                  <a:pt x="1021029" y="5919997"/>
                  <a:pt x="1148364" y="4610583"/>
                  <a:pt x="976126" y="3183063"/>
                </a:cubicBezTo>
                <a:cubicBezTo>
                  <a:pt x="823626" y="1919115"/>
                  <a:pt x="465034" y="800957"/>
                  <a:pt x="8013" y="13235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任意多边形: 形状 2"/>
          <p:cNvSpPr/>
          <p:nvPr userDrawn="1"/>
        </p:nvSpPr>
        <p:spPr>
          <a:xfrm rot="60000">
            <a:off x="336474" y="-47978"/>
            <a:ext cx="7229527" cy="6895596"/>
          </a:xfrm>
          <a:custGeom>
            <a:avLst/>
            <a:gdLst>
              <a:gd name="connsiteX0" fmla="*/ 0 w 7229527"/>
              <a:gd name="connsiteY0" fmla="*/ 106400 h 6895596"/>
              <a:gd name="connsiteX1" fmla="*/ 6095696 w 7229527"/>
              <a:gd name="connsiteY1" fmla="*/ 0 h 6895596"/>
              <a:gd name="connsiteX2" fmla="*/ 6106527 w 7229527"/>
              <a:gd name="connsiteY2" fmla="*/ 17203 h 6895596"/>
              <a:gd name="connsiteX3" fmla="*/ 7129813 w 7229527"/>
              <a:gd name="connsiteY3" fmla="*/ 3169652 h 6895596"/>
              <a:gd name="connsiteX4" fmla="*/ 6898643 w 7229527"/>
              <a:gd name="connsiteY4" fmla="*/ 6807220 h 6895596"/>
              <a:gd name="connsiteX5" fmla="*/ 6864858 w 7229527"/>
              <a:gd name="connsiteY5" fmla="*/ 6895596 h 6895596"/>
              <a:gd name="connsiteX6" fmla="*/ 4207288 w 7229527"/>
              <a:gd name="connsiteY6" fmla="*/ 6895595 h 6895596"/>
              <a:gd name="connsiteX7" fmla="*/ 0 w 7229527"/>
              <a:gd name="connsiteY7" fmla="*/ 6895595 h 6895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9527" h="6895596">
                <a:moveTo>
                  <a:pt x="0" y="106400"/>
                </a:moveTo>
                <a:lnTo>
                  <a:pt x="6095696" y="0"/>
                </a:lnTo>
                <a:lnTo>
                  <a:pt x="6106527" y="17203"/>
                </a:lnTo>
                <a:cubicBezTo>
                  <a:pt x="6577225" y="796829"/>
                  <a:pt x="6955278" y="1908558"/>
                  <a:pt x="7129813" y="3169652"/>
                </a:cubicBezTo>
                <a:cubicBezTo>
                  <a:pt x="7326938" y="4593949"/>
                  <a:pt x="7222475" y="5905385"/>
                  <a:pt x="6898643" y="6807220"/>
                </a:cubicBezTo>
                <a:lnTo>
                  <a:pt x="6864858" y="6895596"/>
                </a:lnTo>
                <a:lnTo>
                  <a:pt x="4207288" y="6895595"/>
                </a:lnTo>
                <a:lnTo>
                  <a:pt x="0" y="689559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 userDrawn="1"/>
        </p:nvSpPr>
        <p:spPr>
          <a:xfrm>
            <a:off x="276852" y="0"/>
            <a:ext cx="7170610" cy="6858001"/>
          </a:xfrm>
          <a:custGeom>
            <a:avLst/>
            <a:gdLst>
              <a:gd name="connsiteX0" fmla="*/ 0 w 7170610"/>
              <a:gd name="connsiteY0" fmla="*/ 0 h 6858001"/>
              <a:gd name="connsiteX1" fmla="*/ 2510878 w 7170610"/>
              <a:gd name="connsiteY1" fmla="*/ 0 h 6858001"/>
              <a:gd name="connsiteX2" fmla="*/ 2510878 w 7170610"/>
              <a:gd name="connsiteY2" fmla="*/ 1 h 6858001"/>
              <a:gd name="connsiteX3" fmla="*/ 4984929 w 7170610"/>
              <a:gd name="connsiteY3" fmla="*/ 1 h 6858001"/>
              <a:gd name="connsiteX4" fmla="*/ 4984929 w 7170610"/>
              <a:gd name="connsiteY4" fmla="*/ 2 h 6858001"/>
              <a:gd name="connsiteX5" fmla="*/ 5971566 w 7170610"/>
              <a:gd name="connsiteY5" fmla="*/ 2 h 6858001"/>
              <a:gd name="connsiteX6" fmla="*/ 5985603 w 7170610"/>
              <a:gd name="connsiteY6" fmla="*/ 20513 h 6858001"/>
              <a:gd name="connsiteX7" fmla="*/ 7073624 w 7170610"/>
              <a:gd name="connsiteY7" fmla="*/ 3234006 h 6858001"/>
              <a:gd name="connsiteX8" fmla="*/ 6848778 w 7170610"/>
              <a:gd name="connsiteY8" fmla="*/ 6772043 h 6858001"/>
              <a:gd name="connsiteX9" fmla="*/ 6815918 w 7170610"/>
              <a:gd name="connsiteY9" fmla="*/ 6858001 h 6858001"/>
              <a:gd name="connsiteX10" fmla="*/ 4231063 w 7170610"/>
              <a:gd name="connsiteY10" fmla="*/ 6858000 h 6858001"/>
              <a:gd name="connsiteX11" fmla="*/ 2510878 w 7170610"/>
              <a:gd name="connsiteY11" fmla="*/ 6858000 h 6858001"/>
              <a:gd name="connsiteX12" fmla="*/ 138894 w 7170610"/>
              <a:gd name="connsiteY12" fmla="*/ 6858000 h 6858001"/>
              <a:gd name="connsiteX13" fmla="*/ 0 w 7170610"/>
              <a:gd name="connsiteY13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170610" h="6858001">
                <a:moveTo>
                  <a:pt x="0" y="0"/>
                </a:moveTo>
                <a:lnTo>
                  <a:pt x="2510878" y="0"/>
                </a:lnTo>
                <a:lnTo>
                  <a:pt x="2510878" y="1"/>
                </a:lnTo>
                <a:lnTo>
                  <a:pt x="4984929" y="1"/>
                </a:lnTo>
                <a:lnTo>
                  <a:pt x="4984929" y="2"/>
                </a:lnTo>
                <a:lnTo>
                  <a:pt x="5971566" y="2"/>
                </a:lnTo>
                <a:lnTo>
                  <a:pt x="5985603" y="20513"/>
                </a:lnTo>
                <a:cubicBezTo>
                  <a:pt x="6486248" y="782577"/>
                  <a:pt x="6892546" y="1925644"/>
                  <a:pt x="7073624" y="3234006"/>
                </a:cubicBezTo>
                <a:cubicBezTo>
                  <a:pt x="7265355" y="4619331"/>
                  <a:pt x="7163750" y="5894884"/>
                  <a:pt x="6848778" y="6772043"/>
                </a:cubicBezTo>
                <a:lnTo>
                  <a:pt x="6815918" y="6858001"/>
                </a:lnTo>
                <a:lnTo>
                  <a:pt x="4231063" y="6858000"/>
                </a:lnTo>
                <a:lnTo>
                  <a:pt x="2510878" y="6858000"/>
                </a:lnTo>
                <a:lnTo>
                  <a:pt x="13889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/>
          <a:srcRect l="34251" b="9409"/>
          <a:stretch>
            <a:fillRect/>
          </a:stretch>
        </p:blipFill>
        <p:spPr>
          <a:xfrm>
            <a:off x="0" y="436547"/>
            <a:ext cx="7585100" cy="6421454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695324" y="3672707"/>
            <a:ext cx="45719" cy="65302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13"/>
          <p:cNvSpPr/>
          <p:nvPr userDrawn="1"/>
        </p:nvSpPr>
        <p:spPr>
          <a:xfrm>
            <a:off x="695324" y="4890778"/>
            <a:ext cx="2733675" cy="447729"/>
          </a:xfrm>
          <a:prstGeom prst="roundRect">
            <a:avLst>
              <a:gd name="adj" fmla="val 1375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695106" y="1348560"/>
            <a:ext cx="80058" cy="818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695326" y="1561083"/>
            <a:ext cx="6073775" cy="1764457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60896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 b="1" spc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阿里巴巴普惠体 B" panose="00020600040101010101" pitchFamily="18" charset="-122"/>
              </a:defRPr>
            </a:lvl1pPr>
            <a:lvl2pPr marL="3048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6102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9150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2192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57329" y="4914587"/>
            <a:ext cx="2571669" cy="40011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spAutoFit/>
          </a:bodyPr>
          <a:lstStyle>
            <a:lvl1pPr marL="0" indent="0" algn="l" defTabSz="6089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阿里巴巴普惠体 B" panose="00020600040101010101" pitchFamily="18" charset="-122"/>
              </a:defRPr>
            </a:lvl1pPr>
            <a:lvl2pPr marL="3048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6102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9150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2192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zh-CN" altLang="en-US" dirty="0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3568700"/>
            <a:ext cx="4689936" cy="761234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 defTabSz="6089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阿里巴巴普惠体 B" panose="00020600040101010101" pitchFamily="18" charset="-122"/>
              </a:defRPr>
            </a:lvl1pPr>
            <a:lvl2pPr marL="3048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6102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915035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219200" indent="-152400" algn="l" defTabSz="608965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</a:t>
            </a:r>
            <a:r>
              <a:rPr lang="en-US" altLang="zh-CN" dirty="0"/>
              <a:t>XXX</a:t>
            </a:r>
            <a:endParaRPr lang="en-US" altLang="zh-CN" dirty="0"/>
          </a:p>
          <a:p>
            <a:pPr lvl="0"/>
            <a:r>
              <a:rPr lang="zh-CN" altLang="en-US" dirty="0"/>
              <a:t>删除图片后单击图标可替换图片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261FF-6913-4031-8C87-A2E59BF0B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A009E-715A-4D7A-9A16-4BBCD13C5B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2" Type="http://schemas.openxmlformats.org/officeDocument/2006/relationships/slideLayout" Target="../slideLayouts/slideLayout2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6" Type="http://schemas.openxmlformats.org/officeDocument/2006/relationships/slideLayout" Target="../slideLayouts/slideLayout6.xml"/><Relationship Id="rId25" Type="http://schemas.openxmlformats.org/officeDocument/2006/relationships/tags" Target="../tags/tag62.xml"/><Relationship Id="rId24" Type="http://schemas.openxmlformats.org/officeDocument/2006/relationships/image" Target="../media/image9.jpeg"/><Relationship Id="rId23" Type="http://schemas.openxmlformats.org/officeDocument/2006/relationships/image" Target="../media/image8.jpeg"/><Relationship Id="rId22" Type="http://schemas.openxmlformats.org/officeDocument/2006/relationships/tags" Target="../tags/tag61.xml"/><Relationship Id="rId21" Type="http://schemas.openxmlformats.org/officeDocument/2006/relationships/tags" Target="../tags/tag60.xml"/><Relationship Id="rId20" Type="http://schemas.openxmlformats.org/officeDocument/2006/relationships/tags" Target="../tags/tag59.xml"/><Relationship Id="rId2" Type="http://schemas.openxmlformats.org/officeDocument/2006/relationships/tags" Target="../tags/tag41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73.xml"/><Relationship Id="rId15" Type="http://schemas.openxmlformats.org/officeDocument/2006/relationships/image" Target="../media/image13.jpeg"/><Relationship Id="rId14" Type="http://schemas.openxmlformats.org/officeDocument/2006/relationships/image" Target="../media/image12.jpeg"/><Relationship Id="rId13" Type="http://schemas.openxmlformats.org/officeDocument/2006/relationships/image" Target="../media/image11.jpeg"/><Relationship Id="rId12" Type="http://schemas.openxmlformats.org/officeDocument/2006/relationships/image" Target="../media/image10.jpeg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74.xml"/><Relationship Id="rId2" Type="http://schemas.openxmlformats.org/officeDocument/2006/relationships/image" Target="../media/image14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83.xml"/><Relationship Id="rId5" Type="http://schemas.openxmlformats.org/officeDocument/2006/relationships/image" Target="../media/image18.png"/><Relationship Id="rId4" Type="http://schemas.openxmlformats.org/officeDocument/2006/relationships/tags" Target="../tags/tag82.xml"/><Relationship Id="rId3" Type="http://schemas.openxmlformats.org/officeDocument/2006/relationships/image" Target="../media/image17.png"/><Relationship Id="rId2" Type="http://schemas.openxmlformats.org/officeDocument/2006/relationships/tags" Target="../tags/tag8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image" Target="../media/image19.png"/><Relationship Id="rId2" Type="http://schemas.openxmlformats.org/officeDocument/2006/relationships/tags" Target="../tags/tag84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88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tags" Target="../tags/tag8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tags" Target="../tags/tag89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9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jpeg"/><Relationship Id="rId7" Type="http://schemas.openxmlformats.org/officeDocument/2006/relationships/image" Target="../media/image31.jpeg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jpeg"/><Relationship Id="rId2" Type="http://schemas.openxmlformats.org/officeDocument/2006/relationships/tags" Target="../tags/tag93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94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5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/>
          <p:cNvCxnSpPr/>
          <p:nvPr/>
        </p:nvCxnSpPr>
        <p:spPr>
          <a:xfrm>
            <a:off x="695325" y="3329519"/>
            <a:ext cx="5982640" cy="0"/>
          </a:xfrm>
          <a:prstGeom prst="line">
            <a:avLst/>
          </a:prstGeom>
          <a:ln w="127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95325" y="3329519"/>
            <a:ext cx="391103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占位符 14" descr="D:/桌面/图片/3.png3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1"/>
          <a:srcRect l="13690" r="13690"/>
          <a:stretch>
            <a:fillRect/>
          </a:stretch>
        </p:blipFill>
        <p:spPr>
          <a:xfrm>
            <a:off x="6494480" y="0"/>
            <a:ext cx="5697520" cy="6858000"/>
          </a:xfrm>
        </p:spPr>
      </p:pic>
      <p:sp>
        <p:nvSpPr>
          <p:cNvPr id="9" name="文本占位符 8"/>
          <p:cNvSpPr>
            <a:spLocks noGrp="1"/>
          </p:cNvSpPr>
          <p:nvPr>
            <p:ph type="body" sz="quarter" idx="11"/>
          </p:nvPr>
        </p:nvSpPr>
        <p:spPr>
          <a:xfrm>
            <a:off x="221615" y="1350645"/>
            <a:ext cx="6636385" cy="1827530"/>
          </a:xfrm>
          <a:solidFill>
            <a:schemeClr val="bg1"/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lang="zh-CN" altLang="en-US" sz="4800" spc="300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基于边缘计算的</a:t>
            </a:r>
            <a:endParaRPr lang="zh-CN" altLang="en-US" sz="4800" spc="300">
              <a:solidFill>
                <a:schemeClr val="accent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  <a:p>
            <a:pPr algn="ctr"/>
            <a:r>
              <a:rPr lang="zh-CN" altLang="en-US" sz="4800" spc="300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风力电厂直流系统监测</a:t>
            </a:r>
            <a:endParaRPr lang="zh-CN" altLang="en-US" sz="4800" spc="300" dirty="0">
              <a:solidFill>
                <a:schemeClr val="accent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/>
          </p:nvPr>
        </p:nvSpPr>
        <p:spPr>
          <a:xfrm>
            <a:off x="304244" y="6307777"/>
            <a:ext cx="2571669" cy="398780"/>
          </a:xfrm>
        </p:spPr>
        <p:txBody>
          <a:bodyPr/>
          <a:lstStyle/>
          <a:p>
            <a:r>
              <a:rPr lang="en-US" altLang="zh-CN" dirty="0"/>
              <a:t>2025</a:t>
            </a:r>
            <a:r>
              <a:rPr lang="zh-CN" altLang="en-US" dirty="0"/>
              <a:t> 年 </a:t>
            </a:r>
            <a:r>
              <a:rPr lang="en-US" altLang="zh-CN" dirty="0"/>
              <a:t>5</a:t>
            </a:r>
            <a:r>
              <a:rPr lang="zh-CN" altLang="en-US" dirty="0"/>
              <a:t>月 </a:t>
            </a:r>
            <a:r>
              <a:rPr lang="en-US" altLang="zh-CN" dirty="0"/>
              <a:t>12 </a:t>
            </a:r>
            <a:r>
              <a:rPr lang="zh-CN" altLang="en-US" dirty="0"/>
              <a:t>日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838200" y="3568700"/>
            <a:ext cx="5188585" cy="129857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报告人：彭建中</a:t>
            </a:r>
            <a:endParaRPr lang="en-US" altLang="zh-CN" sz="2800" dirty="0"/>
          </a:p>
          <a:p>
            <a:r>
              <a:rPr lang="zh-CN" altLang="en-US" sz="2800" dirty="0"/>
              <a:t>指导老师：刘争红</a:t>
            </a:r>
            <a:endParaRPr lang="zh-CN" altLang="en-US" sz="2800" dirty="0"/>
          </a:p>
        </p:txBody>
      </p:sp>
      <p:pic>
        <p:nvPicPr>
          <p:cNvPr id="3" name="图片 2" descr="校标蓝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7965"/>
            <a:ext cx="4783455" cy="786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 descr="D:/桌面/图片/5.png5"/>
          <p:cNvPicPr>
            <a:picLocks noChangeAspect="1"/>
          </p:cNvPicPr>
          <p:nvPr/>
        </p:nvPicPr>
        <p:blipFill>
          <a:blip r:embed="rId1"/>
          <a:srcRect t="20706" b="207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5719220" y="1275549"/>
            <a:ext cx="2718435" cy="2010441"/>
            <a:chOff x="6432645" y="1331274"/>
            <a:chExt cx="2718435" cy="2010441"/>
          </a:xfrm>
        </p:grpSpPr>
        <p:grpSp>
          <p:nvGrpSpPr>
            <p:cNvPr id="5" name="组合 4"/>
            <p:cNvGrpSpPr/>
            <p:nvPr/>
          </p:nvGrpSpPr>
          <p:grpSpPr>
            <a:xfrm>
              <a:off x="6432645" y="1331274"/>
              <a:ext cx="2718435" cy="2010441"/>
              <a:chOff x="7368764" y="1517854"/>
              <a:chExt cx="2718435" cy="2010441"/>
            </a:xfrm>
          </p:grpSpPr>
          <p:sp>
            <p:nvSpPr>
              <p:cNvPr id="13" name="圆角矩形 64"/>
              <p:cNvSpPr/>
              <p:nvPr>
                <p:custDataLst>
                  <p:tags r:id="rId3"/>
                </p:custDataLst>
              </p:nvPr>
            </p:nvSpPr>
            <p:spPr>
              <a:xfrm>
                <a:off x="7368764" y="1517854"/>
                <a:ext cx="2528487" cy="2010441"/>
              </a:xfrm>
              <a:prstGeom prst="roundRect">
                <a:avLst>
                  <a:gd name="adj" fmla="val 1142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srgbClr val="05407B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633559" y="2446859"/>
                <a:ext cx="245364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blurRad="25400" dist="25400" dir="2700000" algn="tl">
                        <a:srgbClr val="000000">
                          <a:alpha val="25000"/>
                        </a:srgbClr>
                      </a:outerShdw>
                    </a:effectLst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项目背景</a:t>
                </a:r>
                <a:endParaRPr lang="zh-CN" altLang="en-US" sz="2400" b="1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sp>
          <p:nvSpPr>
            <p:cNvPr id="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6597834" y="1530496"/>
              <a:ext cx="5597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rgbClr val="487DC6"/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01</a:t>
              </a:r>
              <a:endParaRPr lang="zh-CN" altLang="en-US" sz="2400">
                <a:solidFill>
                  <a:srgbClr val="487DC6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6"/>
              </p:custDataLst>
            </p:nvPr>
          </p:nvCxnSpPr>
          <p:spPr>
            <a:xfrm>
              <a:off x="6463759" y="2005512"/>
              <a:ext cx="246412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>
            <a:xfrm>
              <a:off x="8446676" y="1698966"/>
              <a:ext cx="239679" cy="154888"/>
              <a:chOff x="8371568" y="1687624"/>
              <a:chExt cx="274780" cy="177572"/>
            </a:xfrm>
          </p:grpSpPr>
          <p:sp>
            <p:nvSpPr>
              <p:cNvPr id="11" name="椭圆 10"/>
              <p:cNvSpPr/>
              <p:nvPr>
                <p:custDataLst>
                  <p:tags r:id="rId7"/>
                </p:custDataLst>
              </p:nvPr>
            </p:nvSpPr>
            <p:spPr>
              <a:xfrm>
                <a:off x="8371568" y="1687624"/>
                <a:ext cx="177572" cy="177572"/>
              </a:xfrm>
              <a:prstGeom prst="ellipse">
                <a:avLst/>
              </a:prstGeom>
              <a:gradFill>
                <a:gsLst>
                  <a:gs pos="100000">
                    <a:srgbClr val="3368AE"/>
                  </a:gs>
                  <a:gs pos="0">
                    <a:srgbClr val="487DC6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8531315" y="1718896"/>
                <a:ext cx="115033" cy="115031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2"/>
                  </a:gs>
                  <a:gs pos="0">
                    <a:schemeClr val="accent2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9"/>
              </p:custDataLst>
            </p:nvPr>
          </p:nvSpPr>
          <p:spPr>
            <a:xfrm>
              <a:off x="7061707" y="1724496"/>
              <a:ext cx="4379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PART</a:t>
              </a:r>
              <a:endParaRPr lang="zh-CN" altLang="en-US" sz="8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0"/>
            </p:custDataLst>
          </p:nvPr>
        </p:nvGrpSpPr>
        <p:grpSpPr>
          <a:xfrm>
            <a:off x="2448335" y="3649474"/>
            <a:ext cx="2658970" cy="2010441"/>
            <a:chOff x="6432645" y="1331274"/>
            <a:chExt cx="2658970" cy="2010441"/>
          </a:xfrm>
        </p:grpSpPr>
        <p:grpSp>
          <p:nvGrpSpPr>
            <p:cNvPr id="16" name="组合 15"/>
            <p:cNvGrpSpPr/>
            <p:nvPr/>
          </p:nvGrpSpPr>
          <p:grpSpPr>
            <a:xfrm>
              <a:off x="6432645" y="1331274"/>
              <a:ext cx="2658970" cy="2010441"/>
              <a:chOff x="7368764" y="1517854"/>
              <a:chExt cx="2658970" cy="2010441"/>
            </a:xfrm>
          </p:grpSpPr>
          <p:sp>
            <p:nvSpPr>
              <p:cNvPr id="24" name="圆角矩形 1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7368764" y="1517854"/>
                <a:ext cx="2528487" cy="2010441"/>
              </a:xfrm>
              <a:prstGeom prst="roundRect">
                <a:avLst>
                  <a:gd name="adj" fmla="val 1142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srgbClr val="05407B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708196" y="2463634"/>
                <a:ext cx="2319538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blurRad="25400" dist="25400" dir="2700000" algn="tl">
                        <a:srgbClr val="000000">
                          <a:alpha val="25000"/>
                        </a:srgbClr>
                      </a:outerShdw>
                    </a:effectLst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已有基础</a:t>
                </a:r>
                <a:endParaRPr lang="zh-CN" altLang="en-US" sz="2400" b="1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sp>
          <p:nvSpPr>
            <p:cNvPr id="18" name="文本框 17"/>
            <p:cNvSpPr txBox="1"/>
            <p:nvPr>
              <p:custDataLst>
                <p:tags r:id="rId13"/>
              </p:custDataLst>
            </p:nvPr>
          </p:nvSpPr>
          <p:spPr>
            <a:xfrm>
              <a:off x="6597833" y="1530496"/>
              <a:ext cx="5597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accent2"/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03</a:t>
              </a:r>
              <a:endParaRPr lang="zh-CN" altLang="en-US" sz="2400">
                <a:solidFill>
                  <a:schemeClr val="accent2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cxnSp>
          <p:nvCxnSpPr>
            <p:cNvPr id="19" name="直接连接符 18"/>
            <p:cNvCxnSpPr/>
            <p:nvPr>
              <p:custDataLst>
                <p:tags r:id="rId14"/>
              </p:custDataLst>
            </p:nvPr>
          </p:nvCxnSpPr>
          <p:spPr>
            <a:xfrm>
              <a:off x="6463759" y="2005512"/>
              <a:ext cx="246412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9"/>
            <p:cNvGrpSpPr/>
            <p:nvPr/>
          </p:nvGrpSpPr>
          <p:grpSpPr>
            <a:xfrm>
              <a:off x="8446676" y="1698966"/>
              <a:ext cx="239679" cy="154888"/>
              <a:chOff x="8371568" y="1687624"/>
              <a:chExt cx="274780" cy="177572"/>
            </a:xfrm>
          </p:grpSpPr>
          <p:sp>
            <p:nvSpPr>
              <p:cNvPr id="22" name="椭圆 21"/>
              <p:cNvSpPr/>
              <p:nvPr>
                <p:custDataLst>
                  <p:tags r:id="rId15"/>
                </p:custDataLst>
              </p:nvPr>
            </p:nvSpPr>
            <p:spPr>
              <a:xfrm>
                <a:off x="8371568" y="1687624"/>
                <a:ext cx="177572" cy="177572"/>
              </a:xfrm>
              <a:prstGeom prst="ellipse">
                <a:avLst/>
              </a:prstGeom>
              <a:gradFill>
                <a:gsLst>
                  <a:gs pos="100000">
                    <a:srgbClr val="3368AE"/>
                  </a:gs>
                  <a:gs pos="0">
                    <a:srgbClr val="487DC6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>
                <p:custDataLst>
                  <p:tags r:id="rId16"/>
                </p:custDataLst>
              </p:nvPr>
            </p:nvSpPr>
            <p:spPr>
              <a:xfrm>
                <a:off x="8531315" y="1718896"/>
                <a:ext cx="115033" cy="115031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2"/>
                  </a:gs>
                  <a:gs pos="0">
                    <a:schemeClr val="accent2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" name="文本框 20"/>
            <p:cNvSpPr txBox="1"/>
            <p:nvPr>
              <p:custDataLst>
                <p:tags r:id="rId17"/>
              </p:custDataLst>
            </p:nvPr>
          </p:nvSpPr>
          <p:spPr>
            <a:xfrm>
              <a:off x="7061707" y="1724496"/>
              <a:ext cx="4379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PART</a:t>
              </a:r>
              <a:endParaRPr lang="zh-CN" altLang="en-US" sz="8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18"/>
            </p:custDataLst>
          </p:nvPr>
        </p:nvGrpSpPr>
        <p:grpSpPr>
          <a:xfrm>
            <a:off x="8848274" y="1275549"/>
            <a:ext cx="2731995" cy="2010441"/>
            <a:chOff x="6432645" y="1331274"/>
            <a:chExt cx="2731995" cy="2010441"/>
          </a:xfrm>
        </p:grpSpPr>
        <p:grpSp>
          <p:nvGrpSpPr>
            <p:cNvPr id="27" name="组合 26"/>
            <p:cNvGrpSpPr/>
            <p:nvPr/>
          </p:nvGrpSpPr>
          <p:grpSpPr>
            <a:xfrm>
              <a:off x="6432645" y="1331274"/>
              <a:ext cx="2731995" cy="2010441"/>
              <a:chOff x="7368764" y="1517854"/>
              <a:chExt cx="2731995" cy="2010441"/>
            </a:xfrm>
          </p:grpSpPr>
          <p:sp>
            <p:nvSpPr>
              <p:cNvPr id="35" name="圆角矩形 163"/>
              <p:cNvSpPr/>
              <p:nvPr>
                <p:custDataLst>
                  <p:tags r:id="rId19"/>
                </p:custDataLst>
              </p:nvPr>
            </p:nvSpPr>
            <p:spPr>
              <a:xfrm>
                <a:off x="7368764" y="1517854"/>
                <a:ext cx="2528487" cy="2010441"/>
              </a:xfrm>
              <a:prstGeom prst="roundRect">
                <a:avLst>
                  <a:gd name="adj" fmla="val 1142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srgbClr val="05407B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7781221" y="2463634"/>
                <a:ext cx="2319538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blurRad="25400" dist="25400" dir="2700000" algn="tl">
                        <a:srgbClr val="000000">
                          <a:alpha val="25000"/>
                        </a:srgbClr>
                      </a:outerShdw>
                    </a:effectLst>
                    <a:latin typeface="思源黑体" panose="020B0500000000000000" pitchFamily="34" charset="-122"/>
                    <a:ea typeface="思源黑体" panose="020B0500000000000000" pitchFamily="34" charset="-122"/>
                    <a:sym typeface="+mn-ea"/>
                  </a:rPr>
                  <a:t>技术路线</a:t>
                </a:r>
                <a:endParaRPr lang="zh-CN" altLang="en-US" sz="2400" b="1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21"/>
              </p:custDataLst>
            </p:nvPr>
          </p:nvSpPr>
          <p:spPr>
            <a:xfrm>
              <a:off x="6597833" y="1530496"/>
              <a:ext cx="5597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accent2"/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02</a:t>
              </a:r>
              <a:endParaRPr lang="zh-CN" altLang="en-US" sz="2400">
                <a:solidFill>
                  <a:schemeClr val="accent2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cxnSp>
          <p:nvCxnSpPr>
            <p:cNvPr id="30" name="直接连接符 29"/>
            <p:cNvCxnSpPr/>
            <p:nvPr>
              <p:custDataLst>
                <p:tags r:id="rId22"/>
              </p:custDataLst>
            </p:nvPr>
          </p:nvCxnSpPr>
          <p:spPr>
            <a:xfrm>
              <a:off x="6463759" y="2005512"/>
              <a:ext cx="246412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组合 30"/>
            <p:cNvGrpSpPr/>
            <p:nvPr/>
          </p:nvGrpSpPr>
          <p:grpSpPr>
            <a:xfrm>
              <a:off x="8446676" y="1698966"/>
              <a:ext cx="239679" cy="154888"/>
              <a:chOff x="8371568" y="1687624"/>
              <a:chExt cx="274780" cy="177572"/>
            </a:xfrm>
          </p:grpSpPr>
          <p:sp>
            <p:nvSpPr>
              <p:cNvPr id="33" name="椭圆 3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371568" y="1687624"/>
                <a:ext cx="177572" cy="177572"/>
              </a:xfrm>
              <a:prstGeom prst="ellipse">
                <a:avLst/>
              </a:prstGeom>
              <a:gradFill>
                <a:gsLst>
                  <a:gs pos="100000">
                    <a:srgbClr val="3368AE"/>
                  </a:gs>
                  <a:gs pos="0">
                    <a:srgbClr val="487DC6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531315" y="1718896"/>
                <a:ext cx="115033" cy="115031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2"/>
                  </a:gs>
                  <a:gs pos="0">
                    <a:schemeClr val="accent2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2" name="文本框 31"/>
            <p:cNvSpPr txBox="1"/>
            <p:nvPr>
              <p:custDataLst>
                <p:tags r:id="rId25"/>
              </p:custDataLst>
            </p:nvPr>
          </p:nvSpPr>
          <p:spPr>
            <a:xfrm>
              <a:off x="7061707" y="1724496"/>
              <a:ext cx="4379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PART</a:t>
              </a:r>
              <a:endParaRPr lang="zh-CN" altLang="en-US" sz="8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6"/>
            </p:custDataLst>
          </p:nvPr>
        </p:nvGrpSpPr>
        <p:grpSpPr>
          <a:xfrm>
            <a:off x="5719629" y="3649474"/>
            <a:ext cx="2528487" cy="2010441"/>
            <a:chOff x="6432645" y="1331274"/>
            <a:chExt cx="2528487" cy="2010441"/>
          </a:xfrm>
        </p:grpSpPr>
        <p:grpSp>
          <p:nvGrpSpPr>
            <p:cNvPr id="38" name="组合 37"/>
            <p:cNvGrpSpPr/>
            <p:nvPr/>
          </p:nvGrpSpPr>
          <p:grpSpPr>
            <a:xfrm>
              <a:off x="6432645" y="1331274"/>
              <a:ext cx="2528487" cy="2010441"/>
              <a:chOff x="7368764" y="1517854"/>
              <a:chExt cx="2528487" cy="2010441"/>
            </a:xfrm>
          </p:grpSpPr>
          <p:sp>
            <p:nvSpPr>
              <p:cNvPr id="46" name="圆角矩形 174"/>
              <p:cNvSpPr/>
              <p:nvPr>
                <p:custDataLst>
                  <p:tags r:id="rId27"/>
                </p:custDataLst>
              </p:nvPr>
            </p:nvSpPr>
            <p:spPr>
              <a:xfrm>
                <a:off x="7368764" y="1517854"/>
                <a:ext cx="2528487" cy="2010441"/>
              </a:xfrm>
              <a:prstGeom prst="roundRect">
                <a:avLst>
                  <a:gd name="adj" fmla="val 1142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srgbClr val="05407B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7569766" y="2446489"/>
                <a:ext cx="2319538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blurRad="25400" dist="25400" dir="2700000" algn="tl">
                        <a:srgbClr val="000000">
                          <a:alpha val="25000"/>
                        </a:srgbClr>
                      </a:outerShdw>
                    </a:effectLst>
                    <a:latin typeface="思源黑体" panose="020B0500000000000000" pitchFamily="34" charset="-122"/>
                    <a:ea typeface="思源黑体" panose="020B0500000000000000" pitchFamily="34" charset="-122"/>
                    <a:sym typeface="+mn-ea"/>
                  </a:rPr>
                  <a:t>创新点及特色</a:t>
                </a:r>
                <a:endParaRPr lang="zh-CN" altLang="en-US" sz="2400" b="1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sp>
          <p:nvSpPr>
            <p:cNvPr id="40" name="文本框 39"/>
            <p:cNvSpPr txBox="1"/>
            <p:nvPr>
              <p:custDataLst>
                <p:tags r:id="rId29"/>
              </p:custDataLst>
            </p:nvPr>
          </p:nvSpPr>
          <p:spPr>
            <a:xfrm>
              <a:off x="6633878" y="1530496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rgbClr val="487DC6"/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04</a:t>
              </a:r>
              <a:endParaRPr lang="zh-CN" altLang="en-US" sz="2400">
                <a:solidFill>
                  <a:srgbClr val="487DC6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cxnSp>
          <p:nvCxnSpPr>
            <p:cNvPr id="41" name="直接连接符 40"/>
            <p:cNvCxnSpPr/>
            <p:nvPr>
              <p:custDataLst>
                <p:tags r:id="rId30"/>
              </p:custDataLst>
            </p:nvPr>
          </p:nvCxnSpPr>
          <p:spPr>
            <a:xfrm>
              <a:off x="6463759" y="2005512"/>
              <a:ext cx="246412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/>
            <p:cNvGrpSpPr/>
            <p:nvPr/>
          </p:nvGrpSpPr>
          <p:grpSpPr>
            <a:xfrm>
              <a:off x="8446676" y="1698966"/>
              <a:ext cx="239679" cy="154888"/>
              <a:chOff x="8371568" y="1687624"/>
              <a:chExt cx="274780" cy="177572"/>
            </a:xfrm>
          </p:grpSpPr>
          <p:sp>
            <p:nvSpPr>
              <p:cNvPr id="44" name="椭圆 43"/>
              <p:cNvSpPr/>
              <p:nvPr>
                <p:custDataLst>
                  <p:tags r:id="rId31"/>
                </p:custDataLst>
              </p:nvPr>
            </p:nvSpPr>
            <p:spPr>
              <a:xfrm>
                <a:off x="8371568" y="1687624"/>
                <a:ext cx="177572" cy="177572"/>
              </a:xfrm>
              <a:prstGeom prst="ellipse">
                <a:avLst/>
              </a:prstGeom>
              <a:gradFill>
                <a:gsLst>
                  <a:gs pos="100000">
                    <a:srgbClr val="3368AE"/>
                  </a:gs>
                  <a:gs pos="0">
                    <a:srgbClr val="487DC6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椭圆 44"/>
              <p:cNvSpPr/>
              <p:nvPr>
                <p:custDataLst>
                  <p:tags r:id="rId32"/>
                </p:custDataLst>
              </p:nvPr>
            </p:nvSpPr>
            <p:spPr>
              <a:xfrm>
                <a:off x="8531315" y="1718896"/>
                <a:ext cx="115033" cy="115031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2"/>
                  </a:gs>
                  <a:gs pos="0">
                    <a:schemeClr val="accent2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" name="文本框 42"/>
            <p:cNvSpPr txBox="1"/>
            <p:nvPr>
              <p:custDataLst>
                <p:tags r:id="rId33"/>
              </p:custDataLst>
            </p:nvPr>
          </p:nvSpPr>
          <p:spPr>
            <a:xfrm>
              <a:off x="7061707" y="1724496"/>
              <a:ext cx="4379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PART</a:t>
              </a:r>
              <a:endParaRPr lang="zh-CN" altLang="en-US" sz="8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1134348" y="193307"/>
            <a:ext cx="1807608" cy="221599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13800">
                <a:solidFill>
                  <a:schemeClr val="tx1">
                    <a:lumMod val="85000"/>
                    <a:lumOff val="15000"/>
                  </a:schemeClr>
                </a:solidFill>
                <a:latin typeface="思源宋體 Heavy" panose="02020900000000000000" charset="-120"/>
                <a:ea typeface="思源宋體 Heavy" panose="02020900000000000000" charset="-120"/>
              </a:rPr>
              <a:t>目</a:t>
            </a:r>
            <a:endParaRPr lang="zh-CN" altLang="en-US" sz="13800">
              <a:solidFill>
                <a:schemeClr val="tx1">
                  <a:lumMod val="85000"/>
                  <a:lumOff val="15000"/>
                </a:schemeClr>
              </a:solidFill>
              <a:latin typeface="思源宋體 Heavy" panose="02020900000000000000" charset="-120"/>
              <a:ea typeface="思源宋體 Heavy" panose="02020900000000000000" charset="-12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787532" y="1172944"/>
            <a:ext cx="1807608" cy="221599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13800">
                <a:solidFill>
                  <a:schemeClr val="tx1">
                    <a:lumMod val="85000"/>
                    <a:lumOff val="15000"/>
                  </a:schemeClr>
                </a:solidFill>
                <a:latin typeface="思源宋體 Heavy" panose="02020900000000000000" charset="-120"/>
                <a:ea typeface="思源宋體 Heavy" panose="02020900000000000000" charset="-120"/>
              </a:rPr>
              <a:t>录</a:t>
            </a:r>
            <a:endParaRPr lang="zh-CN" altLang="en-US" sz="13800">
              <a:solidFill>
                <a:schemeClr val="tx1">
                  <a:lumMod val="85000"/>
                  <a:lumOff val="15000"/>
                </a:schemeClr>
              </a:solidFill>
              <a:latin typeface="思源宋體 Heavy" panose="02020900000000000000" charset="-120"/>
              <a:ea typeface="思源宋體 Heavy" panose="02020900000000000000" charset="-120"/>
            </a:endParaRPr>
          </a:p>
        </p:txBody>
      </p:sp>
      <p:grpSp>
        <p:nvGrpSpPr>
          <p:cNvPr id="59" name="组合 58"/>
          <p:cNvGrpSpPr/>
          <p:nvPr>
            <p:custDataLst>
              <p:tags r:id="rId34"/>
            </p:custDataLst>
          </p:nvPr>
        </p:nvGrpSpPr>
        <p:grpSpPr>
          <a:xfrm>
            <a:off x="8814845" y="3649474"/>
            <a:ext cx="2833595" cy="2010441"/>
            <a:chOff x="6432645" y="1331274"/>
            <a:chExt cx="2833595" cy="2010441"/>
          </a:xfrm>
        </p:grpSpPr>
        <p:grpSp>
          <p:nvGrpSpPr>
            <p:cNvPr id="60" name="组合 59"/>
            <p:cNvGrpSpPr/>
            <p:nvPr/>
          </p:nvGrpSpPr>
          <p:grpSpPr>
            <a:xfrm>
              <a:off x="6432645" y="1331274"/>
              <a:ext cx="2833595" cy="2010441"/>
              <a:chOff x="7368764" y="1517854"/>
              <a:chExt cx="2833595" cy="2010441"/>
            </a:xfrm>
          </p:grpSpPr>
          <p:sp>
            <p:nvSpPr>
              <p:cNvPr id="61" name="圆角矩形 152"/>
              <p:cNvSpPr/>
              <p:nvPr>
                <p:custDataLst>
                  <p:tags r:id="rId35"/>
                </p:custDataLst>
              </p:nvPr>
            </p:nvSpPr>
            <p:spPr>
              <a:xfrm>
                <a:off x="7368764" y="1517854"/>
                <a:ext cx="2528487" cy="2010441"/>
              </a:xfrm>
              <a:prstGeom prst="roundRect">
                <a:avLst>
                  <a:gd name="adj" fmla="val 1142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" dist="38100" dir="2700000" algn="tl" rotWithShape="0">
                  <a:srgbClr val="05407B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" name="文本框 61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7882821" y="2446489"/>
                <a:ext cx="2319538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>
                      <a:outerShdw blurRad="25400" dist="25400" dir="2700000" algn="tl">
                        <a:srgbClr val="000000">
                          <a:alpha val="25000"/>
                        </a:srgbClr>
                      </a:outerShdw>
                    </a:effectLst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预期成果</a:t>
                </a:r>
                <a:endParaRPr lang="zh-CN" altLang="en-US" sz="2400" b="1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sp>
          <p:nvSpPr>
            <p:cNvPr id="64" name="文本框 63"/>
            <p:cNvSpPr txBox="1"/>
            <p:nvPr>
              <p:custDataLst>
                <p:tags r:id="rId37"/>
              </p:custDataLst>
            </p:nvPr>
          </p:nvSpPr>
          <p:spPr>
            <a:xfrm>
              <a:off x="6633878" y="1530496"/>
              <a:ext cx="487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altLang="zh-CN" sz="2400">
                  <a:solidFill>
                    <a:schemeClr val="accent2"/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05</a:t>
              </a:r>
              <a:endParaRPr lang="zh-CN" altLang="en-US" sz="2400">
                <a:solidFill>
                  <a:schemeClr val="accent2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cxnSp>
          <p:nvCxnSpPr>
            <p:cNvPr id="65" name="直接连接符 64"/>
            <p:cNvCxnSpPr/>
            <p:nvPr>
              <p:custDataLst>
                <p:tags r:id="rId38"/>
              </p:custDataLst>
            </p:nvPr>
          </p:nvCxnSpPr>
          <p:spPr>
            <a:xfrm>
              <a:off x="6463759" y="2005512"/>
              <a:ext cx="246412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65"/>
            <p:cNvGrpSpPr/>
            <p:nvPr/>
          </p:nvGrpSpPr>
          <p:grpSpPr>
            <a:xfrm>
              <a:off x="8446676" y="1698966"/>
              <a:ext cx="239679" cy="154888"/>
              <a:chOff x="8371568" y="1687624"/>
              <a:chExt cx="274780" cy="177572"/>
            </a:xfrm>
          </p:grpSpPr>
          <p:sp>
            <p:nvSpPr>
              <p:cNvPr id="67" name="椭圆 66"/>
              <p:cNvSpPr/>
              <p:nvPr>
                <p:custDataLst>
                  <p:tags r:id="rId39"/>
                </p:custDataLst>
              </p:nvPr>
            </p:nvSpPr>
            <p:spPr>
              <a:xfrm>
                <a:off x="8371568" y="1687624"/>
                <a:ext cx="177572" cy="177572"/>
              </a:xfrm>
              <a:prstGeom prst="ellipse">
                <a:avLst/>
              </a:prstGeom>
              <a:gradFill>
                <a:gsLst>
                  <a:gs pos="100000">
                    <a:srgbClr val="3368AE"/>
                  </a:gs>
                  <a:gs pos="0">
                    <a:srgbClr val="487DC6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" name="椭圆 67"/>
              <p:cNvSpPr/>
              <p:nvPr>
                <p:custDataLst>
                  <p:tags r:id="rId40"/>
                </p:custDataLst>
              </p:nvPr>
            </p:nvSpPr>
            <p:spPr>
              <a:xfrm>
                <a:off x="8531315" y="1718896"/>
                <a:ext cx="115033" cy="115031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2"/>
                  </a:gs>
                  <a:gs pos="0">
                    <a:schemeClr val="accent2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69" name="文本框 68"/>
            <p:cNvSpPr txBox="1"/>
            <p:nvPr>
              <p:custDataLst>
                <p:tags r:id="rId41"/>
              </p:custDataLst>
            </p:nvPr>
          </p:nvSpPr>
          <p:spPr>
            <a:xfrm>
              <a:off x="7061707" y="1724496"/>
              <a:ext cx="4379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altLang="zh-CN" sz="8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</a:rPr>
                <a:t>PART</a:t>
              </a:r>
              <a:endParaRPr lang="zh-CN" altLang="en-US" sz="8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/桌面/图片/6.png6"/>
          <p:cNvPicPr>
            <a:picLocks noChangeAspect="1"/>
          </p:cNvPicPr>
          <p:nvPr/>
        </p:nvPicPr>
        <p:blipFill>
          <a:blip r:embed="rId1"/>
          <a:srcRect t="28924" b="2892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385223" y="1394074"/>
            <a:ext cx="9421553" cy="4069852"/>
            <a:chOff x="2301941" y="1346664"/>
            <a:chExt cx="7856212" cy="4069852"/>
          </a:xfrm>
        </p:grpSpPr>
        <p:sp>
          <p:nvSpPr>
            <p:cNvPr id="6" name="圆角矩形 8"/>
            <p:cNvSpPr/>
            <p:nvPr/>
          </p:nvSpPr>
          <p:spPr>
            <a:xfrm>
              <a:off x="2301941" y="1346664"/>
              <a:ext cx="7856212" cy="4069852"/>
            </a:xfrm>
            <a:prstGeom prst="roundRect">
              <a:avLst>
                <a:gd name="adj" fmla="val 4799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571520" y="1511705"/>
              <a:ext cx="732062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7200" b="1">
                  <a:solidFill>
                    <a:schemeClr val="bg1">
                      <a:alpha val="18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DREAM</a:t>
              </a:r>
              <a:endParaRPr lang="zh-CN" altLang="en-US" sz="7200" b="1">
                <a:solidFill>
                  <a:schemeClr val="bg1">
                    <a:alpha val="18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355477" y="3279841"/>
            <a:ext cx="521933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20603050405020304" pitchFamily="34" charset="0"/>
              </a:rPr>
              <a:t>项目背景</a:t>
            </a:r>
            <a:endParaRPr lang="zh-CN" altLang="en-US" sz="600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Aparajita" panose="020206030504050203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 rot="16200000">
            <a:off x="5546429" y="1753573"/>
            <a:ext cx="1661993" cy="1743823"/>
          </a:xfrm>
          <a:prstGeom prst="rect">
            <a:avLst/>
          </a:prstGeom>
          <a:noFill/>
        </p:spPr>
        <p:txBody>
          <a:bodyPr vert="eaVert"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Light" panose="020B0502040204020203" pitchFamily="34" charset="0"/>
              </a:defRPr>
            </a:lvl1pPr>
          </a:lstStyle>
          <a:p>
            <a:pPr>
              <a:defRPr/>
            </a:pPr>
            <a:r>
              <a:rPr lang="en-US" altLang="zh-CN" sz="9600" i="1">
                <a:solidFill>
                  <a:schemeClr val="tx2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體 Heavy" panose="02020900000000000000" charset="-120"/>
                <a:ea typeface="思源宋體 Heavy" panose="02020900000000000000" charset="-120"/>
                <a:cs typeface="+mn-cs"/>
              </a:rPr>
              <a:t>01.</a:t>
            </a:r>
            <a:endParaRPr lang="zh-CN" altLang="en-US" sz="9600" i="1">
              <a:solidFill>
                <a:schemeClr val="tx2"/>
              </a:solidFill>
              <a:effectLst>
                <a:outerShdw blurRad="25400" dist="25400" dir="2700000" algn="tl">
                  <a:srgbClr val="000000">
                    <a:alpha val="15000"/>
                  </a:srgbClr>
                </a:outerShdw>
              </a:effectLst>
              <a:latin typeface="思源宋體 Heavy" panose="02020900000000000000" charset="-120"/>
              <a:ea typeface="思源宋體 Heavy" panose="02020900000000000000" charset="-120"/>
              <a:cs typeface="+mn-cs"/>
            </a:endParaRPr>
          </a:p>
        </p:txBody>
      </p:sp>
      <p:pic>
        <p:nvPicPr>
          <p:cNvPr id="11" name="图片 10" descr="D:/桌面/图片/6.png6"/>
          <p:cNvPicPr>
            <a:picLocks noChangeAspect="1"/>
          </p:cNvPicPr>
          <p:nvPr/>
        </p:nvPicPr>
        <p:blipFill>
          <a:blip r:embed="rId1"/>
          <a:srcRect t="12531" b="12531"/>
          <a:stretch>
            <a:fillRect/>
          </a:stretch>
        </p:blipFill>
        <p:spPr>
          <a:xfrm>
            <a:off x="1995537" y="1796542"/>
            <a:ext cx="3060700" cy="3060700"/>
          </a:xfrm>
          <a:prstGeom prst="roundRect">
            <a:avLst>
              <a:gd name="adj" fmla="val 714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7461" b="-14041"/>
            </a:stretch>
          </a:blipFill>
          <a:ln>
            <a:noFill/>
          </a:ln>
          <a:effectLst>
            <a:innerShdw blurRad="101600" dist="50800" dir="13500000">
              <a:prstClr val="black">
                <a:alpha val="30000"/>
              </a:prstClr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 rot="0">
            <a:off x="593725" y="1478915"/>
            <a:ext cx="3656330" cy="3858895"/>
            <a:chOff x="522131" y="2461846"/>
            <a:chExt cx="3511074" cy="2710130"/>
          </a:xfrm>
        </p:grpSpPr>
        <p:sp>
          <p:nvSpPr>
            <p:cNvPr id="26" name="lineee1"/>
            <p:cNvSpPr/>
            <p:nvPr>
              <p:custDataLst>
                <p:tags r:id="rId3"/>
              </p:custDataLst>
            </p:nvPr>
          </p:nvSpPr>
          <p:spPr>
            <a:xfrm>
              <a:off x="735011" y="3990132"/>
              <a:ext cx="3085314" cy="1181844"/>
            </a:xfrm>
            <a:prstGeom prst="diamond">
              <a:avLst/>
            </a:prstGeom>
            <a:noFill/>
            <a:ln w="9525">
              <a:gradFill flip="none" rotWithShape="1">
                <a:gsLst>
                  <a:gs pos="34000">
                    <a:schemeClr val="accent1">
                      <a:alpha val="0"/>
                    </a:schemeClr>
                  </a:gs>
                  <a:gs pos="100000">
                    <a:schemeClr val="accent1">
                      <a:alpha val="9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7" name="Objj1"/>
            <p:cNvSpPr/>
            <p:nvPr>
              <p:custDataLst>
                <p:tags r:id="rId4"/>
              </p:custDataLst>
            </p:nvPr>
          </p:nvSpPr>
          <p:spPr>
            <a:xfrm>
              <a:off x="1283080" y="4200072"/>
              <a:ext cx="1989174" cy="761961"/>
            </a:xfrm>
            <a:prstGeom prst="diamond">
              <a:avLst/>
            </a:prstGeom>
            <a:gradFill>
              <a:gsLst>
                <a:gs pos="100000">
                  <a:schemeClr val="accent1">
                    <a:alpha val="48000"/>
                  </a:schemeClr>
                </a:gs>
                <a:gs pos="41000">
                  <a:schemeClr val="accent1">
                    <a:alpha val="0"/>
                  </a:schemeClr>
                </a:gs>
              </a:gsLst>
              <a:lin ang="5400000" scaled="1"/>
            </a:gra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689" tIns="54844" rIns="109689" bIns="54844" numCol="1" spcCol="0" rtlCol="0" fromWordArt="0" anchor="ctr" anchorCtr="0" forceAA="0" compatLnSpc="1">
              <a:noAutofit/>
            </a:bodyPr>
            <a:lstStyle/>
            <a:p>
              <a:pPr algn="ctr" defTabSz="1096645"/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8" name="Line1"/>
            <p:cNvSpPr/>
            <p:nvPr>
              <p:custDataLst>
                <p:tags r:id="rId5"/>
              </p:custDataLst>
            </p:nvPr>
          </p:nvSpPr>
          <p:spPr>
            <a:xfrm>
              <a:off x="856354" y="3579570"/>
              <a:ext cx="2842626" cy="1088881"/>
            </a:xfrm>
            <a:prstGeom prst="diamond">
              <a:avLst/>
            </a:prstGeom>
            <a:noFill/>
            <a:ln w="6350">
              <a:gradFill flip="none" rotWithShape="1">
                <a:gsLst>
                  <a:gs pos="3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9" name="ComponentBackground1"/>
            <p:cNvSpPr/>
            <p:nvPr>
              <p:custDataLst>
                <p:tags r:id="rId6"/>
              </p:custDataLst>
            </p:nvPr>
          </p:nvSpPr>
          <p:spPr>
            <a:xfrm rot="10800000">
              <a:off x="735010" y="2509670"/>
              <a:ext cx="3085317" cy="1590318"/>
            </a:xfrm>
            <a:prstGeom prst="trapezoid">
              <a:avLst>
                <a:gd name="adj" fmla="val 28961"/>
              </a:avLst>
            </a:prstGeom>
            <a:gradFill>
              <a:gsLst>
                <a:gs pos="100000">
                  <a:schemeClr val="accent1">
                    <a:alpha val="0"/>
                  </a:schemeClr>
                </a:gs>
                <a:gs pos="33000">
                  <a:schemeClr val="accent1">
                    <a:alpha val="20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143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Obj1"/>
            <p:cNvSpPr/>
            <p:nvPr>
              <p:custDataLst>
                <p:tags r:id="rId7"/>
              </p:custDataLst>
            </p:nvPr>
          </p:nvSpPr>
          <p:spPr>
            <a:xfrm>
              <a:off x="886242" y="3547455"/>
              <a:ext cx="2782852" cy="1065985"/>
            </a:xfrm>
            <a:prstGeom prst="diamond">
              <a:avLst/>
            </a:prstGeom>
            <a:gradFill>
              <a:gsLst>
                <a:gs pos="100000">
                  <a:schemeClr val="accent1">
                    <a:alpha val="30000"/>
                  </a:schemeClr>
                </a:gs>
                <a:gs pos="12000">
                  <a:schemeClr val="accent1">
                    <a:alpha val="0"/>
                  </a:schemeClr>
                </a:gs>
              </a:gsLst>
              <a:lin ang="5400000" scaled="1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689" tIns="54844" rIns="109689" bIns="54844" numCol="1" spcCol="0" rtlCol="0" fromWordArt="0" anchor="ctr" anchorCtr="0" forceAA="0" compatLnSpc="1">
              <a:noAutofit/>
            </a:bodyPr>
            <a:lstStyle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1" name="Shape1"/>
            <p:cNvSpPr/>
            <p:nvPr>
              <p:custDataLst>
                <p:tags r:id="rId8"/>
              </p:custDataLst>
            </p:nvPr>
          </p:nvSpPr>
          <p:spPr>
            <a:xfrm>
              <a:off x="1356138" y="3685917"/>
              <a:ext cx="1843058" cy="705992"/>
            </a:xfrm>
            <a:prstGeom prst="diamond">
              <a:avLst/>
            </a:prstGeom>
            <a:gradFill>
              <a:gsLst>
                <a:gs pos="100000">
                  <a:schemeClr val="accent1">
                    <a:alpha val="30000"/>
                  </a:schemeClr>
                </a:gs>
                <a:gs pos="10000">
                  <a:schemeClr val="accent1">
                    <a:alpha val="0"/>
                  </a:schemeClr>
                </a:gs>
              </a:gsLst>
              <a:lin ang="5400000" scaled="1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689" tIns="54844" rIns="109689" bIns="54844" numCol="1" spcCol="0" rtlCol="0" fromWordArt="0" anchor="ctr" anchorCtr="0" forceAA="0" compatLnSpc="1">
              <a:noAutofit/>
            </a:bodyPr>
            <a:lstStyle/>
            <a:p>
              <a:pPr algn="ctr" defTabSz="1096645"/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2" name="Linee1"/>
            <p:cNvSpPr/>
            <p:nvPr>
              <p:custDataLst>
                <p:tags r:id="rId9"/>
              </p:custDataLst>
            </p:nvPr>
          </p:nvSpPr>
          <p:spPr>
            <a:xfrm>
              <a:off x="522131" y="3431226"/>
              <a:ext cx="3511074" cy="1344934"/>
            </a:xfrm>
            <a:prstGeom prst="diamond">
              <a:avLst/>
            </a:prstGeom>
            <a:noFill/>
            <a:ln w="6350">
              <a:gradFill flip="none" rotWithShape="1">
                <a:gsLst>
                  <a:gs pos="100000">
                    <a:schemeClr val="accent1"/>
                  </a:gs>
                  <a:gs pos="21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" name="Bullet1"/>
            <p:cNvSpPr/>
            <p:nvPr>
              <p:custDataLst>
                <p:tags r:id="rId10"/>
              </p:custDataLst>
            </p:nvPr>
          </p:nvSpPr>
          <p:spPr>
            <a:xfrm>
              <a:off x="1004813" y="2461846"/>
              <a:ext cx="2540970" cy="525740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>
                <a:lnSpc>
                  <a:spcPct val="140000"/>
                </a:lnSpc>
              </a:pPr>
              <a:r>
                <a:rPr lang="en-US" altLang="zh-CN" sz="4000" b="1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1"/>
                  </a:gradFill>
                  <a:effectLst>
                    <a:reflection blurRad="25400" stA="15000" endPos="20000" dir="5400000" sy="-100000" algn="bl" rotWithShape="0"/>
                  </a:effectLst>
                  <a:cs typeface="+mn-ea"/>
                  <a:sym typeface="+mn-lt"/>
                </a:rPr>
                <a:t>01</a:t>
              </a:r>
              <a:r>
                <a:rPr lang="en-US" sz="2300" b="1">
                  <a:solidFill>
                    <a:schemeClr val="accent1">
                      <a:alpha val="10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直流系统</a:t>
              </a:r>
              <a:endParaRPr lang="en-US" altLang="zh-CN" sz="13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endParaRPr>
            </a:p>
          </p:txBody>
        </p:sp>
        <p:sp>
          <p:nvSpPr>
            <p:cNvPr id="34" name="Text1"/>
            <p:cNvSpPr/>
            <p:nvPr>
              <p:custDataLst>
                <p:tags r:id="rId11"/>
              </p:custDataLst>
            </p:nvPr>
          </p:nvSpPr>
          <p:spPr>
            <a:xfrm>
              <a:off x="1004814" y="2987586"/>
              <a:ext cx="2540970" cy="816670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>
                  <a:solidFill>
                    <a:schemeClr val="dk1">
                      <a:alpha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SC" panose="020B0200000000000000" charset="-122"/>
                  <a:sym typeface="+mn-ea"/>
                </a:rPr>
                <a:t>作为风力发电场站的核心电源保障，直流系统承担着为</a:t>
              </a:r>
              <a:r>
                <a:rPr lang="en-US" sz="140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SC" panose="020B0200000000000000" charset="-122"/>
                  <a:sym typeface="+mn-ea"/>
                </a:rPr>
                <a:t>继电保护、自动装置、断路器</a:t>
              </a:r>
              <a:r>
                <a:rPr lang="en-US" sz="1400">
                  <a:solidFill>
                    <a:schemeClr val="dk1">
                      <a:alpha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SC" panose="020B0200000000000000" charset="-122"/>
                  <a:sym typeface="+mn-ea"/>
                </a:rPr>
                <a:t>操作等关键负荷供电的重要职能，其可靠性直接影响新能源场站与电网的安全稳定运行。</a:t>
              </a:r>
              <a:r>
                <a:rPr lang="zh-CN" altLang="en-US" sz="1400">
                  <a:solidFill>
                    <a:schemeClr val="dk1">
                      <a:alpha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SC" panose="020B0200000000000000" charset="-122"/>
                  <a:sym typeface="+mn-ea"/>
                </a:rPr>
                <a:t>但其复杂的接线结构和广域分布特性显著加剧了运维风险。</a:t>
              </a:r>
              <a:endParaRPr lang="zh-CN" altLang="en-US" sz="1400">
                <a:solidFill>
                  <a:schemeClr val="dk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+mn-ea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44528" y="235200"/>
            <a:ext cx="4166415" cy="652380"/>
            <a:chOff x="222740" y="168058"/>
            <a:chExt cx="4166415" cy="652380"/>
          </a:xfrm>
        </p:grpSpPr>
        <p:grpSp>
          <p:nvGrpSpPr>
            <p:cNvPr id="40" name="组合 39"/>
            <p:cNvGrpSpPr/>
            <p:nvPr/>
          </p:nvGrpSpPr>
          <p:grpSpPr>
            <a:xfrm>
              <a:off x="848001" y="191208"/>
              <a:ext cx="3541154" cy="629230"/>
              <a:chOff x="7021395" y="904052"/>
              <a:chExt cx="3541154" cy="629230"/>
            </a:xfrm>
          </p:grpSpPr>
          <p:sp>
            <p:nvSpPr>
              <p:cNvPr id="42" name="文本框 41"/>
              <p:cNvSpPr txBox="1"/>
              <p:nvPr/>
            </p:nvSpPr>
            <p:spPr>
              <a:xfrm>
                <a:off x="7021395" y="904052"/>
                <a:ext cx="2519127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项目</a:t>
                </a: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背景</a:t>
                </a:r>
                <a:endPara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3" name="PA-文本框 5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030784" y="1257692"/>
                <a:ext cx="3531765" cy="275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en-US" altLang="zh-CN" sz="800">
                  <a:solidFill>
                    <a:schemeClr val="tx1">
                      <a:lumMod val="85000"/>
                      <a:lumOff val="15000"/>
                      <a:alpha val="7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41" name="椭圆 40"/>
            <p:cNvSpPr/>
            <p:nvPr/>
          </p:nvSpPr>
          <p:spPr>
            <a:xfrm>
              <a:off x="222740" y="168058"/>
              <a:ext cx="625261" cy="6252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541020" y="5337810"/>
            <a:ext cx="1087247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引发设备损毁、保护误动等连锁反应，导致机组脱网甚至全站瘫痪，</a:t>
            </a:r>
            <a:r>
              <a:rPr lang="zh-CN" sz="40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损害巨大</a:t>
            </a:r>
            <a:r>
              <a:rPr lang="en-US" altLang="zh-CN" sz="40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!</a:t>
            </a:r>
            <a:endParaRPr lang="en-US" altLang="zh-CN" sz="40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528570" y="316230"/>
            <a:ext cx="8569960" cy="522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 b="1">
                <a:latin typeface="华文隶书" panose="02010800040101010101" charset="-122"/>
                <a:ea typeface="华文隶书" panose="02010800040101010101" charset="-122"/>
              </a:rPr>
              <a:t>    </a:t>
            </a:r>
            <a:r>
              <a:rPr lang="zh-CN" altLang="en-US" sz="3200" b="1">
                <a:latin typeface="华文隶书" panose="02010800040101010101" charset="-122"/>
                <a:ea typeface="华文隶书" panose="02010800040101010101" charset="-122"/>
              </a:rPr>
              <a:t>变电站直流系统各种故障及运维风险等</a:t>
            </a:r>
            <a:endParaRPr lang="zh-CN" altLang="en-US" sz="3200" b="1">
              <a:latin typeface="华文隶书" panose="02010800040101010101" charset="-122"/>
              <a:ea typeface="华文隶书" panose="020108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9950" y="87630"/>
            <a:ext cx="14420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rgbClr val="4484A4"/>
                </a:solidFill>
              </a:rPr>
              <a:t>____</a:t>
            </a:r>
            <a:endParaRPr lang="en-US" altLang="zh-CN" sz="4800">
              <a:solidFill>
                <a:srgbClr val="4484A4"/>
              </a:solidFill>
            </a:endParaRPr>
          </a:p>
        </p:txBody>
      </p:sp>
      <p:grpSp>
        <p:nvGrpSpPr>
          <p:cNvPr id="4" name="组合 3"/>
          <p:cNvGrpSpPr/>
          <p:nvPr>
            <p:custDataLst>
              <p:tags r:id="rId13"/>
            </p:custDataLst>
          </p:nvPr>
        </p:nvGrpSpPr>
        <p:grpSpPr>
          <a:xfrm rot="0">
            <a:off x="7320915" y="1635760"/>
            <a:ext cx="3585211" cy="3858895"/>
            <a:chOff x="8146096" y="2461846"/>
            <a:chExt cx="3585373" cy="2710130"/>
          </a:xfrm>
        </p:grpSpPr>
        <p:sp>
          <p:nvSpPr>
            <p:cNvPr id="36" name="lineee3"/>
            <p:cNvSpPr/>
            <p:nvPr>
              <p:custDataLst>
                <p:tags r:id="rId14"/>
              </p:custDataLst>
            </p:nvPr>
          </p:nvSpPr>
          <p:spPr>
            <a:xfrm>
              <a:off x="8358976" y="3990132"/>
              <a:ext cx="3085314" cy="1181844"/>
            </a:xfrm>
            <a:prstGeom prst="diamond">
              <a:avLst/>
            </a:prstGeom>
            <a:noFill/>
            <a:ln w="9525">
              <a:gradFill flip="none" rotWithShape="1">
                <a:gsLst>
                  <a:gs pos="34000">
                    <a:schemeClr val="accent3">
                      <a:alpha val="0"/>
                    </a:schemeClr>
                  </a:gs>
                  <a:gs pos="100000">
                    <a:schemeClr val="accent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Objj3"/>
            <p:cNvSpPr/>
            <p:nvPr>
              <p:custDataLst>
                <p:tags r:id="rId15"/>
              </p:custDataLst>
            </p:nvPr>
          </p:nvSpPr>
          <p:spPr>
            <a:xfrm>
              <a:off x="8907045" y="4200072"/>
              <a:ext cx="1989174" cy="761961"/>
            </a:xfrm>
            <a:prstGeom prst="diamond">
              <a:avLst/>
            </a:prstGeom>
            <a:gradFill>
              <a:gsLst>
                <a:gs pos="100000">
                  <a:schemeClr val="accent3">
                    <a:alpha val="48000"/>
                  </a:schemeClr>
                </a:gs>
                <a:gs pos="41000">
                  <a:schemeClr val="accent3">
                    <a:alpha val="0"/>
                  </a:schemeClr>
                </a:gs>
              </a:gsLst>
              <a:lin ang="5400000" scaled="1"/>
            </a:gra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689" tIns="54844" rIns="109689" bIns="54844" numCol="1" spcCol="0" rtlCol="0" fromWordArt="0" anchor="ctr" anchorCtr="0" forceAA="0" compatLnSpc="1">
              <a:noAutofit/>
            </a:bodyPr>
            <a:p>
              <a:pPr algn="ctr" defTabSz="1096645"/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Line3"/>
            <p:cNvSpPr/>
            <p:nvPr>
              <p:custDataLst>
                <p:tags r:id="rId16"/>
              </p:custDataLst>
            </p:nvPr>
          </p:nvSpPr>
          <p:spPr>
            <a:xfrm>
              <a:off x="8480319" y="3579570"/>
              <a:ext cx="2842626" cy="1088881"/>
            </a:xfrm>
            <a:prstGeom prst="diamond">
              <a:avLst/>
            </a:prstGeom>
            <a:noFill/>
            <a:ln w="6350">
              <a:gradFill flip="none" rotWithShape="1">
                <a:gsLst>
                  <a:gs pos="30000">
                    <a:schemeClr val="accent3">
                      <a:alpha val="0"/>
                    </a:schemeClr>
                  </a:gs>
                  <a:gs pos="100000">
                    <a:schemeClr val="accent3"/>
                  </a:gs>
                </a:gsLst>
                <a:lin ang="5400000" scaled="1"/>
              </a:gra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4" name="ComponentBackground3"/>
            <p:cNvSpPr/>
            <p:nvPr>
              <p:custDataLst>
                <p:tags r:id="rId17"/>
              </p:custDataLst>
            </p:nvPr>
          </p:nvSpPr>
          <p:spPr>
            <a:xfrm rot="10800000">
              <a:off x="8358975" y="2509670"/>
              <a:ext cx="3085317" cy="1590318"/>
            </a:xfrm>
            <a:prstGeom prst="trapezoid">
              <a:avLst>
                <a:gd name="adj" fmla="val 28961"/>
              </a:avLst>
            </a:prstGeom>
            <a:gradFill>
              <a:gsLst>
                <a:gs pos="100000">
                  <a:schemeClr val="accent3">
                    <a:alpha val="0"/>
                  </a:schemeClr>
                </a:gs>
                <a:gs pos="33000">
                  <a:schemeClr val="accent3">
                    <a:alpha val="20000"/>
                  </a:schemeClr>
                </a:gs>
                <a:gs pos="0">
                  <a:schemeClr val="accent3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143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5" name="Obj3"/>
            <p:cNvSpPr/>
            <p:nvPr>
              <p:custDataLst>
                <p:tags r:id="rId18"/>
              </p:custDataLst>
            </p:nvPr>
          </p:nvSpPr>
          <p:spPr>
            <a:xfrm>
              <a:off x="8510207" y="3547455"/>
              <a:ext cx="2782852" cy="1065985"/>
            </a:xfrm>
            <a:prstGeom prst="diamond">
              <a:avLst/>
            </a:prstGeom>
            <a:gradFill>
              <a:gsLst>
                <a:gs pos="100000">
                  <a:schemeClr val="accent3">
                    <a:alpha val="30000"/>
                  </a:schemeClr>
                </a:gs>
                <a:gs pos="12000">
                  <a:schemeClr val="accent3">
                    <a:alpha val="0"/>
                  </a:schemeClr>
                </a:gs>
              </a:gsLst>
              <a:lin ang="5400000" scaled="1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689" tIns="54844" rIns="109689" bIns="54844" numCol="1" spcCol="0" rtlCol="0" fromWordArt="0" anchor="ctr" anchorCtr="0" forceAA="0" compatLnSpc="1">
              <a:noAutofit/>
            </a:bodyPr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6" name="Shape3"/>
            <p:cNvSpPr/>
            <p:nvPr>
              <p:custDataLst>
                <p:tags r:id="rId19"/>
              </p:custDataLst>
            </p:nvPr>
          </p:nvSpPr>
          <p:spPr>
            <a:xfrm>
              <a:off x="8980103" y="3685917"/>
              <a:ext cx="1843058" cy="705992"/>
            </a:xfrm>
            <a:prstGeom prst="diamond">
              <a:avLst/>
            </a:prstGeom>
            <a:gradFill>
              <a:gsLst>
                <a:gs pos="100000">
                  <a:schemeClr val="accent3">
                    <a:alpha val="30000"/>
                  </a:schemeClr>
                </a:gs>
                <a:gs pos="10000">
                  <a:schemeClr val="accent3">
                    <a:alpha val="0"/>
                  </a:schemeClr>
                </a:gs>
              </a:gsLst>
              <a:lin ang="5400000" scaled="1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689" tIns="54844" rIns="109689" bIns="54844" numCol="1" spcCol="0" rtlCol="0" fromWordArt="0" anchor="ctr" anchorCtr="0" forceAA="0" compatLnSpc="1">
              <a:noAutofit/>
            </a:bodyPr>
            <a:p>
              <a:pPr algn="ctr" defTabSz="1096645"/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7" name="Linee3"/>
            <p:cNvSpPr/>
            <p:nvPr>
              <p:custDataLst>
                <p:tags r:id="rId20"/>
              </p:custDataLst>
            </p:nvPr>
          </p:nvSpPr>
          <p:spPr>
            <a:xfrm>
              <a:off x="8146096" y="3431226"/>
              <a:ext cx="3511074" cy="1344934"/>
            </a:xfrm>
            <a:prstGeom prst="diamond">
              <a:avLst/>
            </a:prstGeom>
            <a:noFill/>
            <a:ln w="6350">
              <a:gradFill flip="none" rotWithShape="1">
                <a:gsLst>
                  <a:gs pos="100000">
                    <a:schemeClr val="accent3"/>
                  </a:gs>
                  <a:gs pos="21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8" name="Bullet3"/>
            <p:cNvSpPr/>
            <p:nvPr>
              <p:custDataLst>
                <p:tags r:id="rId21"/>
              </p:custDataLst>
            </p:nvPr>
          </p:nvSpPr>
          <p:spPr>
            <a:xfrm>
              <a:off x="8628718" y="2461846"/>
              <a:ext cx="3102751" cy="525793"/>
            </a:xfrm>
            <a:prstGeom prst="rect">
              <a:avLst/>
            </a:prstGeom>
          </p:spPr>
          <p:txBody>
            <a:bodyPr wrap="square" anchor="b" anchorCtr="0">
              <a:normAutofit fontScale="25000"/>
            </a:bodyPr>
            <a:p>
              <a:pPr>
                <a:lnSpc>
                  <a:spcPct val="140000"/>
                </a:lnSpc>
              </a:pPr>
              <a:r>
                <a:rPr lang="en-US" altLang="zh-CN" sz="16000" b="1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1"/>
                  </a:gradFill>
                  <a:effectLst>
                    <a:reflection blurRad="25400" stA="15000" endPos="20000" dir="5400000" sy="-100000" algn="bl" rotWithShape="0"/>
                  </a:effectLst>
                  <a:cs typeface="+mn-ea"/>
                  <a:sym typeface="+mn-lt"/>
                </a:rPr>
                <a:t>02</a:t>
              </a:r>
              <a:r>
                <a:rPr lang="en-US" sz="9600" b="1">
                  <a:solidFill>
                    <a:schemeClr val="accent1">
                      <a:alpha val="10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lt"/>
                </a:rPr>
                <a:t>传统监测</a:t>
              </a:r>
              <a:r>
                <a:rPr lang="zh-CN" altLang="en-US" sz="9600" b="1">
                  <a:solidFill>
                    <a:schemeClr val="accent1">
                      <a:alpha val="10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lt"/>
                </a:rPr>
                <a:t>局限</a:t>
              </a:r>
              <a:endParaRPr lang="zh-CN" altLang="en-US" sz="96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endParaRPr>
            </a:p>
          </p:txBody>
        </p:sp>
        <p:sp>
          <p:nvSpPr>
            <p:cNvPr id="49" name="Text3"/>
            <p:cNvSpPr/>
            <p:nvPr>
              <p:custDataLst>
                <p:tags r:id="rId22"/>
              </p:custDataLst>
            </p:nvPr>
          </p:nvSpPr>
          <p:spPr>
            <a:xfrm>
              <a:off x="8628779" y="2987586"/>
              <a:ext cx="2540970" cy="816670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p>
              <a:pPr>
                <a:lnSpc>
                  <a:spcPct val="140000"/>
                </a:lnSpc>
              </a:pPr>
              <a:r>
                <a:rPr lang="en-US" sz="1400">
                  <a:solidFill>
                    <a:schemeClr val="dk1">
                      <a:alpha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SC" panose="020B0200000000000000" charset="-122"/>
                  <a:sym typeface="+mn-ea"/>
                </a:rPr>
                <a:t>但传统监测技术因</a:t>
              </a:r>
              <a:r>
                <a:rPr lang="en-US" sz="1400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SC" panose="020B0200000000000000" charset="-122"/>
                  <a:sym typeface="+mn-ea"/>
                </a:rPr>
                <a:t>数据孤岛、响应滞后</a:t>
              </a:r>
              <a:r>
                <a:rPr lang="en-US" sz="1400">
                  <a:solidFill>
                    <a:schemeClr val="dk1">
                      <a:alpha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SC" panose="020B0200000000000000" charset="-122"/>
                  <a:sym typeface="+mn-ea"/>
                </a:rPr>
                <a:t>等问题，难以应对交流窜入直流母线、绝缘异常、变频器高压电容老化、PWM调制异常、IGBT开路故障、及直流母线接地等复合型故障的协同处置需求。</a:t>
              </a:r>
              <a:endParaRPr lang="en-US" sz="1400">
                <a:solidFill>
                  <a:schemeClr val="dk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+mn-ea"/>
              </a:endParaRPr>
            </a:p>
          </p:txBody>
        </p:sp>
      </p:grpSp>
      <p:pic>
        <p:nvPicPr>
          <p:cNvPr id="55" name="图片 54" descr="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02785" y="838835"/>
            <a:ext cx="3022600" cy="4349750"/>
          </a:xfrm>
          <a:prstGeom prst="rect">
            <a:avLst/>
          </a:prstGeom>
        </p:spPr>
      </p:pic>
      <p:pic>
        <p:nvPicPr>
          <p:cNvPr id="56" name="图片 55" descr="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5340" y="866775"/>
            <a:ext cx="3409950" cy="436880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67" grpId="0"/>
      <p:bldP spid="35" grpId="1"/>
      <p:bldP spid="6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/桌面/图片/6.png6"/>
          <p:cNvPicPr>
            <a:picLocks noChangeAspect="1"/>
          </p:cNvPicPr>
          <p:nvPr/>
        </p:nvPicPr>
        <p:blipFill>
          <a:blip r:embed="rId1"/>
          <a:srcRect t="28924" b="2892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385223" y="1394074"/>
            <a:ext cx="9421553" cy="4069852"/>
            <a:chOff x="2301941" y="1346664"/>
            <a:chExt cx="7856212" cy="4069852"/>
          </a:xfrm>
        </p:grpSpPr>
        <p:sp>
          <p:nvSpPr>
            <p:cNvPr id="6" name="圆角矩形 8"/>
            <p:cNvSpPr/>
            <p:nvPr/>
          </p:nvSpPr>
          <p:spPr>
            <a:xfrm>
              <a:off x="2301941" y="1346664"/>
              <a:ext cx="7856212" cy="4069852"/>
            </a:xfrm>
            <a:prstGeom prst="roundRect">
              <a:avLst>
                <a:gd name="adj" fmla="val 4799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571520" y="1511705"/>
              <a:ext cx="732062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7200" b="1">
                  <a:solidFill>
                    <a:schemeClr val="bg1">
                      <a:alpha val="18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DREAM</a:t>
              </a:r>
              <a:endParaRPr lang="zh-CN" altLang="en-US" sz="7200" b="1">
                <a:solidFill>
                  <a:schemeClr val="bg1">
                    <a:alpha val="18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355477" y="3279841"/>
            <a:ext cx="521933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20603050405020304" pitchFamily="34" charset="0"/>
              </a:rPr>
              <a:t>技术路线</a:t>
            </a:r>
            <a:endParaRPr lang="zh-CN" altLang="en-US" sz="600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Aparajita" panose="020206030504050203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 rot="16200000">
            <a:off x="5548532" y="1753573"/>
            <a:ext cx="1659890" cy="1743823"/>
          </a:xfrm>
          <a:prstGeom prst="rect">
            <a:avLst/>
          </a:prstGeom>
          <a:noFill/>
        </p:spPr>
        <p:txBody>
          <a:bodyPr vert="eaVert"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Light" panose="020B0502040204020203" pitchFamily="34" charset="0"/>
              </a:defRPr>
            </a:lvl1pPr>
          </a:lstStyle>
          <a:p>
            <a:pPr>
              <a:defRPr/>
            </a:pPr>
            <a:r>
              <a:rPr lang="en-US" altLang="zh-CN" sz="9600" i="1">
                <a:solidFill>
                  <a:schemeClr val="tx2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體 Heavy" panose="02020900000000000000" charset="-120"/>
                <a:ea typeface="思源宋體 Heavy" panose="02020900000000000000" charset="-120"/>
                <a:cs typeface="+mn-cs"/>
              </a:rPr>
              <a:t>02.</a:t>
            </a:r>
            <a:endParaRPr lang="zh-CN" altLang="en-US" sz="9600" i="1">
              <a:solidFill>
                <a:schemeClr val="tx2"/>
              </a:solidFill>
              <a:effectLst>
                <a:outerShdw blurRad="25400" dist="25400" dir="2700000" algn="tl">
                  <a:srgbClr val="000000">
                    <a:alpha val="15000"/>
                  </a:srgbClr>
                </a:outerShdw>
              </a:effectLst>
              <a:latin typeface="思源宋體 Heavy" panose="02020900000000000000" charset="-120"/>
              <a:ea typeface="思源宋體 Heavy" panose="02020900000000000000" charset="-120"/>
              <a:cs typeface="+mn-cs"/>
            </a:endParaRPr>
          </a:p>
        </p:txBody>
      </p:sp>
      <p:pic>
        <p:nvPicPr>
          <p:cNvPr id="11" name="图片 10" descr="D:/桌面/图片/6.png6"/>
          <p:cNvPicPr>
            <a:picLocks noChangeAspect="1"/>
          </p:cNvPicPr>
          <p:nvPr/>
        </p:nvPicPr>
        <p:blipFill>
          <a:blip r:embed="rId1"/>
          <a:srcRect t="12531" b="12531"/>
          <a:stretch>
            <a:fillRect/>
          </a:stretch>
        </p:blipFill>
        <p:spPr>
          <a:xfrm>
            <a:off x="1995537" y="1796542"/>
            <a:ext cx="3060700" cy="3060700"/>
          </a:xfrm>
          <a:prstGeom prst="roundRect">
            <a:avLst>
              <a:gd name="adj" fmla="val 714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7461" b="-14041"/>
            </a:stretch>
          </a:blipFill>
          <a:ln>
            <a:noFill/>
          </a:ln>
          <a:effectLst>
            <a:innerShdw blurRad="101600" dist="50800" dir="13500000">
              <a:prstClr val="black">
                <a:alpha val="30000"/>
              </a:prstClr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rot="0">
            <a:off x="20955" y="1114424"/>
            <a:ext cx="4246245" cy="4324986"/>
            <a:chOff x="8146096" y="2350408"/>
            <a:chExt cx="3511074" cy="2821568"/>
          </a:xfrm>
        </p:grpSpPr>
        <p:sp>
          <p:nvSpPr>
            <p:cNvPr id="8" name="lineee3"/>
            <p:cNvSpPr/>
            <p:nvPr>
              <p:custDataLst>
                <p:tags r:id="rId2"/>
              </p:custDataLst>
            </p:nvPr>
          </p:nvSpPr>
          <p:spPr>
            <a:xfrm>
              <a:off x="8358976" y="3990132"/>
              <a:ext cx="3085314" cy="1181844"/>
            </a:xfrm>
            <a:prstGeom prst="diamond">
              <a:avLst/>
            </a:prstGeom>
            <a:noFill/>
            <a:ln w="9525">
              <a:gradFill flip="none" rotWithShape="1">
                <a:gsLst>
                  <a:gs pos="34000">
                    <a:schemeClr val="accent3">
                      <a:alpha val="0"/>
                    </a:schemeClr>
                  </a:gs>
                  <a:gs pos="100000">
                    <a:schemeClr val="accent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Objj3"/>
            <p:cNvSpPr/>
            <p:nvPr>
              <p:custDataLst>
                <p:tags r:id="rId3"/>
              </p:custDataLst>
            </p:nvPr>
          </p:nvSpPr>
          <p:spPr>
            <a:xfrm>
              <a:off x="8907045" y="4200072"/>
              <a:ext cx="1989174" cy="761961"/>
            </a:xfrm>
            <a:prstGeom prst="diamond">
              <a:avLst/>
            </a:prstGeom>
            <a:gradFill>
              <a:gsLst>
                <a:gs pos="100000">
                  <a:schemeClr val="accent3">
                    <a:alpha val="48000"/>
                  </a:schemeClr>
                </a:gs>
                <a:gs pos="41000">
                  <a:schemeClr val="accent3">
                    <a:alpha val="0"/>
                  </a:schemeClr>
                </a:gs>
              </a:gsLst>
              <a:lin ang="5400000" scaled="1"/>
            </a:gra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689" tIns="54844" rIns="109689" bIns="54844" numCol="1" spcCol="0" rtlCol="0" fromWordArt="0" anchor="ctr" anchorCtr="0" forceAA="0" compatLnSpc="1">
              <a:noAutofit/>
            </a:bodyPr>
            <a:lstStyle/>
            <a:p>
              <a:pPr algn="ctr" defTabSz="1096645"/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Line3"/>
            <p:cNvSpPr/>
            <p:nvPr>
              <p:custDataLst>
                <p:tags r:id="rId4"/>
              </p:custDataLst>
            </p:nvPr>
          </p:nvSpPr>
          <p:spPr>
            <a:xfrm>
              <a:off x="8480319" y="3579570"/>
              <a:ext cx="2842626" cy="1088881"/>
            </a:xfrm>
            <a:prstGeom prst="diamond">
              <a:avLst/>
            </a:prstGeom>
            <a:noFill/>
            <a:ln w="6350">
              <a:gradFill flip="none" rotWithShape="1">
                <a:gsLst>
                  <a:gs pos="30000">
                    <a:schemeClr val="accent3">
                      <a:alpha val="0"/>
                    </a:schemeClr>
                  </a:gs>
                  <a:gs pos="100000">
                    <a:schemeClr val="accent3"/>
                  </a:gs>
                </a:gsLst>
                <a:lin ang="5400000" scaled="1"/>
              </a:gra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ComponentBackground3"/>
            <p:cNvSpPr/>
            <p:nvPr>
              <p:custDataLst>
                <p:tags r:id="rId5"/>
              </p:custDataLst>
            </p:nvPr>
          </p:nvSpPr>
          <p:spPr>
            <a:xfrm rot="10800000">
              <a:off x="8358975" y="2509670"/>
              <a:ext cx="3085317" cy="1590318"/>
            </a:xfrm>
            <a:prstGeom prst="trapezoid">
              <a:avLst>
                <a:gd name="adj" fmla="val 28961"/>
              </a:avLst>
            </a:prstGeom>
            <a:gradFill>
              <a:gsLst>
                <a:gs pos="100000">
                  <a:schemeClr val="accent3">
                    <a:alpha val="0"/>
                  </a:schemeClr>
                </a:gs>
                <a:gs pos="33000">
                  <a:schemeClr val="accent3">
                    <a:alpha val="20000"/>
                  </a:schemeClr>
                </a:gs>
                <a:gs pos="0">
                  <a:schemeClr val="accent3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143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Obj3"/>
            <p:cNvSpPr/>
            <p:nvPr>
              <p:custDataLst>
                <p:tags r:id="rId6"/>
              </p:custDataLst>
            </p:nvPr>
          </p:nvSpPr>
          <p:spPr>
            <a:xfrm>
              <a:off x="8510207" y="3547455"/>
              <a:ext cx="2782852" cy="1065985"/>
            </a:xfrm>
            <a:prstGeom prst="diamond">
              <a:avLst/>
            </a:prstGeom>
            <a:gradFill>
              <a:gsLst>
                <a:gs pos="100000">
                  <a:schemeClr val="accent3">
                    <a:alpha val="30000"/>
                  </a:schemeClr>
                </a:gs>
                <a:gs pos="12000">
                  <a:schemeClr val="accent3">
                    <a:alpha val="0"/>
                  </a:schemeClr>
                </a:gs>
              </a:gsLst>
              <a:lin ang="5400000" scaled="1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689" tIns="54844" rIns="109689" bIns="54844" numCol="1" spcCol="0" rtlCol="0" fromWordArt="0" anchor="ctr" anchorCtr="0" forceAA="0" compatLnSpc="1">
              <a:noAutofit/>
            </a:bodyPr>
            <a:lstStyle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Shape3"/>
            <p:cNvSpPr/>
            <p:nvPr>
              <p:custDataLst>
                <p:tags r:id="rId7"/>
              </p:custDataLst>
            </p:nvPr>
          </p:nvSpPr>
          <p:spPr>
            <a:xfrm>
              <a:off x="8980103" y="3685917"/>
              <a:ext cx="1843058" cy="705992"/>
            </a:xfrm>
            <a:prstGeom prst="diamond">
              <a:avLst/>
            </a:prstGeom>
            <a:gradFill>
              <a:gsLst>
                <a:gs pos="100000">
                  <a:schemeClr val="accent3">
                    <a:alpha val="30000"/>
                  </a:schemeClr>
                </a:gs>
                <a:gs pos="10000">
                  <a:schemeClr val="accent3">
                    <a:alpha val="0"/>
                  </a:schemeClr>
                </a:gs>
              </a:gsLst>
              <a:lin ang="5400000" scaled="1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689" tIns="54844" rIns="109689" bIns="54844" numCol="1" spcCol="0" rtlCol="0" fromWordArt="0" anchor="ctr" anchorCtr="0" forceAA="0" compatLnSpc="1">
              <a:noAutofit/>
            </a:bodyPr>
            <a:lstStyle/>
            <a:p>
              <a:pPr algn="ctr" defTabSz="1096645"/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Linee3"/>
            <p:cNvSpPr/>
            <p:nvPr>
              <p:custDataLst>
                <p:tags r:id="rId8"/>
              </p:custDataLst>
            </p:nvPr>
          </p:nvSpPr>
          <p:spPr>
            <a:xfrm>
              <a:off x="8146096" y="3431226"/>
              <a:ext cx="3511074" cy="1344934"/>
            </a:xfrm>
            <a:prstGeom prst="diamond">
              <a:avLst/>
            </a:prstGeom>
            <a:noFill/>
            <a:ln w="6350">
              <a:gradFill flip="none" rotWithShape="1">
                <a:gsLst>
                  <a:gs pos="100000">
                    <a:schemeClr val="accent3"/>
                  </a:gs>
                  <a:gs pos="21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6645">
                <a:defRPr/>
              </a:pPr>
              <a:endPara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Bullet3"/>
            <p:cNvSpPr/>
            <p:nvPr>
              <p:custDataLst>
                <p:tags r:id="rId9"/>
              </p:custDataLst>
            </p:nvPr>
          </p:nvSpPr>
          <p:spPr>
            <a:xfrm>
              <a:off x="8628778" y="2350408"/>
              <a:ext cx="2540970" cy="525740"/>
            </a:xfrm>
            <a:prstGeom prst="rect">
              <a:avLst/>
            </a:prstGeom>
          </p:spPr>
          <p:txBody>
            <a:bodyPr wrap="square" anchor="b" anchorCtr="0">
              <a:normAutofit fontScale="25000"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sz="9600" b="1">
                  <a:solidFill>
                    <a:schemeClr val="accent1">
                      <a:alpha val="100000"/>
                    </a:scheme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新兴技术赋能</a:t>
              </a:r>
              <a:endParaRPr lang="zh-CN" altLang="en-US" sz="96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endParaRPr>
            </a:p>
          </p:txBody>
        </p:sp>
        <p:sp>
          <p:nvSpPr>
            <p:cNvPr id="16" name="Text3"/>
            <p:cNvSpPr/>
            <p:nvPr>
              <p:custDataLst>
                <p:tags r:id="rId10"/>
              </p:custDataLst>
            </p:nvPr>
          </p:nvSpPr>
          <p:spPr>
            <a:xfrm>
              <a:off x="8628779" y="2987586"/>
              <a:ext cx="2540970" cy="816670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>
                <a:lnSpc>
                  <a:spcPct val="140000"/>
                </a:lnSpc>
              </a:pPr>
              <a:r>
                <a:rPr lang="en-US">
                  <a:solidFill>
                    <a:schemeClr val="dk1">
                      <a:alpha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SC" panose="020B0200000000000000" charset="-122"/>
                  <a:sym typeface="+mn-ea"/>
                </a:rPr>
                <a:t>电网故障监测领域正加速向</a:t>
              </a:r>
              <a:r>
                <a:rPr lang="en-US">
                  <a:solidFill>
                    <a:srgbClr val="FF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SC" panose="020B0200000000000000" charset="-122"/>
                  <a:sym typeface="+mn-ea"/>
                </a:rPr>
                <a:t>智能化、数字化</a:t>
              </a:r>
              <a:r>
                <a:rPr lang="en-US">
                  <a:solidFill>
                    <a:schemeClr val="dk1">
                      <a:alpha val="100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SC" panose="020B0200000000000000" charset="-122"/>
                  <a:sym typeface="+mn-ea"/>
                </a:rPr>
                <a:t>与协同化方向转型，其核心趋势体现为技术深度交叉融合与场景化应用创新。电网监测体系逐步突破传统“单点诊断”模式，构建起覆盖“感知-分析-决策”全链路的智能生态。</a:t>
              </a:r>
              <a:endParaRPr lang="en-US">
                <a:solidFill>
                  <a:schemeClr val="dk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+mn-ea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44528" y="235200"/>
            <a:ext cx="4166415" cy="652380"/>
            <a:chOff x="222740" y="168058"/>
            <a:chExt cx="4166415" cy="652380"/>
          </a:xfrm>
        </p:grpSpPr>
        <p:grpSp>
          <p:nvGrpSpPr>
            <p:cNvPr id="40" name="组合 39"/>
            <p:cNvGrpSpPr/>
            <p:nvPr/>
          </p:nvGrpSpPr>
          <p:grpSpPr>
            <a:xfrm>
              <a:off x="848001" y="191208"/>
              <a:ext cx="3541154" cy="629230"/>
              <a:chOff x="7021395" y="904052"/>
              <a:chExt cx="3541154" cy="629230"/>
            </a:xfrm>
          </p:grpSpPr>
          <p:sp>
            <p:nvSpPr>
              <p:cNvPr id="42" name="文本框 41"/>
              <p:cNvSpPr txBox="1"/>
              <p:nvPr/>
            </p:nvSpPr>
            <p:spPr>
              <a:xfrm>
                <a:off x="7021395" y="904052"/>
                <a:ext cx="2519127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ea"/>
                  </a:rPr>
                  <a:t>智能技术赋能</a:t>
                </a:r>
                <a:endPara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3" name="PA-文本框 50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030784" y="1257692"/>
                <a:ext cx="3531765" cy="275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en-US" altLang="zh-CN" sz="800">
                  <a:solidFill>
                    <a:schemeClr val="tx1">
                      <a:lumMod val="85000"/>
                      <a:lumOff val="15000"/>
                      <a:alpha val="7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41" name="椭圆 40"/>
            <p:cNvSpPr/>
            <p:nvPr/>
          </p:nvSpPr>
          <p:spPr>
            <a:xfrm>
              <a:off x="222740" y="168058"/>
              <a:ext cx="625261" cy="6252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69950" y="90805"/>
            <a:ext cx="24237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rgbClr val="4484A4"/>
                </a:solidFill>
              </a:rPr>
              <a:t>_</a:t>
            </a:r>
            <a:r>
              <a:rPr lang="en-US" altLang="zh-CN" sz="4800">
                <a:solidFill>
                  <a:srgbClr val="4484A4"/>
                </a:solidFill>
                <a:sym typeface="+mn-ea"/>
              </a:rPr>
              <a:t>__</a:t>
            </a:r>
            <a:r>
              <a:rPr lang="en-US" altLang="zh-CN" sz="4800">
                <a:solidFill>
                  <a:srgbClr val="4484A4"/>
                </a:solidFill>
              </a:rPr>
              <a:t>___</a:t>
            </a:r>
            <a:endParaRPr lang="en-US" altLang="zh-CN" sz="4800">
              <a:solidFill>
                <a:srgbClr val="4484A4"/>
              </a:solidFill>
            </a:endParaRPr>
          </a:p>
        </p:txBody>
      </p:sp>
      <p:pic>
        <p:nvPicPr>
          <p:cNvPr id="4" name="图片 3" descr="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44890" y="3126740"/>
            <a:ext cx="3415665" cy="3264535"/>
          </a:xfrm>
          <a:prstGeom prst="rect">
            <a:avLst/>
          </a:prstGeom>
        </p:spPr>
      </p:pic>
      <p:pic>
        <p:nvPicPr>
          <p:cNvPr id="36" name="图片 35" descr="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8195" y="3326130"/>
            <a:ext cx="3985260" cy="2621915"/>
          </a:xfrm>
          <a:prstGeom prst="rect">
            <a:avLst/>
          </a:prstGeom>
        </p:spPr>
      </p:pic>
      <p:pic>
        <p:nvPicPr>
          <p:cNvPr id="37" name="图片 36" descr="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44255" y="916940"/>
            <a:ext cx="3463925" cy="2209800"/>
          </a:xfrm>
          <a:prstGeom prst="rect">
            <a:avLst/>
          </a:prstGeom>
        </p:spPr>
      </p:pic>
      <p:pic>
        <p:nvPicPr>
          <p:cNvPr id="38" name="图片 37" descr="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8195" y="917575"/>
            <a:ext cx="3985260" cy="224028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4528" y="235200"/>
            <a:ext cx="3144388" cy="625261"/>
            <a:chOff x="222740" y="168058"/>
            <a:chExt cx="3144388" cy="625261"/>
          </a:xfrm>
        </p:grpSpPr>
        <p:sp>
          <p:nvSpPr>
            <p:cNvPr id="13" name="文本框 12"/>
            <p:cNvSpPr txBox="1"/>
            <p:nvPr/>
          </p:nvSpPr>
          <p:spPr>
            <a:xfrm>
              <a:off x="848001" y="191208"/>
              <a:ext cx="251912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系统框图</a:t>
              </a:r>
              <a:endPara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22740" y="168058"/>
              <a:ext cx="625261" cy="6252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69950" y="30480"/>
            <a:ext cx="14420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rgbClr val="4484A4"/>
                </a:solidFill>
              </a:rPr>
              <a:t>____</a:t>
            </a:r>
            <a:endParaRPr lang="en-US" altLang="zh-CN" sz="4800">
              <a:solidFill>
                <a:srgbClr val="4484A4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05" y="1163320"/>
            <a:ext cx="8009255" cy="48183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63830" y="234950"/>
            <a:ext cx="11505610" cy="624840"/>
            <a:chOff x="146921" y="168058"/>
            <a:chExt cx="10817026" cy="625053"/>
          </a:xfrm>
        </p:grpSpPr>
        <p:sp>
          <p:nvSpPr>
            <p:cNvPr id="13" name="文本框 12"/>
            <p:cNvSpPr txBox="1"/>
            <p:nvPr/>
          </p:nvSpPr>
          <p:spPr>
            <a:xfrm>
              <a:off x="1089621" y="191208"/>
              <a:ext cx="9874326" cy="460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复合故障智能感知与精准溯源</a:t>
              </a:r>
              <a:endPara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46921" y="168058"/>
              <a:ext cx="811319" cy="6250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  <a:endParaRPr lang="en-US" altLang="zh-CN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69365" y="1016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交流窜入直流系统检测选线</a:t>
            </a:r>
            <a:endParaRPr lang="zh-CN" altLang="en-US"/>
          </a:p>
        </p:txBody>
      </p:sp>
      <p:cxnSp>
        <p:nvCxnSpPr>
          <p:cNvPr id="20" name="íśḷïḑê"/>
          <p:cNvCxnSpPr/>
          <p:nvPr>
            <p:custDataLst>
              <p:tags r:id="rId3"/>
            </p:custDataLst>
          </p:nvPr>
        </p:nvCxnSpPr>
        <p:spPr>
          <a:xfrm flipV="1">
            <a:off x="1269560" y="768718"/>
            <a:ext cx="3796665" cy="8255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íśḷïḑê"/>
          <p:cNvCxnSpPr/>
          <p:nvPr>
            <p:custDataLst>
              <p:tags r:id="rId4"/>
            </p:custDataLst>
          </p:nvPr>
        </p:nvCxnSpPr>
        <p:spPr>
          <a:xfrm flipV="1">
            <a:off x="1395925" y="1460868"/>
            <a:ext cx="2733040" cy="7620"/>
          </a:xfrm>
          <a:prstGeom prst="line">
            <a:avLst/>
          </a:prstGeom>
          <a:ln w="31750" cap="sq" cmpd="dbl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025" y="1544955"/>
            <a:ext cx="5252085" cy="353949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085" y="1557020"/>
            <a:ext cx="6107430" cy="353187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6679565" y="1100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交流窜入直流系统支路检测</a:t>
            </a:r>
            <a:endParaRPr lang="zh-CN" altLang="en-US"/>
          </a:p>
        </p:txBody>
      </p:sp>
      <p:cxnSp>
        <p:nvCxnSpPr>
          <p:cNvPr id="29" name="íśḷïḑê"/>
          <p:cNvCxnSpPr/>
          <p:nvPr>
            <p:custDataLst>
              <p:tags r:id="rId8"/>
            </p:custDataLst>
          </p:nvPr>
        </p:nvCxnSpPr>
        <p:spPr>
          <a:xfrm flipV="1">
            <a:off x="6806125" y="1544688"/>
            <a:ext cx="2733040" cy="7620"/>
          </a:xfrm>
          <a:prstGeom prst="line">
            <a:avLst/>
          </a:prstGeom>
          <a:ln w="31750" cap="sq" cmpd="dbl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93090" y="526097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通过宽频谐波分离算法提取高频谐波成分（特定频率幅值、相位），作为知识图谱的节点属性。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/>
      </p:par>
    </p:tnLst>
    <p:bldLst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63830" y="234950"/>
            <a:ext cx="11505610" cy="624840"/>
            <a:chOff x="146921" y="168058"/>
            <a:chExt cx="10817026" cy="625053"/>
          </a:xfrm>
        </p:grpSpPr>
        <p:sp>
          <p:nvSpPr>
            <p:cNvPr id="13" name="文本框 12"/>
            <p:cNvSpPr txBox="1"/>
            <p:nvPr/>
          </p:nvSpPr>
          <p:spPr>
            <a:xfrm>
              <a:off x="1089621" y="191208"/>
              <a:ext cx="9874326" cy="460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复合故障智能感知与精准溯源</a:t>
              </a:r>
              <a:endPara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46921" y="168058"/>
              <a:ext cx="811319" cy="6250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  <a:endParaRPr lang="en-US" altLang="zh-CN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0" name="íśḷïḑê"/>
          <p:cNvCxnSpPr/>
          <p:nvPr>
            <p:custDataLst>
              <p:tags r:id="rId2"/>
            </p:custDataLst>
          </p:nvPr>
        </p:nvCxnSpPr>
        <p:spPr>
          <a:xfrm flipV="1">
            <a:off x="1269560" y="768718"/>
            <a:ext cx="3796665" cy="8255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05" y="1681480"/>
            <a:ext cx="5591810" cy="357060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1096645" y="1059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绝缘劣化动态监测技术路线</a:t>
            </a:r>
            <a:endParaRPr lang="zh-CN" altLang="en-US"/>
          </a:p>
        </p:txBody>
      </p:sp>
      <p:cxnSp>
        <p:nvCxnSpPr>
          <p:cNvPr id="31" name="íśḷïḑê"/>
          <p:cNvCxnSpPr/>
          <p:nvPr>
            <p:custDataLst>
              <p:tags r:id="rId4"/>
            </p:custDataLst>
          </p:nvPr>
        </p:nvCxnSpPr>
        <p:spPr>
          <a:xfrm flipV="1">
            <a:off x="1166690" y="1507223"/>
            <a:ext cx="2733040" cy="7620"/>
          </a:xfrm>
          <a:prstGeom prst="line">
            <a:avLst/>
          </a:prstGeom>
          <a:ln w="31750" cap="sq" cmpd="dbl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637020" y="1941830"/>
            <a:ext cx="414528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</a:t>
            </a:r>
            <a:r>
              <a:rPr lang="zh-CN" altLang="en-US" sz="2400"/>
              <a:t>利用分压原理计算</a:t>
            </a:r>
            <a:r>
              <a:rPr lang="zh-CN" altLang="en-US" sz="2400"/>
              <a:t>绝缘电阻</a:t>
            </a:r>
            <a:endParaRPr lang="zh-CN" altLang="en-US" sz="2400"/>
          </a:p>
        </p:txBody>
      </p:sp>
      <p:sp>
        <p:nvSpPr>
          <p:cNvPr id="33" name="文本框 32"/>
          <p:cNvSpPr txBox="1"/>
          <p:nvPr/>
        </p:nvSpPr>
        <p:spPr>
          <a:xfrm>
            <a:off x="6637020" y="3687445"/>
            <a:ext cx="434721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2.</a:t>
            </a:r>
            <a:r>
              <a:rPr lang="zh-CN" altLang="en-US" sz="2400"/>
              <a:t>多节点数据融合，卡尔曼滤波算法</a:t>
            </a:r>
            <a:endParaRPr lang="zh-CN" altLang="en-US" sz="2400"/>
          </a:p>
        </p:txBody>
      </p:sp>
      <p:sp>
        <p:nvSpPr>
          <p:cNvPr id="34" name="文本框 33"/>
          <p:cNvSpPr txBox="1"/>
          <p:nvPr/>
        </p:nvSpPr>
        <p:spPr>
          <a:xfrm>
            <a:off x="6637020" y="4730750"/>
            <a:ext cx="4616450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3.</a:t>
            </a:r>
            <a:r>
              <a:rPr lang="zh-CN" altLang="en-US" sz="2400"/>
              <a:t>生成全局绝缘电阻分布热力图</a:t>
            </a:r>
            <a:endParaRPr lang="zh-CN" altLang="en-US" sz="240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65" y="2547620"/>
            <a:ext cx="4028440" cy="8813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69315" y="5462270"/>
            <a:ext cx="4996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利用分布式传感器网络监测绝缘电阻动态变化，结合环境参数（温湿度）构建时空演化模型，形成</a:t>
            </a:r>
            <a:r>
              <a:rPr lang="en-US" altLang="zh-CN"/>
              <a:t>“</a:t>
            </a:r>
            <a:r>
              <a:rPr lang="zh-CN" altLang="en-US"/>
              <a:t>绝缘劣化</a:t>
            </a:r>
            <a:r>
              <a:rPr lang="en-US" altLang="zh-CN"/>
              <a:t>-</a:t>
            </a:r>
            <a:r>
              <a:rPr lang="zh-CN" altLang="en-US"/>
              <a:t>环境因素</a:t>
            </a:r>
            <a:r>
              <a:rPr lang="en-US" altLang="zh-CN"/>
              <a:t>”</a:t>
            </a:r>
            <a:r>
              <a:rPr lang="zh-CN" altLang="en-US"/>
              <a:t>关联边。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32" grpId="0"/>
      <p:bldP spid="33" grpId="0"/>
      <p:bldP spid="34" grpId="0"/>
      <p:bldP spid="32" grpId="1"/>
      <p:bldP spid="33" grpId="1"/>
      <p:bldP spid="34" grpId="1"/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63830" y="234950"/>
            <a:ext cx="11505610" cy="624840"/>
            <a:chOff x="146921" y="168058"/>
            <a:chExt cx="10817026" cy="625053"/>
          </a:xfrm>
        </p:grpSpPr>
        <p:sp>
          <p:nvSpPr>
            <p:cNvPr id="13" name="文本框 12"/>
            <p:cNvSpPr txBox="1"/>
            <p:nvPr/>
          </p:nvSpPr>
          <p:spPr>
            <a:xfrm>
              <a:off x="1089621" y="191208"/>
              <a:ext cx="9874326" cy="460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复合故障智能感知与精准溯源</a:t>
              </a:r>
              <a:endPara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46921" y="168058"/>
              <a:ext cx="811319" cy="6250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  <a:endParaRPr lang="en-US" altLang="zh-CN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0" name="íśḷïḑê"/>
          <p:cNvCxnSpPr/>
          <p:nvPr>
            <p:custDataLst>
              <p:tags r:id="rId2"/>
            </p:custDataLst>
          </p:nvPr>
        </p:nvCxnSpPr>
        <p:spPr>
          <a:xfrm flipV="1">
            <a:off x="1269560" y="768718"/>
            <a:ext cx="3796665" cy="8255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175" y="1451610"/>
            <a:ext cx="7893685" cy="48780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89990" y="1007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变频器谐波的分析及控制异常</a:t>
            </a:r>
            <a:endParaRPr lang="zh-CN" altLang="en-US"/>
          </a:p>
        </p:txBody>
      </p:sp>
      <p:cxnSp>
        <p:nvCxnSpPr>
          <p:cNvPr id="5" name="íśḷïḑê"/>
          <p:cNvCxnSpPr/>
          <p:nvPr>
            <p:custDataLst>
              <p:tags r:id="rId4"/>
            </p:custDataLst>
          </p:nvPr>
        </p:nvCxnSpPr>
        <p:spPr>
          <a:xfrm flipV="1">
            <a:off x="1350840" y="1409433"/>
            <a:ext cx="2733040" cy="7620"/>
          </a:xfrm>
          <a:prstGeom prst="line">
            <a:avLst/>
          </a:prstGeom>
          <a:ln w="31750" cap="sq" cmpd="dbl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4475" y="234950"/>
            <a:ext cx="8358723" cy="624840"/>
            <a:chOff x="222740" y="168058"/>
            <a:chExt cx="7858473" cy="625053"/>
          </a:xfrm>
        </p:grpSpPr>
        <p:sp>
          <p:nvSpPr>
            <p:cNvPr id="13" name="文本框 12"/>
            <p:cNvSpPr txBox="1"/>
            <p:nvPr/>
          </p:nvSpPr>
          <p:spPr>
            <a:xfrm>
              <a:off x="1028891" y="191208"/>
              <a:ext cx="7052322" cy="460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动态知识图谱构建和驱动智能故障分析算法</a:t>
              </a:r>
              <a:endPara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22740" y="168058"/>
              <a:ext cx="763559" cy="6250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cs typeface="+mn-ea"/>
                  <a:sym typeface="+mn-lt"/>
                </a:rPr>
                <a:t>2</a:t>
              </a:r>
              <a:endParaRPr lang="en-US" altLang="zh-CN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7" name="íśḷïḑê"/>
          <p:cNvCxnSpPr/>
          <p:nvPr>
            <p:custDataLst>
              <p:tags r:id="rId2"/>
            </p:custDataLst>
          </p:nvPr>
        </p:nvCxnSpPr>
        <p:spPr>
          <a:xfrm flipV="1">
            <a:off x="1269560" y="761098"/>
            <a:ext cx="4559935" cy="5080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 descr="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85" y="1527175"/>
            <a:ext cx="9947275" cy="41865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585845" y="15773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数据治理：整合多源数据（故障案例、设备参数、传感器数据）。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 descr="11"/>
          <p:cNvPicPr>
            <a:picLocks noChangeAspect="1"/>
          </p:cNvPicPr>
          <p:nvPr/>
        </p:nvPicPr>
        <p:blipFill>
          <a:blip r:embed="rId4"/>
          <a:srcRect t="4731"/>
          <a:stretch>
            <a:fillRect/>
          </a:stretch>
        </p:blipFill>
        <p:spPr>
          <a:xfrm>
            <a:off x="716915" y="1306195"/>
            <a:ext cx="10758170" cy="42449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730625" y="9004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在知识图谱中，节点则是</a:t>
            </a:r>
            <a:r>
              <a:rPr lang="en-US" altLang="zh-CN">
                <a:solidFill>
                  <a:srgbClr val="FF0000"/>
                </a:solidFill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交流窜入故障</a:t>
            </a:r>
            <a:r>
              <a:rPr lang="en-US" altLang="zh-CN">
                <a:solidFill>
                  <a:srgbClr val="FF0000"/>
                </a:solidFill>
              </a:rPr>
              <a:t>”“</a:t>
            </a:r>
            <a:r>
              <a:rPr lang="zh-CN" altLang="en-US">
                <a:solidFill>
                  <a:srgbClr val="FF0000"/>
                </a:solidFill>
              </a:rPr>
              <a:t>绝缘电阻异常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r>
              <a:rPr lang="zh-CN" altLang="en-US">
                <a:solidFill>
                  <a:srgbClr val="FF0000"/>
                </a:solidFill>
              </a:rPr>
              <a:t>，边则是</a:t>
            </a:r>
            <a:r>
              <a:rPr lang="en-US" altLang="zh-CN">
                <a:solidFill>
                  <a:srgbClr val="FF0000"/>
                </a:solidFill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引发</a:t>
            </a:r>
            <a:r>
              <a:rPr lang="en-US" altLang="zh-CN">
                <a:solidFill>
                  <a:srgbClr val="FF0000"/>
                </a:solidFill>
              </a:rPr>
              <a:t>”“</a:t>
            </a:r>
            <a:r>
              <a:rPr lang="zh-CN" altLang="en-US">
                <a:solidFill>
                  <a:srgbClr val="FF0000"/>
                </a:solidFill>
              </a:rPr>
              <a:t>关联环境因素</a:t>
            </a:r>
            <a:r>
              <a:rPr lang="en-US" altLang="zh-CN">
                <a:solidFill>
                  <a:srgbClr val="FF0000"/>
                </a:solidFill>
              </a:rPr>
              <a:t>”“</a:t>
            </a:r>
            <a:r>
              <a:rPr lang="zh-CN" altLang="en-US">
                <a:solidFill>
                  <a:srgbClr val="FF0000"/>
                </a:solidFill>
              </a:rPr>
              <a:t>加速老化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r>
              <a:rPr lang="zh-CN" altLang="en-US">
                <a:solidFill>
                  <a:srgbClr val="FF0000"/>
                </a:solidFill>
              </a:rPr>
              <a:t>等逻辑关系。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10680" y="4587240"/>
            <a:ext cx="4064000" cy="1081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动态更新：结合实时数据与历史案例，通过</a:t>
            </a:r>
            <a:r>
              <a:rPr lang="en-US" altLang="zh-CN">
                <a:solidFill>
                  <a:srgbClr val="FF0000"/>
                </a:solidFill>
              </a:rPr>
              <a:t>TransR</a:t>
            </a:r>
            <a:r>
              <a:rPr lang="zh-CN" altLang="en-US">
                <a:solidFill>
                  <a:srgbClr val="FF0000"/>
                </a:solidFill>
              </a:rPr>
              <a:t>算法更新实体关系权重（如高频谐波与电容老化的关联强度）。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2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775" y="809625"/>
            <a:ext cx="8829040" cy="493204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138295" y="80962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三元组构建：故障类型（</a:t>
            </a:r>
            <a:r>
              <a:rPr lang="en-US" altLang="zh-CN">
                <a:solidFill>
                  <a:srgbClr val="FF0000"/>
                </a:solidFill>
              </a:rPr>
              <a:t>“IGBT</a:t>
            </a:r>
            <a:r>
              <a:rPr lang="zh-CN" altLang="en-US">
                <a:solidFill>
                  <a:srgbClr val="FF0000"/>
                </a:solidFill>
              </a:rPr>
              <a:t>开路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r>
              <a:rPr lang="en-US" altLang="en-US">
                <a:solidFill>
                  <a:srgbClr val="FF0000"/>
                </a:solidFill>
              </a:rPr>
              <a:t>→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特征（</a:t>
            </a:r>
            <a:r>
              <a:rPr lang="en-US" altLang="zh-CN">
                <a:solidFill>
                  <a:srgbClr val="FF0000"/>
                </a:solidFill>
              </a:rPr>
              <a:t>“dq</a:t>
            </a:r>
            <a:r>
              <a:rPr lang="zh-CN" altLang="en-US">
                <a:solidFill>
                  <a:srgbClr val="FF0000"/>
                </a:solidFill>
              </a:rPr>
              <a:t>轴电流</a:t>
            </a:r>
            <a:r>
              <a:rPr lang="en-US" altLang="zh-CN">
                <a:solidFill>
                  <a:srgbClr val="FF0000"/>
                </a:solidFill>
              </a:rPr>
              <a:t>6k</a:t>
            </a:r>
            <a:r>
              <a:rPr lang="en-US" altLang="en-US">
                <a:solidFill>
                  <a:srgbClr val="FF0000"/>
                </a:solidFill>
              </a:rPr>
              <a:t>±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次谐波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r>
              <a:rPr lang="en-US" altLang="en-US">
                <a:solidFill>
                  <a:srgbClr val="FF0000"/>
                </a:solidFill>
              </a:rPr>
              <a:t>→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解决方案（</a:t>
            </a:r>
            <a:r>
              <a:rPr lang="en-US" altLang="zh-CN">
                <a:solidFill>
                  <a:srgbClr val="FF0000"/>
                </a:solidFill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更换</a:t>
            </a:r>
            <a:r>
              <a:rPr lang="en-US" altLang="zh-CN">
                <a:solidFill>
                  <a:srgbClr val="FF0000"/>
                </a:solidFill>
              </a:rPr>
              <a:t>IGBT</a:t>
            </a:r>
            <a:r>
              <a:rPr lang="zh-CN" altLang="en-US">
                <a:solidFill>
                  <a:srgbClr val="FF0000"/>
                </a:solidFill>
              </a:rPr>
              <a:t>模块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r>
              <a:rPr lang="zh-CN" altLang="en-US">
                <a:solidFill>
                  <a:srgbClr val="FF0000"/>
                </a:solidFill>
              </a:rPr>
              <a:t>）。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63830" y="234950"/>
            <a:ext cx="11505610" cy="624840"/>
            <a:chOff x="146921" y="168058"/>
            <a:chExt cx="10817026" cy="625053"/>
          </a:xfrm>
        </p:grpSpPr>
        <p:sp>
          <p:nvSpPr>
            <p:cNvPr id="13" name="文本框 12"/>
            <p:cNvSpPr txBox="1"/>
            <p:nvPr/>
          </p:nvSpPr>
          <p:spPr>
            <a:xfrm>
              <a:off x="1089621" y="191208"/>
              <a:ext cx="9874326" cy="460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设备健康深度评估</a:t>
              </a:r>
              <a:endPara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46921" y="168058"/>
              <a:ext cx="811319" cy="6250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cs typeface="+mn-ea"/>
                  <a:sym typeface="+mn-lt"/>
                </a:rPr>
                <a:t>2</a:t>
              </a:r>
              <a:endParaRPr lang="en-US" altLang="zh-CN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0" name="íśḷïḑê"/>
          <p:cNvCxnSpPr/>
          <p:nvPr>
            <p:custDataLst>
              <p:tags r:id="rId2"/>
            </p:custDataLst>
          </p:nvPr>
        </p:nvCxnSpPr>
        <p:spPr>
          <a:xfrm flipV="1">
            <a:off x="1269560" y="768718"/>
            <a:ext cx="3796665" cy="8255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85" y="1456690"/>
            <a:ext cx="5207635" cy="39922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1447800"/>
            <a:ext cx="3882390" cy="396240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956945" y="892175"/>
            <a:ext cx="450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变流器高压电容老化失效评估与寿命预测</a:t>
            </a:r>
            <a:endParaRPr lang="zh-CN" altLang="en-US"/>
          </a:p>
        </p:txBody>
      </p:sp>
      <p:cxnSp>
        <p:nvCxnSpPr>
          <p:cNvPr id="31" name="íśḷïḑê"/>
          <p:cNvCxnSpPr/>
          <p:nvPr>
            <p:custDataLst>
              <p:tags r:id="rId5"/>
            </p:custDataLst>
          </p:nvPr>
        </p:nvCxnSpPr>
        <p:spPr>
          <a:xfrm flipV="1">
            <a:off x="1026990" y="1320533"/>
            <a:ext cx="4286885" cy="14605"/>
          </a:xfrm>
          <a:prstGeom prst="line">
            <a:avLst/>
          </a:prstGeom>
          <a:ln w="31750" cap="sq" cmpd="dbl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286125" y="5645150"/>
            <a:ext cx="6263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基于纹波电流频谱与等效参数（</a:t>
            </a:r>
            <a:r>
              <a:rPr lang="en-US" altLang="zh-CN"/>
              <a:t>ESR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值）的退化轨迹，建立</a:t>
            </a:r>
            <a:r>
              <a:rPr lang="en-US" altLang="zh-CN"/>
              <a:t>“</a:t>
            </a:r>
            <a:r>
              <a:rPr lang="zh-CN" altLang="en-US"/>
              <a:t>电容健康度</a:t>
            </a:r>
            <a:r>
              <a:rPr lang="en-US" altLang="zh-CN"/>
              <a:t>-</a:t>
            </a:r>
            <a:r>
              <a:rPr lang="zh-CN" altLang="en-US"/>
              <a:t>运行工况</a:t>
            </a:r>
            <a:r>
              <a:rPr lang="en-US" altLang="zh-CN"/>
              <a:t>”</a:t>
            </a:r>
            <a:r>
              <a:rPr lang="zh-CN" altLang="en-US"/>
              <a:t>的因果关系。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63830" y="234950"/>
            <a:ext cx="11505610" cy="624840"/>
            <a:chOff x="146921" y="168058"/>
            <a:chExt cx="10817026" cy="625053"/>
          </a:xfrm>
        </p:grpSpPr>
        <p:sp>
          <p:nvSpPr>
            <p:cNvPr id="13" name="文本框 12"/>
            <p:cNvSpPr txBox="1"/>
            <p:nvPr/>
          </p:nvSpPr>
          <p:spPr>
            <a:xfrm>
              <a:off x="1089621" y="191208"/>
              <a:ext cx="9874326" cy="460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边缘</a:t>
              </a:r>
              <a:r>
                <a:rPr lang="en-US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-</a:t>
              </a:r>
              <a:r>
                <a: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中心协同与主动防御</a:t>
              </a:r>
              <a:endPara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46921" y="168058"/>
              <a:ext cx="811319" cy="6250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cs typeface="+mn-ea"/>
                  <a:sym typeface="+mn-lt"/>
                </a:rPr>
                <a:t>3</a:t>
              </a:r>
              <a:endParaRPr lang="en-US" altLang="zh-CN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95" y="1216660"/>
            <a:ext cx="4626610" cy="43167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405" y="2756535"/>
            <a:ext cx="2599055" cy="12369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252460" y="3144520"/>
            <a:ext cx="29584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主动防御</a:t>
            </a:r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人工维护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55545" y="5582285"/>
            <a:ext cx="14992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MESH</a:t>
            </a: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组网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47510" y="4184015"/>
            <a:ext cx="3938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MESH</a:t>
            </a:r>
            <a:r>
              <a:rPr lang="zh-CN" altLang="en-US"/>
              <a:t>组网</a:t>
            </a:r>
            <a:r>
              <a:rPr lang="en-US" altLang="en-US"/>
              <a:t>→</a:t>
            </a:r>
            <a:r>
              <a:rPr lang="zh-CN" altLang="en-US"/>
              <a:t>边缘节点实时共享数据</a:t>
            </a:r>
            <a:r>
              <a:rPr lang="en-US" altLang="en-US"/>
              <a:t>→</a:t>
            </a:r>
            <a:r>
              <a:rPr lang="zh-CN" altLang="en-US"/>
              <a:t>固态断路器快速隔离故障支路。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795135" y="512064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通过边缘计算节点实时上传新故障数据，结合图神经网络（</a:t>
            </a:r>
            <a:r>
              <a:rPr lang="en-US" altLang="zh-CN"/>
              <a:t>GNN</a:t>
            </a:r>
            <a:r>
              <a:rPr lang="zh-CN" altLang="en-US"/>
              <a:t>）动态优化图谱结构。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/桌面/图片/6.png6"/>
          <p:cNvPicPr>
            <a:picLocks noChangeAspect="1"/>
          </p:cNvPicPr>
          <p:nvPr/>
        </p:nvPicPr>
        <p:blipFill>
          <a:blip r:embed="rId1"/>
          <a:srcRect t="28924" b="2892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385223" y="1394074"/>
            <a:ext cx="9421553" cy="4069852"/>
            <a:chOff x="2301941" y="1346664"/>
            <a:chExt cx="7856212" cy="4069852"/>
          </a:xfrm>
        </p:grpSpPr>
        <p:sp>
          <p:nvSpPr>
            <p:cNvPr id="6" name="圆角矩形 8"/>
            <p:cNvSpPr/>
            <p:nvPr/>
          </p:nvSpPr>
          <p:spPr>
            <a:xfrm>
              <a:off x="2301941" y="1346664"/>
              <a:ext cx="7856212" cy="4069852"/>
            </a:xfrm>
            <a:prstGeom prst="roundRect">
              <a:avLst>
                <a:gd name="adj" fmla="val 4799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571520" y="1511705"/>
              <a:ext cx="732062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7200" b="1">
                  <a:solidFill>
                    <a:schemeClr val="bg1">
                      <a:alpha val="18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DREAM</a:t>
              </a:r>
              <a:endParaRPr lang="zh-CN" altLang="en-US" sz="7200" b="1">
                <a:solidFill>
                  <a:schemeClr val="bg1">
                    <a:alpha val="18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355477" y="3279841"/>
            <a:ext cx="521933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20603050405020304" pitchFamily="34" charset="0"/>
              </a:rPr>
              <a:t>已有基础</a:t>
            </a:r>
            <a:endParaRPr lang="zh-CN" altLang="en-US" sz="600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Aparajita" panose="020206030504050203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 rot="16200000">
            <a:off x="5548532" y="1753573"/>
            <a:ext cx="1659890" cy="1743823"/>
          </a:xfrm>
          <a:prstGeom prst="rect">
            <a:avLst/>
          </a:prstGeom>
          <a:noFill/>
        </p:spPr>
        <p:txBody>
          <a:bodyPr vert="eaVert"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Light" panose="020B0502040204020203" pitchFamily="34" charset="0"/>
              </a:defRPr>
            </a:lvl1pPr>
          </a:lstStyle>
          <a:p>
            <a:pPr>
              <a:defRPr/>
            </a:pPr>
            <a:r>
              <a:rPr lang="en-US" altLang="zh-CN" sz="9600" i="1">
                <a:solidFill>
                  <a:schemeClr val="tx2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體 Heavy" panose="02020900000000000000" charset="-120"/>
                <a:ea typeface="思源宋體 Heavy" panose="02020900000000000000" charset="-120"/>
                <a:cs typeface="+mn-cs"/>
              </a:rPr>
              <a:t>03.</a:t>
            </a:r>
            <a:endParaRPr lang="zh-CN" altLang="en-US" sz="9600" i="1">
              <a:solidFill>
                <a:schemeClr val="tx2"/>
              </a:solidFill>
              <a:effectLst>
                <a:outerShdw blurRad="25400" dist="25400" dir="2700000" algn="tl">
                  <a:srgbClr val="000000">
                    <a:alpha val="15000"/>
                  </a:srgbClr>
                </a:outerShdw>
              </a:effectLst>
              <a:latin typeface="思源宋體 Heavy" panose="02020900000000000000" charset="-120"/>
              <a:ea typeface="思源宋體 Heavy" panose="02020900000000000000" charset="-120"/>
              <a:cs typeface="+mn-cs"/>
            </a:endParaRPr>
          </a:p>
        </p:txBody>
      </p:sp>
      <p:pic>
        <p:nvPicPr>
          <p:cNvPr id="11" name="图片 10" descr="D:/桌面/图片/6.png6"/>
          <p:cNvPicPr>
            <a:picLocks noChangeAspect="1"/>
          </p:cNvPicPr>
          <p:nvPr/>
        </p:nvPicPr>
        <p:blipFill>
          <a:blip r:embed="rId1"/>
          <a:srcRect t="12531" b="12531"/>
          <a:stretch>
            <a:fillRect/>
          </a:stretch>
        </p:blipFill>
        <p:spPr>
          <a:xfrm>
            <a:off x="1995537" y="1796542"/>
            <a:ext cx="3060700" cy="3060700"/>
          </a:xfrm>
          <a:prstGeom prst="roundRect">
            <a:avLst>
              <a:gd name="adj" fmla="val 714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7461" b="-14041"/>
            </a:stretch>
          </a:blipFill>
          <a:ln>
            <a:noFill/>
          </a:ln>
          <a:effectLst>
            <a:innerShdw blurRad="101600" dist="50800" dir="13500000">
              <a:prstClr val="black">
                <a:alpha val="30000"/>
              </a:prstClr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4475" y="234950"/>
            <a:ext cx="8358723" cy="624840"/>
            <a:chOff x="222740" y="168058"/>
            <a:chExt cx="7858473" cy="625053"/>
          </a:xfrm>
        </p:grpSpPr>
        <p:sp>
          <p:nvSpPr>
            <p:cNvPr id="13" name="文本框 12"/>
            <p:cNvSpPr txBox="1"/>
            <p:nvPr/>
          </p:nvSpPr>
          <p:spPr>
            <a:xfrm>
              <a:off x="1028891" y="191208"/>
              <a:ext cx="7052322" cy="460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与本项目有关的研究积累</a:t>
              </a:r>
              <a:endPara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22740" y="168058"/>
              <a:ext cx="763559" cy="6250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  <a:endParaRPr lang="en-US" altLang="zh-CN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5" name="íśḷïḑê"/>
          <p:cNvCxnSpPr/>
          <p:nvPr>
            <p:custDataLst>
              <p:tags r:id="rId2"/>
            </p:custDataLst>
          </p:nvPr>
        </p:nvCxnSpPr>
        <p:spPr>
          <a:xfrm flipV="1">
            <a:off x="1190185" y="761098"/>
            <a:ext cx="4676140" cy="26670"/>
          </a:xfrm>
          <a:prstGeom prst="line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 descr="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435" y="1061720"/>
            <a:ext cx="4473575" cy="3402330"/>
          </a:xfrm>
          <a:prstGeom prst="rect">
            <a:avLst/>
          </a:prstGeom>
        </p:spPr>
      </p:pic>
      <p:pic>
        <p:nvPicPr>
          <p:cNvPr id="11" name="图片 10" descr="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95" y="1202690"/>
            <a:ext cx="3976370" cy="2732405"/>
          </a:xfrm>
          <a:prstGeom prst="rect">
            <a:avLst/>
          </a:prstGeom>
        </p:spPr>
      </p:pic>
      <p:pic>
        <p:nvPicPr>
          <p:cNvPr id="14" name="图片 13" descr="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695" y="4098925"/>
            <a:ext cx="3994150" cy="2548255"/>
          </a:xfrm>
          <a:prstGeom prst="rect">
            <a:avLst/>
          </a:prstGeom>
        </p:spPr>
      </p:pic>
      <p:pic>
        <p:nvPicPr>
          <p:cNvPr id="15" name="图片 14" descr="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" y="1000760"/>
            <a:ext cx="4323080" cy="2936875"/>
          </a:xfrm>
          <a:prstGeom prst="rect">
            <a:avLst/>
          </a:prstGeom>
        </p:spPr>
      </p:pic>
      <p:pic>
        <p:nvPicPr>
          <p:cNvPr id="16" name="图片 15" descr="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5435" y="939800"/>
            <a:ext cx="4488815" cy="3117850"/>
          </a:xfrm>
          <a:prstGeom prst="rect">
            <a:avLst/>
          </a:prstGeom>
        </p:spPr>
      </p:pic>
      <p:pic>
        <p:nvPicPr>
          <p:cNvPr id="17" name="图片 16" descr="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" y="3933190"/>
            <a:ext cx="4363085" cy="2858770"/>
          </a:xfrm>
          <a:prstGeom prst="rect">
            <a:avLst/>
          </a:prstGeom>
        </p:spPr>
      </p:pic>
      <p:pic>
        <p:nvPicPr>
          <p:cNvPr id="18" name="图片 17" descr="18"/>
          <p:cNvPicPr>
            <a:picLocks noChangeAspect="1"/>
          </p:cNvPicPr>
          <p:nvPr/>
        </p:nvPicPr>
        <p:blipFill>
          <a:blip r:embed="rId9"/>
          <a:srcRect r="6357"/>
          <a:stretch>
            <a:fillRect/>
          </a:stretch>
        </p:blipFill>
        <p:spPr>
          <a:xfrm>
            <a:off x="5584825" y="3813810"/>
            <a:ext cx="4994275" cy="28333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173730" y="939715"/>
            <a:ext cx="4064000" cy="193802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在边缘计算平台实现小波变换，成功提取</a:t>
            </a:r>
            <a:r>
              <a:rPr lang="en-US" altLang="zh-CN" sz="24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IGBT</a:t>
            </a:r>
            <a:r>
              <a:rPr lang="zh-CN" altLang="en-US" sz="24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开路故障的瞬态电流突变，将故障识别响应时间从秒级缩短至毫秒级</a:t>
            </a:r>
            <a:endParaRPr lang="zh-CN" altLang="en-US" sz="24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/桌面/图片/6.png6"/>
          <p:cNvPicPr>
            <a:picLocks noChangeAspect="1"/>
          </p:cNvPicPr>
          <p:nvPr/>
        </p:nvPicPr>
        <p:blipFill>
          <a:blip r:embed="rId1"/>
          <a:srcRect t="28924" b="2892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385223" y="1394074"/>
            <a:ext cx="9421553" cy="4069852"/>
            <a:chOff x="2301941" y="1346664"/>
            <a:chExt cx="7856212" cy="4069852"/>
          </a:xfrm>
        </p:grpSpPr>
        <p:sp>
          <p:nvSpPr>
            <p:cNvPr id="6" name="圆角矩形 8"/>
            <p:cNvSpPr/>
            <p:nvPr/>
          </p:nvSpPr>
          <p:spPr>
            <a:xfrm>
              <a:off x="2301941" y="1346664"/>
              <a:ext cx="7856212" cy="4069852"/>
            </a:xfrm>
            <a:prstGeom prst="roundRect">
              <a:avLst>
                <a:gd name="adj" fmla="val 4799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571520" y="1511705"/>
              <a:ext cx="732062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7200" b="1">
                  <a:solidFill>
                    <a:schemeClr val="bg1">
                      <a:alpha val="18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DREAM</a:t>
              </a:r>
              <a:endParaRPr lang="zh-CN" altLang="en-US" sz="7200" b="1">
                <a:solidFill>
                  <a:schemeClr val="bg1">
                    <a:alpha val="18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355477" y="3279841"/>
            <a:ext cx="521933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20603050405020304" pitchFamily="34" charset="0"/>
              </a:rPr>
              <a:t>创新点及</a:t>
            </a:r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20603050405020304" pitchFamily="34" charset="0"/>
              </a:rPr>
              <a:t>特色</a:t>
            </a:r>
            <a:endParaRPr lang="zh-CN" altLang="en-US" sz="600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Aparajita" panose="020206030504050203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 rot="16200000">
            <a:off x="5548532" y="1753573"/>
            <a:ext cx="1659890" cy="1743823"/>
          </a:xfrm>
          <a:prstGeom prst="rect">
            <a:avLst/>
          </a:prstGeom>
          <a:noFill/>
        </p:spPr>
        <p:txBody>
          <a:bodyPr vert="eaVert"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Light" panose="020B0502040204020203" pitchFamily="34" charset="0"/>
              </a:defRPr>
            </a:lvl1pPr>
          </a:lstStyle>
          <a:p>
            <a:pPr>
              <a:defRPr/>
            </a:pPr>
            <a:r>
              <a:rPr lang="en-US" altLang="zh-CN" sz="9600" i="1">
                <a:solidFill>
                  <a:schemeClr val="tx2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體 Heavy" panose="02020900000000000000" charset="-120"/>
                <a:ea typeface="思源宋體 Heavy" panose="02020900000000000000" charset="-120"/>
                <a:cs typeface="+mn-cs"/>
              </a:rPr>
              <a:t>04.</a:t>
            </a:r>
            <a:endParaRPr lang="zh-CN" altLang="en-US" sz="9600" i="1">
              <a:solidFill>
                <a:schemeClr val="tx2"/>
              </a:solidFill>
              <a:effectLst>
                <a:outerShdw blurRad="25400" dist="25400" dir="2700000" algn="tl">
                  <a:srgbClr val="000000">
                    <a:alpha val="15000"/>
                  </a:srgbClr>
                </a:outerShdw>
              </a:effectLst>
              <a:latin typeface="思源宋體 Heavy" panose="02020900000000000000" charset="-120"/>
              <a:ea typeface="思源宋體 Heavy" panose="02020900000000000000" charset="-120"/>
              <a:cs typeface="+mn-cs"/>
            </a:endParaRPr>
          </a:p>
        </p:txBody>
      </p:sp>
      <p:pic>
        <p:nvPicPr>
          <p:cNvPr id="11" name="图片 10" descr="D:/桌面/图片/6.png6"/>
          <p:cNvPicPr>
            <a:picLocks noChangeAspect="1"/>
          </p:cNvPicPr>
          <p:nvPr/>
        </p:nvPicPr>
        <p:blipFill>
          <a:blip r:embed="rId1"/>
          <a:srcRect t="12531" b="12531"/>
          <a:stretch>
            <a:fillRect/>
          </a:stretch>
        </p:blipFill>
        <p:spPr>
          <a:xfrm>
            <a:off x="1995537" y="1796542"/>
            <a:ext cx="3060700" cy="3060700"/>
          </a:xfrm>
          <a:prstGeom prst="roundRect">
            <a:avLst>
              <a:gd name="adj" fmla="val 714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7461" b="-14041"/>
            </a:stretch>
          </a:blipFill>
          <a:ln>
            <a:noFill/>
          </a:ln>
          <a:effectLst>
            <a:innerShdw blurRad="101600" dist="50800" dir="13500000">
              <a:prstClr val="black">
                <a:alpha val="30000"/>
              </a:prstClr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/>
        </p:nvGrpSpPr>
        <p:grpSpPr>
          <a:xfrm rot="0">
            <a:off x="1064469" y="1945372"/>
            <a:ext cx="5182235" cy="2966365"/>
            <a:chOff x="5990425" y="1122537"/>
            <a:chExt cx="5182307" cy="2966256"/>
          </a:xfrm>
        </p:grpSpPr>
        <p:cxnSp>
          <p:nvCxnSpPr>
            <p:cNvPr id="2" name="直接连接符 1"/>
            <p:cNvCxnSpPr>
              <a:endCxn id="40" idx="4"/>
            </p:cNvCxnSpPr>
            <p:nvPr/>
          </p:nvCxnSpPr>
          <p:spPr>
            <a:xfrm flipH="1">
              <a:off x="6051930" y="1363473"/>
              <a:ext cx="4445" cy="27253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: 圆角 2"/>
            <p:cNvSpPr/>
            <p:nvPr/>
          </p:nvSpPr>
          <p:spPr>
            <a:xfrm>
              <a:off x="6383862" y="1122537"/>
              <a:ext cx="971819" cy="45720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8607C"/>
                </a:gs>
                <a:gs pos="0">
                  <a:srgbClr val="568D9D"/>
                </a:gs>
              </a:gsLst>
              <a:lin ang="13500000" scaled="1"/>
            </a:gradFill>
            <a:ln>
              <a:noFill/>
              <a:prstDash val="solid"/>
            </a:ln>
            <a:effectLst>
              <a:outerShdw blurRad="203200" dist="101600" dir="8100000" algn="tr" rotWithShape="0">
                <a:srgbClr val="28607C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594652" y="1145279"/>
              <a:ext cx="550237" cy="41851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zh-CN" sz="2000" b="1">
                  <a:solidFill>
                    <a:schemeClr val="bg1"/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cs typeface="阿里巴巴普惠体" panose="00020600040101010101" pitchFamily="18" charset="-122"/>
                  <a:sym typeface="Arial" panose="020B0604020202020204" pitchFamily="34" charset="0"/>
                </a:rPr>
                <a:t>01</a:t>
              </a:r>
              <a:endParaRPr lang="zh-CN" altLang="en-US" sz="2000" b="1">
                <a:solidFill>
                  <a:schemeClr val="bg1"/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01111" y="1122537"/>
              <a:ext cx="2868335" cy="49718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zh-CN" altLang="en-US" sz="2400" b="1">
                  <a:solidFill>
                    <a:srgbClr val="28607C"/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cs typeface="阿里巴巴普惠体" panose="00020600040101010101" pitchFamily="18" charset="-122"/>
                  <a:sym typeface="Arial" panose="020B0604020202020204" pitchFamily="34" charset="0"/>
                </a:rPr>
                <a:t>复合故障协同管理</a:t>
              </a:r>
              <a:endParaRPr lang="zh-CN" altLang="en-US" sz="2400" b="1">
                <a:solidFill>
                  <a:srgbClr val="28607C"/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990425" y="1285823"/>
              <a:ext cx="130629" cy="130629"/>
            </a:xfrm>
            <a:prstGeom prst="ellipse">
              <a:avLst/>
            </a:prstGeom>
            <a:gradFill>
              <a:gsLst>
                <a:gs pos="100000">
                  <a:srgbClr val="28607C"/>
                </a:gs>
                <a:gs pos="0">
                  <a:srgbClr val="568D9D"/>
                </a:gs>
              </a:gsLst>
              <a:lin ang="13500000" scaled="1"/>
            </a:gra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10"/>
            <p:cNvSpPr/>
            <p:nvPr/>
          </p:nvSpPr>
          <p:spPr>
            <a:xfrm>
              <a:off x="6383862" y="2013154"/>
              <a:ext cx="971819" cy="45720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8607C"/>
                </a:gs>
                <a:gs pos="0">
                  <a:srgbClr val="568D9D"/>
                </a:gs>
              </a:gsLst>
              <a:lin ang="13500000" scaled="1"/>
            </a:gradFill>
            <a:ln>
              <a:noFill/>
              <a:prstDash val="solid"/>
            </a:ln>
            <a:effectLst>
              <a:outerShdw blurRad="203200" dist="101600" dir="8100000" algn="tr" rotWithShape="0">
                <a:srgbClr val="28607C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594652" y="2826442"/>
              <a:ext cx="550237" cy="41851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zh-CN" sz="2000" b="1">
                  <a:solidFill>
                    <a:schemeClr val="bg1"/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cs typeface="阿里巴巴普惠体" panose="00020600040101010101" pitchFamily="18" charset="-122"/>
                  <a:sym typeface="Arial" panose="020B0604020202020204" pitchFamily="34" charset="0"/>
                </a:rPr>
                <a:t>02</a:t>
              </a:r>
              <a:endParaRPr lang="zh-CN" altLang="en-US" sz="2000" b="1">
                <a:solidFill>
                  <a:schemeClr val="bg1"/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501111" y="2026744"/>
              <a:ext cx="3671621" cy="49718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zh-CN" altLang="en-US" sz="2400" b="1">
                  <a:solidFill>
                    <a:srgbClr val="28607C"/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cs typeface="阿里巴巴普惠体" panose="00020600040101010101" pitchFamily="18" charset="-122"/>
                  <a:sym typeface="Arial" panose="020B0604020202020204" pitchFamily="34" charset="0"/>
                </a:rPr>
                <a:t>监测与主动防御融合</a:t>
              </a:r>
              <a:endParaRPr lang="zh-CN" altLang="en-US" sz="2400" b="1">
                <a:solidFill>
                  <a:srgbClr val="28607C"/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5990425" y="2176440"/>
              <a:ext cx="130629" cy="130629"/>
            </a:xfrm>
            <a:prstGeom prst="ellipse">
              <a:avLst/>
            </a:prstGeom>
            <a:gradFill>
              <a:gsLst>
                <a:gs pos="100000">
                  <a:srgbClr val="28607C"/>
                </a:gs>
                <a:gs pos="0">
                  <a:srgbClr val="568D9D"/>
                </a:gs>
              </a:gsLst>
              <a:lin ang="13500000" scaled="1"/>
            </a:gradFill>
            <a:ln>
              <a:noFill/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6383862" y="2869481"/>
              <a:ext cx="971819" cy="45720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rgbClr val="28607C"/>
                </a:gs>
                <a:gs pos="0">
                  <a:srgbClr val="568D9D"/>
                </a:gs>
              </a:gsLst>
              <a:lin ang="13500000" scaled="1"/>
            </a:gradFill>
            <a:ln>
              <a:noFill/>
              <a:prstDash val="solid"/>
            </a:ln>
            <a:effectLst>
              <a:outerShdw blurRad="203200" dist="101600" dir="8100000" algn="tr" rotWithShape="0">
                <a:srgbClr val="28607C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594652" y="2903018"/>
              <a:ext cx="550237" cy="41851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altLang="zh-CN" sz="2000" b="1">
                  <a:solidFill>
                    <a:schemeClr val="bg1"/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cs typeface="阿里巴巴普惠体" panose="00020600040101010101" pitchFamily="18" charset="-122"/>
                  <a:sym typeface="Arial" panose="020B0604020202020204" pitchFamily="34" charset="0"/>
                </a:rPr>
                <a:t>03</a:t>
              </a:r>
              <a:endParaRPr lang="zh-CN" altLang="en-US" sz="2000" b="1">
                <a:solidFill>
                  <a:schemeClr val="bg1"/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501111" y="2908727"/>
              <a:ext cx="3670986" cy="49718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zh-CN" altLang="en-US" sz="2400" b="1">
                  <a:solidFill>
                    <a:srgbClr val="28607C"/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cs typeface="阿里巴巴普惠体" panose="00020600040101010101" pitchFamily="18" charset="-122"/>
                  <a:sym typeface="Arial" panose="020B0604020202020204" pitchFamily="34" charset="0"/>
                </a:rPr>
                <a:t>边缘</a:t>
              </a:r>
              <a:r>
                <a:rPr lang="en-US" altLang="zh-CN" sz="2400" b="1">
                  <a:solidFill>
                    <a:srgbClr val="28607C"/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cs typeface="阿里巴巴普惠体" panose="00020600040101010101" pitchFamily="18" charset="-122"/>
                  <a:sym typeface="Arial" panose="020B0604020202020204" pitchFamily="34" charset="0"/>
                </a:rPr>
                <a:t>-</a:t>
              </a:r>
              <a:r>
                <a:rPr lang="zh-CN" altLang="en-US" sz="2400" b="1">
                  <a:solidFill>
                    <a:srgbClr val="28607C"/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cs typeface="阿里巴巴普惠体" panose="00020600040101010101" pitchFamily="18" charset="-122"/>
                  <a:sym typeface="Arial" panose="020B0604020202020204" pitchFamily="34" charset="0"/>
                </a:rPr>
                <a:t>中心协同决策</a:t>
              </a:r>
              <a:endParaRPr lang="zh-CN" altLang="en-US" sz="2400" b="1">
                <a:solidFill>
                  <a:srgbClr val="28607C"/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81181" y="266088"/>
            <a:ext cx="3482945" cy="637310"/>
            <a:chOff x="281181" y="266088"/>
            <a:chExt cx="3482945" cy="637310"/>
          </a:xfrm>
        </p:grpSpPr>
        <p:grpSp>
          <p:nvGrpSpPr>
            <p:cNvPr id="7" name="组合 6"/>
            <p:cNvGrpSpPr/>
            <p:nvPr/>
          </p:nvGrpSpPr>
          <p:grpSpPr>
            <a:xfrm>
              <a:off x="281181" y="266088"/>
              <a:ext cx="637310" cy="637310"/>
              <a:chOff x="1135328" y="603715"/>
              <a:chExt cx="637310" cy="637310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1135328" y="603715"/>
                <a:ext cx="637310" cy="637310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28607C"/>
                  </a:gs>
                  <a:gs pos="0">
                    <a:srgbClr val="568D9D"/>
                  </a:gs>
                </a:gsLst>
                <a:lin ang="135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206159" y="722315"/>
                <a:ext cx="4956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algn="ctr"/>
                <a:r>
                  <a:rPr lang="en-US" altLang="zh-CN" sz="200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01</a:t>
                </a:r>
                <a:endParaRPr lang="zh-CN" altLang="en-US" sz="200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sp>
          <p:nvSpPr>
            <p:cNvPr id="30" name="TextBox 5"/>
            <p:cNvSpPr txBox="1"/>
            <p:nvPr/>
          </p:nvSpPr>
          <p:spPr>
            <a:xfrm>
              <a:off x="1064126" y="323758"/>
              <a:ext cx="2700000" cy="5219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  <a:scene3d>
                <a:camera prst="orthographicFront"/>
                <a:lightRig rig="threePt" dir="t"/>
              </a:scene3d>
              <a:sp3d prstMaterial="powder"/>
            </a:bodyPr>
            <a:p>
              <a:pPr algn="dist"/>
              <a:r>
                <a:rPr lang="zh-CN" altLang="en-US" sz="2800" b="1"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创新点及</a:t>
              </a:r>
              <a:r>
                <a:rPr lang="zh-CN" altLang="en-US" sz="2800" b="1"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特色</a:t>
              </a:r>
              <a:endParaRPr lang="zh-CN" altLang="en-US" sz="2800" b="1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39" name="椭圆 38"/>
          <p:cNvSpPr/>
          <p:nvPr/>
        </p:nvSpPr>
        <p:spPr>
          <a:xfrm>
            <a:off x="1065104" y="3890219"/>
            <a:ext cx="130627" cy="130634"/>
          </a:xfrm>
          <a:prstGeom prst="ellipse">
            <a:avLst/>
          </a:prstGeom>
          <a:gradFill>
            <a:gsLst>
              <a:gs pos="100000">
                <a:srgbClr val="28607C"/>
              </a:gs>
              <a:gs pos="0">
                <a:srgbClr val="568D9D"/>
              </a:gs>
            </a:gsLst>
            <a:lin ang="135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思源黑体 CN Normal" panose="020B0400000000000000" pitchFamily="34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1060659" y="4781124"/>
            <a:ext cx="130627" cy="130634"/>
          </a:xfrm>
          <a:prstGeom prst="ellipse">
            <a:avLst/>
          </a:prstGeom>
          <a:gradFill>
            <a:gsLst>
              <a:gs pos="100000">
                <a:srgbClr val="28607C"/>
              </a:gs>
              <a:gs pos="0">
                <a:srgbClr val="568D9D"/>
              </a:gs>
            </a:gsLst>
            <a:lin ang="135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思源黑体 CN Normal" panose="020B0400000000000000" pitchFamily="34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1" name="矩形: 圆角 17"/>
          <p:cNvSpPr/>
          <p:nvPr/>
        </p:nvSpPr>
        <p:spPr>
          <a:xfrm>
            <a:off x="1457900" y="4617575"/>
            <a:ext cx="971805" cy="457217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28607C"/>
              </a:gs>
              <a:gs pos="0">
                <a:srgbClr val="568D9D"/>
              </a:gs>
            </a:gsLst>
            <a:lin ang="135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rgbClr val="28607C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思源黑体 CN Normal" panose="020B0400000000000000" pitchFamily="34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574925" y="4612640"/>
            <a:ext cx="2720975" cy="4972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rgbClr val="28607C"/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知识驱动智能算法</a:t>
            </a:r>
            <a:endParaRPr lang="zh-CN" altLang="en-US" sz="2400" b="1">
              <a:solidFill>
                <a:srgbClr val="28607C"/>
              </a:solidFill>
              <a:latin typeface="Arial" panose="020B0604020202020204" pitchFamily="34" charset="0"/>
              <a:ea typeface="思源黑体 CN Normal" panose="020B0400000000000000" pitchFamily="34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668052" y="2855333"/>
            <a:ext cx="550229" cy="4298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02</a:t>
            </a:r>
            <a:endParaRPr lang="zh-CN" altLang="en-US" sz="2000" b="1">
              <a:solidFill>
                <a:schemeClr val="bg1"/>
              </a:solidFill>
              <a:latin typeface="Arial" panose="020B0604020202020204" pitchFamily="34" charset="0"/>
              <a:ea typeface="思源黑体 CN Normal" panose="020B0400000000000000" pitchFamily="34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668687" y="4625078"/>
            <a:ext cx="550229" cy="4298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  <a:ea typeface="思源黑体 CN Normal" panose="020B0400000000000000" pitchFamily="34" charset="-122"/>
                <a:cs typeface="阿里巴巴普惠体" panose="00020600040101010101" pitchFamily="18" charset="-122"/>
                <a:sym typeface="Arial" panose="020B0604020202020204" pitchFamily="34" charset="0"/>
              </a:rPr>
              <a:t>04</a:t>
            </a:r>
            <a:endParaRPr lang="zh-CN" altLang="en-US" sz="2000" b="1">
              <a:solidFill>
                <a:schemeClr val="bg1"/>
              </a:solidFill>
              <a:latin typeface="Arial" panose="020B0604020202020204" pitchFamily="34" charset="0"/>
              <a:ea typeface="思源黑体 CN Normal" panose="020B0400000000000000" pitchFamily="34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cxnSp>
        <p:nvCxnSpPr>
          <p:cNvPr id="8" name="íśḷïḑê"/>
          <p:cNvCxnSpPr/>
          <p:nvPr>
            <p:custDataLst>
              <p:tags r:id="rId2"/>
            </p:custDataLst>
          </p:nvPr>
        </p:nvCxnSpPr>
        <p:spPr>
          <a:xfrm flipV="1">
            <a:off x="1195900" y="895718"/>
            <a:ext cx="2733040" cy="7620"/>
          </a:xfrm>
          <a:prstGeom prst="line">
            <a:avLst/>
          </a:prstGeom>
          <a:ln w="31750" cap="sq" cmpd="dbl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/桌面/图片/6.png6"/>
          <p:cNvPicPr>
            <a:picLocks noChangeAspect="1"/>
          </p:cNvPicPr>
          <p:nvPr/>
        </p:nvPicPr>
        <p:blipFill>
          <a:blip r:embed="rId1"/>
          <a:srcRect t="28924" b="2892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385223" y="1394074"/>
            <a:ext cx="9421553" cy="4069852"/>
            <a:chOff x="2301941" y="1346664"/>
            <a:chExt cx="7856212" cy="4069852"/>
          </a:xfrm>
        </p:grpSpPr>
        <p:sp>
          <p:nvSpPr>
            <p:cNvPr id="6" name="圆角矩形 8"/>
            <p:cNvSpPr/>
            <p:nvPr/>
          </p:nvSpPr>
          <p:spPr>
            <a:xfrm>
              <a:off x="2301941" y="1346664"/>
              <a:ext cx="7856212" cy="4069852"/>
            </a:xfrm>
            <a:prstGeom prst="roundRect">
              <a:avLst>
                <a:gd name="adj" fmla="val 4799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571520" y="1511705"/>
              <a:ext cx="732062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7200" b="1">
                  <a:solidFill>
                    <a:schemeClr val="bg1">
                      <a:alpha val="18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DREAM</a:t>
              </a:r>
              <a:endParaRPr lang="zh-CN" altLang="en-US" sz="7200" b="1">
                <a:solidFill>
                  <a:schemeClr val="bg1">
                    <a:alpha val="18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355477" y="3279841"/>
            <a:ext cx="521933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20603050405020304" pitchFamily="34" charset="0"/>
              </a:rPr>
              <a:t>预期</a:t>
            </a:r>
            <a:r>
              <a:rPr lang="zh-CN" altLang="en-US" sz="6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Aparajita" panose="02020603050405020304" pitchFamily="34" charset="0"/>
              </a:rPr>
              <a:t>成果</a:t>
            </a:r>
            <a:endParaRPr lang="zh-CN" altLang="en-US" sz="600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Aparajita" panose="020206030504050203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 rot="16200000">
            <a:off x="5548532" y="1753573"/>
            <a:ext cx="1659890" cy="1743823"/>
          </a:xfrm>
          <a:prstGeom prst="rect">
            <a:avLst/>
          </a:prstGeom>
          <a:noFill/>
        </p:spPr>
        <p:txBody>
          <a:bodyPr vert="eaVert"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Light" panose="020B0502040204020203" pitchFamily="34" charset="0"/>
              </a:defRPr>
            </a:lvl1pPr>
          </a:lstStyle>
          <a:p>
            <a:pPr>
              <a:defRPr/>
            </a:pPr>
            <a:r>
              <a:rPr lang="en-US" altLang="zh-CN" sz="9600" i="1">
                <a:solidFill>
                  <a:schemeClr val="tx2"/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思源宋體 Heavy" panose="02020900000000000000" charset="-120"/>
                <a:ea typeface="思源宋體 Heavy" panose="02020900000000000000" charset="-120"/>
                <a:cs typeface="+mn-cs"/>
              </a:rPr>
              <a:t>05.</a:t>
            </a:r>
            <a:endParaRPr lang="zh-CN" altLang="en-US" sz="9600" i="1">
              <a:solidFill>
                <a:schemeClr val="tx2"/>
              </a:solidFill>
              <a:effectLst>
                <a:outerShdw blurRad="25400" dist="25400" dir="2700000" algn="tl">
                  <a:srgbClr val="000000">
                    <a:alpha val="15000"/>
                  </a:srgbClr>
                </a:outerShdw>
              </a:effectLst>
              <a:latin typeface="思源宋體 Heavy" panose="02020900000000000000" charset="-120"/>
              <a:ea typeface="思源宋體 Heavy" panose="02020900000000000000" charset="-120"/>
              <a:cs typeface="+mn-cs"/>
            </a:endParaRPr>
          </a:p>
        </p:txBody>
      </p:sp>
      <p:pic>
        <p:nvPicPr>
          <p:cNvPr id="11" name="图片 10" descr="D:/桌面/图片/6.png6"/>
          <p:cNvPicPr>
            <a:picLocks noChangeAspect="1"/>
          </p:cNvPicPr>
          <p:nvPr/>
        </p:nvPicPr>
        <p:blipFill>
          <a:blip r:embed="rId1"/>
          <a:srcRect t="12531" b="12531"/>
          <a:stretch>
            <a:fillRect/>
          </a:stretch>
        </p:blipFill>
        <p:spPr>
          <a:xfrm>
            <a:off x="1995537" y="1796542"/>
            <a:ext cx="3060700" cy="3060700"/>
          </a:xfrm>
          <a:prstGeom prst="roundRect">
            <a:avLst>
              <a:gd name="adj" fmla="val 714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-7461" b="-14041"/>
            </a:stretch>
          </a:blipFill>
          <a:ln>
            <a:noFill/>
          </a:ln>
          <a:effectLst>
            <a:innerShdw blurRad="101600" dist="50800" dir="13500000">
              <a:prstClr val="black">
                <a:alpha val="30000"/>
              </a:prstClr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1207688" y="1669411"/>
            <a:ext cx="10739795" cy="4019829"/>
            <a:chOff x="1448988" y="1898011"/>
            <a:chExt cx="10739795" cy="4019829"/>
          </a:xfrm>
        </p:grpSpPr>
        <p:sp>
          <p:nvSpPr>
            <p:cNvPr id="4" name="任意多边形: 形状 3"/>
            <p:cNvSpPr/>
            <p:nvPr/>
          </p:nvSpPr>
          <p:spPr bwMode="auto">
            <a:xfrm>
              <a:off x="1448988" y="1899757"/>
              <a:ext cx="3996497" cy="3992958"/>
            </a:xfrm>
            <a:custGeom>
              <a:avLst/>
              <a:gdLst>
                <a:gd name="connsiteX0" fmla="*/ 2001155 w 3996497"/>
                <a:gd name="connsiteY0" fmla="*/ 3170511 h 3992958"/>
                <a:gd name="connsiteX1" fmla="*/ 1795206 w 3996497"/>
                <a:gd name="connsiteY1" fmla="*/ 3293606 h 3992958"/>
                <a:gd name="connsiteX2" fmla="*/ 1583337 w 3996497"/>
                <a:gd name="connsiteY2" fmla="*/ 3397167 h 3992958"/>
                <a:gd name="connsiteX3" fmla="*/ 1500797 w 3996497"/>
                <a:gd name="connsiteY3" fmla="*/ 3427984 h 3992958"/>
                <a:gd name="connsiteX4" fmla="*/ 1558615 w 3996497"/>
                <a:gd name="connsiteY4" fmla="*/ 3529315 h 3992958"/>
                <a:gd name="connsiteX5" fmla="*/ 2001790 w 3996497"/>
                <a:gd name="connsiteY5" fmla="*/ 3850607 h 3992958"/>
                <a:gd name="connsiteX6" fmla="*/ 2444964 w 3996497"/>
                <a:gd name="connsiteY6" fmla="*/ 3529315 h 3992958"/>
                <a:gd name="connsiteX7" fmla="*/ 2502559 w 3996497"/>
                <a:gd name="connsiteY7" fmla="*/ 3428374 h 3992958"/>
                <a:gd name="connsiteX8" fmla="*/ 2418974 w 3996497"/>
                <a:gd name="connsiteY8" fmla="*/ 3397167 h 3992958"/>
                <a:gd name="connsiteX9" fmla="*/ 2207104 w 3996497"/>
                <a:gd name="connsiteY9" fmla="*/ 3293606 h 3992958"/>
                <a:gd name="connsiteX10" fmla="*/ 1816477 w 3996497"/>
                <a:gd name="connsiteY10" fmla="*/ 2926737 h 3992958"/>
                <a:gd name="connsiteX11" fmla="*/ 1825074 w 3996497"/>
                <a:gd name="connsiteY11" fmla="*/ 2933763 h 3992958"/>
                <a:gd name="connsiteX12" fmla="*/ 2001156 w 3996497"/>
                <a:gd name="connsiteY12" fmla="*/ 3058598 h 3992958"/>
                <a:gd name="connsiteX13" fmla="*/ 2177237 w 3996497"/>
                <a:gd name="connsiteY13" fmla="*/ 2933763 h 3992958"/>
                <a:gd name="connsiteX14" fmla="*/ 2185799 w 3996497"/>
                <a:gd name="connsiteY14" fmla="*/ 2926766 h 3992958"/>
                <a:gd name="connsiteX15" fmla="*/ 2001811 w 3996497"/>
                <a:gd name="connsiteY15" fmla="*/ 2931000 h 3992958"/>
                <a:gd name="connsiteX16" fmla="*/ 1302072 w 3996497"/>
                <a:gd name="connsiteY16" fmla="*/ 2872553 h 3992958"/>
                <a:gd name="connsiteX17" fmla="*/ 1342153 w 3996497"/>
                <a:gd name="connsiteY17" fmla="*/ 3024857 h 3992958"/>
                <a:gd name="connsiteX18" fmla="*/ 1440205 w 3996497"/>
                <a:gd name="connsiteY18" fmla="*/ 3300774 h 3992958"/>
                <a:gd name="connsiteX19" fmla="*/ 1460941 w 3996497"/>
                <a:gd name="connsiteY19" fmla="*/ 3344778 h 3992958"/>
                <a:gd name="connsiteX20" fmla="*/ 1557385 w 3996497"/>
                <a:gd name="connsiteY20" fmla="*/ 3308081 h 3992958"/>
                <a:gd name="connsiteX21" fmla="*/ 1760436 w 3996497"/>
                <a:gd name="connsiteY21" fmla="*/ 3207368 h 3992958"/>
                <a:gd name="connsiteX22" fmla="*/ 1917497 w 3996497"/>
                <a:gd name="connsiteY22" fmla="*/ 3112569 h 3992958"/>
                <a:gd name="connsiteX23" fmla="*/ 1773921 w 3996497"/>
                <a:gd name="connsiteY23" fmla="*/ 3011221 h 3992958"/>
                <a:gd name="connsiteX24" fmla="*/ 1658500 w 3996497"/>
                <a:gd name="connsiteY24" fmla="*/ 2916716 h 3992958"/>
                <a:gd name="connsiteX25" fmla="*/ 1594678 w 3996497"/>
                <a:gd name="connsiteY25" fmla="*/ 2912262 h 3992958"/>
                <a:gd name="connsiteX26" fmla="*/ 1354788 w 3996497"/>
                <a:gd name="connsiteY26" fmla="*/ 2882483 h 3992958"/>
                <a:gd name="connsiteX27" fmla="*/ 2701552 w 3996497"/>
                <a:gd name="connsiteY27" fmla="*/ 2872382 h 3992958"/>
                <a:gd name="connsiteX28" fmla="*/ 2648071 w 3996497"/>
                <a:gd name="connsiteY28" fmla="*/ 2882483 h 3992958"/>
                <a:gd name="connsiteX29" fmla="*/ 2408637 w 3996497"/>
                <a:gd name="connsiteY29" fmla="*/ 2912262 h 3992958"/>
                <a:gd name="connsiteX30" fmla="*/ 2343711 w 3996497"/>
                <a:gd name="connsiteY30" fmla="*/ 2916798 h 3992958"/>
                <a:gd name="connsiteX31" fmla="*/ 2228390 w 3996497"/>
                <a:gd name="connsiteY31" fmla="*/ 3011221 h 3992958"/>
                <a:gd name="connsiteX32" fmla="*/ 2084814 w 3996497"/>
                <a:gd name="connsiteY32" fmla="*/ 3112569 h 3992958"/>
                <a:gd name="connsiteX33" fmla="*/ 2241875 w 3996497"/>
                <a:gd name="connsiteY33" fmla="*/ 3207368 h 3992958"/>
                <a:gd name="connsiteX34" fmla="*/ 2444927 w 3996497"/>
                <a:gd name="connsiteY34" fmla="*/ 3308081 h 3992958"/>
                <a:gd name="connsiteX35" fmla="*/ 2542446 w 3996497"/>
                <a:gd name="connsiteY35" fmla="*/ 3345187 h 3992958"/>
                <a:gd name="connsiteX36" fmla="*/ 2563374 w 3996497"/>
                <a:gd name="connsiteY36" fmla="*/ 3300774 h 3992958"/>
                <a:gd name="connsiteX37" fmla="*/ 2661426 w 3996497"/>
                <a:gd name="connsiteY37" fmla="*/ 3024857 h 3992958"/>
                <a:gd name="connsiteX38" fmla="*/ 602560 w 3996497"/>
                <a:gd name="connsiteY38" fmla="*/ 2668123 h 3992958"/>
                <a:gd name="connsiteX39" fmla="*/ 601861 w 3996497"/>
                <a:gd name="connsiteY39" fmla="*/ 2670173 h 3992958"/>
                <a:gd name="connsiteX40" fmla="*/ 667391 w 3996497"/>
                <a:gd name="connsiteY40" fmla="*/ 3322945 h 3992958"/>
                <a:gd name="connsiteX41" fmla="*/ 1009747 w 3996497"/>
                <a:gd name="connsiteY41" fmla="*/ 3443856 h 3992958"/>
                <a:gd name="connsiteX42" fmla="*/ 1268897 w 3996497"/>
                <a:gd name="connsiteY42" fmla="*/ 3408881 h 3992958"/>
                <a:gd name="connsiteX43" fmla="*/ 1325020 w 3996497"/>
                <a:gd name="connsiteY43" fmla="*/ 3392913 h 3992958"/>
                <a:gd name="connsiteX44" fmla="*/ 1274044 w 3996497"/>
                <a:gd name="connsiteY44" fmla="*/ 3273430 h 3992958"/>
                <a:gd name="connsiteX45" fmla="*/ 1173816 w 3996497"/>
                <a:gd name="connsiteY45" fmla="*/ 2955113 h 3992958"/>
                <a:gd name="connsiteX46" fmla="*/ 1148962 w 3996497"/>
                <a:gd name="connsiteY46" fmla="*/ 2843715 h 3992958"/>
                <a:gd name="connsiteX47" fmla="*/ 1128329 w 3996497"/>
                <a:gd name="connsiteY47" fmla="*/ 2839829 h 3992958"/>
                <a:gd name="connsiteX48" fmla="*/ 723125 w 3996497"/>
                <a:gd name="connsiteY48" fmla="*/ 2719314 h 3992958"/>
                <a:gd name="connsiteX49" fmla="*/ 3402965 w 3996497"/>
                <a:gd name="connsiteY49" fmla="*/ 2665834 h 3992958"/>
                <a:gd name="connsiteX50" fmla="*/ 3277599 w 3996497"/>
                <a:gd name="connsiteY50" fmla="*/ 2719314 h 3992958"/>
                <a:gd name="connsiteX51" fmla="*/ 2873919 w 3996497"/>
                <a:gd name="connsiteY51" fmla="*/ 2839829 h 3992958"/>
                <a:gd name="connsiteX52" fmla="*/ 2854674 w 3996497"/>
                <a:gd name="connsiteY52" fmla="*/ 2843464 h 3992958"/>
                <a:gd name="connsiteX53" fmla="*/ 2829764 w 3996497"/>
                <a:gd name="connsiteY53" fmla="*/ 2955113 h 3992958"/>
                <a:gd name="connsiteX54" fmla="*/ 2729535 w 3996497"/>
                <a:gd name="connsiteY54" fmla="*/ 3273430 h 3992958"/>
                <a:gd name="connsiteX55" fmla="*/ 2678422 w 3996497"/>
                <a:gd name="connsiteY55" fmla="*/ 3393235 h 3992958"/>
                <a:gd name="connsiteX56" fmla="*/ 2733414 w 3996497"/>
                <a:gd name="connsiteY56" fmla="*/ 3408881 h 3992958"/>
                <a:gd name="connsiteX57" fmla="*/ 2992563 w 3996497"/>
                <a:gd name="connsiteY57" fmla="*/ 3443856 h 3992958"/>
                <a:gd name="connsiteX58" fmla="*/ 3334920 w 3996497"/>
                <a:gd name="connsiteY58" fmla="*/ 3322945 h 3992958"/>
                <a:gd name="connsiteX59" fmla="*/ 3403318 w 3996497"/>
                <a:gd name="connsiteY59" fmla="*/ 2666817 h 3992958"/>
                <a:gd name="connsiteX60" fmla="*/ 1238609 w 3996497"/>
                <a:gd name="connsiteY60" fmla="*/ 2520851 h 3992958"/>
                <a:gd name="connsiteX61" fmla="*/ 1240730 w 3996497"/>
                <a:gd name="connsiteY61" fmla="*/ 2539667 h 3992958"/>
                <a:gd name="connsiteX62" fmla="*/ 1267880 w 3996497"/>
                <a:gd name="connsiteY62" fmla="*/ 2709571 h 3992958"/>
                <a:gd name="connsiteX63" fmla="*/ 1270403 w 3996497"/>
                <a:gd name="connsiteY63" fmla="*/ 2721614 h 3992958"/>
                <a:gd name="connsiteX64" fmla="*/ 1457225 w 3996497"/>
                <a:gd name="connsiteY64" fmla="*/ 2752565 h 3992958"/>
                <a:gd name="connsiteX65" fmla="*/ 1473300 w 3996497"/>
                <a:gd name="connsiteY65" fmla="*/ 2754378 h 3992958"/>
                <a:gd name="connsiteX66" fmla="*/ 1352104 w 3996497"/>
                <a:gd name="connsiteY66" fmla="*/ 2640153 h 3992958"/>
                <a:gd name="connsiteX67" fmla="*/ 2765381 w 3996497"/>
                <a:gd name="connsiteY67" fmla="*/ 2517200 h 3992958"/>
                <a:gd name="connsiteX68" fmla="*/ 2650207 w 3996497"/>
                <a:gd name="connsiteY68" fmla="*/ 2640153 h 3992958"/>
                <a:gd name="connsiteX69" fmla="*/ 2528833 w 3996497"/>
                <a:gd name="connsiteY69" fmla="*/ 2754546 h 3992958"/>
                <a:gd name="connsiteX70" fmla="*/ 2546396 w 3996497"/>
                <a:gd name="connsiteY70" fmla="*/ 2752565 h 3992958"/>
                <a:gd name="connsiteX71" fmla="*/ 2733175 w 3996497"/>
                <a:gd name="connsiteY71" fmla="*/ 2721621 h 3992958"/>
                <a:gd name="connsiteX72" fmla="*/ 2735699 w 3996497"/>
                <a:gd name="connsiteY72" fmla="*/ 2709571 h 3992958"/>
                <a:gd name="connsiteX73" fmla="*/ 2762849 w 3996497"/>
                <a:gd name="connsiteY73" fmla="*/ 2539667 h 3992958"/>
                <a:gd name="connsiteX74" fmla="*/ 3121721 w 3996497"/>
                <a:gd name="connsiteY74" fmla="*/ 2080763 h 3992958"/>
                <a:gd name="connsiteX75" fmla="*/ 3041831 w 3996497"/>
                <a:gd name="connsiteY75" fmla="*/ 2192337 h 3992958"/>
                <a:gd name="connsiteX76" fmla="*/ 2927654 w 3996497"/>
                <a:gd name="connsiteY76" fmla="*/ 2332763 h 3992958"/>
                <a:gd name="connsiteX77" fmla="*/ 2922848 w 3996497"/>
                <a:gd name="connsiteY77" fmla="*/ 2401736 h 3992958"/>
                <a:gd name="connsiteX78" fmla="*/ 2900038 w 3996497"/>
                <a:gd name="connsiteY78" fmla="*/ 2595092 h 3992958"/>
                <a:gd name="connsiteX79" fmla="*/ 2884259 w 3996497"/>
                <a:gd name="connsiteY79" fmla="*/ 2688616 h 3992958"/>
                <a:gd name="connsiteX80" fmla="*/ 2955988 w 3996497"/>
                <a:gd name="connsiteY80" fmla="*/ 2672225 h 3992958"/>
                <a:gd name="connsiteX81" fmla="*/ 3308152 w 3996497"/>
                <a:gd name="connsiteY81" fmla="*/ 2553466 h 3992958"/>
                <a:gd name="connsiteX82" fmla="*/ 3354704 w 3996497"/>
                <a:gd name="connsiteY82" fmla="*/ 2531657 h 3992958"/>
                <a:gd name="connsiteX83" fmla="*/ 3340472 w 3996497"/>
                <a:gd name="connsiteY83" fmla="*/ 2492089 h 3992958"/>
                <a:gd name="connsiteX84" fmla="*/ 3146728 w 3996497"/>
                <a:gd name="connsiteY84" fmla="*/ 2119065 h 3992958"/>
                <a:gd name="connsiteX85" fmla="*/ 878484 w 3996497"/>
                <a:gd name="connsiteY85" fmla="*/ 2080540 h 3992958"/>
                <a:gd name="connsiteX86" fmla="*/ 855244 w 3996497"/>
                <a:gd name="connsiteY86" fmla="*/ 2116252 h 3992958"/>
                <a:gd name="connsiteX87" fmla="*/ 736843 w 3996497"/>
                <a:gd name="connsiteY87" fmla="*/ 2330010 h 3992958"/>
                <a:gd name="connsiteX88" fmla="*/ 649688 w 3996497"/>
                <a:gd name="connsiteY88" fmla="*/ 2532018 h 3992958"/>
                <a:gd name="connsiteX89" fmla="*/ 695469 w 3996497"/>
                <a:gd name="connsiteY89" fmla="*/ 2553466 h 3992958"/>
                <a:gd name="connsiteX90" fmla="*/ 1047634 w 3996497"/>
                <a:gd name="connsiteY90" fmla="*/ 2672225 h 3992958"/>
                <a:gd name="connsiteX91" fmla="*/ 1119319 w 3996497"/>
                <a:gd name="connsiteY91" fmla="*/ 2688606 h 3992958"/>
                <a:gd name="connsiteX92" fmla="*/ 1103541 w 3996497"/>
                <a:gd name="connsiteY92" fmla="*/ 2595092 h 3992958"/>
                <a:gd name="connsiteX93" fmla="*/ 1080731 w 3996497"/>
                <a:gd name="connsiteY93" fmla="*/ 2401736 h 3992958"/>
                <a:gd name="connsiteX94" fmla="*/ 1076247 w 3996497"/>
                <a:gd name="connsiteY94" fmla="*/ 2337374 h 3992958"/>
                <a:gd name="connsiteX95" fmla="*/ 975854 w 3996497"/>
                <a:gd name="connsiteY95" fmla="*/ 2215201 h 3992958"/>
                <a:gd name="connsiteX96" fmla="*/ 2937590 w 3996497"/>
                <a:gd name="connsiteY96" fmla="*/ 1818244 h 3992958"/>
                <a:gd name="connsiteX97" fmla="*/ 2941621 w 3996497"/>
                <a:gd name="connsiteY97" fmla="*/ 1992920 h 3992958"/>
                <a:gd name="connsiteX98" fmla="*/ 2937447 w 3996497"/>
                <a:gd name="connsiteY98" fmla="*/ 2174896 h 3992958"/>
                <a:gd name="connsiteX99" fmla="*/ 2952784 w 3996497"/>
                <a:gd name="connsiteY99" fmla="*/ 2155627 h 3992958"/>
                <a:gd name="connsiteX100" fmla="*/ 3055084 w 3996497"/>
                <a:gd name="connsiteY100" fmla="*/ 2014261 h 3992958"/>
                <a:gd name="connsiteX101" fmla="*/ 3066693 w 3996497"/>
                <a:gd name="connsiteY101" fmla="*/ 1996480 h 3992958"/>
                <a:gd name="connsiteX102" fmla="*/ 3055084 w 3996497"/>
                <a:gd name="connsiteY102" fmla="*/ 1978699 h 3992958"/>
                <a:gd name="connsiteX103" fmla="*/ 2952784 w 3996497"/>
                <a:gd name="connsiteY103" fmla="*/ 1837333 h 3992958"/>
                <a:gd name="connsiteX104" fmla="*/ 1066109 w 3996497"/>
                <a:gd name="connsiteY104" fmla="*/ 1813047 h 3992958"/>
                <a:gd name="connsiteX105" fmla="*/ 1051581 w 3996497"/>
                <a:gd name="connsiteY105" fmla="*/ 1831145 h 3992958"/>
                <a:gd name="connsiteX106" fmla="*/ 948230 w 3996497"/>
                <a:gd name="connsiteY106" fmla="*/ 1973365 h 3992958"/>
                <a:gd name="connsiteX107" fmla="*/ 934908 w 3996497"/>
                <a:gd name="connsiteY107" fmla="*/ 1993837 h 3992958"/>
                <a:gd name="connsiteX108" fmla="*/ 948230 w 3996497"/>
                <a:gd name="connsiteY108" fmla="*/ 2014261 h 3992958"/>
                <a:gd name="connsiteX109" fmla="*/ 1051581 w 3996497"/>
                <a:gd name="connsiteY109" fmla="*/ 2156815 h 3992958"/>
                <a:gd name="connsiteX110" fmla="*/ 1066137 w 3996497"/>
                <a:gd name="connsiteY110" fmla="*/ 2175076 h 3992958"/>
                <a:gd name="connsiteX111" fmla="*/ 1061958 w 3996497"/>
                <a:gd name="connsiteY111" fmla="*/ 1992920 h 3992958"/>
                <a:gd name="connsiteX112" fmla="*/ 561551 w 3996497"/>
                <a:gd name="connsiteY112" fmla="*/ 1499375 h 3992958"/>
                <a:gd name="connsiteX113" fmla="*/ 465933 w 3996497"/>
                <a:gd name="connsiteY113" fmla="*/ 1553721 h 3992958"/>
                <a:gd name="connsiteX114" fmla="*/ 142478 w 3996497"/>
                <a:gd name="connsiteY114" fmla="*/ 1992938 h 3992958"/>
                <a:gd name="connsiteX115" fmla="*/ 465933 w 3996497"/>
                <a:gd name="connsiteY115" fmla="*/ 2435278 h 3992958"/>
                <a:gd name="connsiteX116" fmla="*/ 560568 w 3996497"/>
                <a:gd name="connsiteY116" fmla="*/ 2488917 h 3992958"/>
                <a:gd name="connsiteX117" fmla="*/ 650829 w 3996497"/>
                <a:gd name="connsiteY117" fmla="*/ 2289744 h 3992958"/>
                <a:gd name="connsiteX118" fmla="*/ 774057 w 3996497"/>
                <a:gd name="connsiteY118" fmla="*/ 2070063 h 3992958"/>
                <a:gd name="connsiteX119" fmla="*/ 822478 w 3996497"/>
                <a:gd name="connsiteY119" fmla="*/ 1995509 h 3992958"/>
                <a:gd name="connsiteX120" fmla="*/ 774057 w 3996497"/>
                <a:gd name="connsiteY120" fmla="*/ 1920786 h 3992958"/>
                <a:gd name="connsiteX121" fmla="*/ 650829 w 3996497"/>
                <a:gd name="connsiteY121" fmla="*/ 1699355 h 3992958"/>
                <a:gd name="connsiteX122" fmla="*/ 3441270 w 3996497"/>
                <a:gd name="connsiteY122" fmla="*/ 1498920 h 3992958"/>
                <a:gd name="connsiteX123" fmla="*/ 3355722 w 3996497"/>
                <a:gd name="connsiteY123" fmla="*/ 1691724 h 3992958"/>
                <a:gd name="connsiteX124" fmla="*/ 3244823 w 3996497"/>
                <a:gd name="connsiteY124" fmla="*/ 1893098 h 3992958"/>
                <a:gd name="connsiteX125" fmla="*/ 3180894 w 3996497"/>
                <a:gd name="connsiteY125" fmla="*/ 1992924 h 3992958"/>
                <a:gd name="connsiteX126" fmla="*/ 3244823 w 3996497"/>
                <a:gd name="connsiteY126" fmla="*/ 2092749 h 3992958"/>
                <a:gd name="connsiteX127" fmla="*/ 3442239 w 3996497"/>
                <a:gd name="connsiteY127" fmla="*/ 2489113 h 3992958"/>
                <a:gd name="connsiteX128" fmla="*/ 3442313 w 3996497"/>
                <a:gd name="connsiteY128" fmla="*/ 2489336 h 3992958"/>
                <a:gd name="connsiteX129" fmla="*/ 3537689 w 3996497"/>
                <a:gd name="connsiteY129" fmla="*/ 2435278 h 3992958"/>
                <a:gd name="connsiteX130" fmla="*/ 3861143 w 3996497"/>
                <a:gd name="connsiteY130" fmla="*/ 1992938 h 3992958"/>
                <a:gd name="connsiteX131" fmla="*/ 3537689 w 3996497"/>
                <a:gd name="connsiteY131" fmla="*/ 1553721 h 3992958"/>
                <a:gd name="connsiteX132" fmla="*/ 1119711 w 3996497"/>
                <a:gd name="connsiteY132" fmla="*/ 1298635 h 3992958"/>
                <a:gd name="connsiteX133" fmla="*/ 1047634 w 3996497"/>
                <a:gd name="connsiteY133" fmla="*/ 1315305 h 3992958"/>
                <a:gd name="connsiteX134" fmla="*/ 695469 w 3996497"/>
                <a:gd name="connsiteY134" fmla="*/ 1435076 h 3992958"/>
                <a:gd name="connsiteX135" fmla="*/ 648170 w 3996497"/>
                <a:gd name="connsiteY135" fmla="*/ 1457347 h 3992958"/>
                <a:gd name="connsiteX136" fmla="*/ 736843 w 3996497"/>
                <a:gd name="connsiteY136" fmla="*/ 1659700 h 3992958"/>
                <a:gd name="connsiteX137" fmla="*/ 855244 w 3996497"/>
                <a:gd name="connsiteY137" fmla="*/ 1871707 h 3992958"/>
                <a:gd name="connsiteX138" fmla="*/ 879607 w 3996497"/>
                <a:gd name="connsiteY138" fmla="*/ 1909058 h 3992958"/>
                <a:gd name="connsiteX139" fmla="*/ 975854 w 3996497"/>
                <a:gd name="connsiteY139" fmla="*/ 1775648 h 3992958"/>
                <a:gd name="connsiteX140" fmla="*/ 1076092 w 3996497"/>
                <a:gd name="connsiteY140" fmla="*/ 1652676 h 3992958"/>
                <a:gd name="connsiteX141" fmla="*/ 1080731 w 3996497"/>
                <a:gd name="connsiteY141" fmla="*/ 1586454 h 3992958"/>
                <a:gd name="connsiteX142" fmla="*/ 1103541 w 3996497"/>
                <a:gd name="connsiteY142" fmla="*/ 1394049 h 3992958"/>
                <a:gd name="connsiteX143" fmla="*/ 2883867 w 3996497"/>
                <a:gd name="connsiteY143" fmla="*/ 1298625 h 3992958"/>
                <a:gd name="connsiteX144" fmla="*/ 2900038 w 3996497"/>
                <a:gd name="connsiteY144" fmla="*/ 1394049 h 3992958"/>
                <a:gd name="connsiteX145" fmla="*/ 2922848 w 3996497"/>
                <a:gd name="connsiteY145" fmla="*/ 1586454 h 3992958"/>
                <a:gd name="connsiteX146" fmla="*/ 2927503 w 3996497"/>
                <a:gd name="connsiteY146" fmla="*/ 1652900 h 3992958"/>
                <a:gd name="connsiteX147" fmla="*/ 3041831 w 3996497"/>
                <a:gd name="connsiteY147" fmla="*/ 1793511 h 3992958"/>
                <a:gd name="connsiteX148" fmla="*/ 3124150 w 3996497"/>
                <a:gd name="connsiteY148" fmla="*/ 1908477 h 3992958"/>
                <a:gd name="connsiteX149" fmla="*/ 3146728 w 3996497"/>
                <a:gd name="connsiteY149" fmla="*/ 1873895 h 3992958"/>
                <a:gd name="connsiteX150" fmla="*/ 3340472 w 3996497"/>
                <a:gd name="connsiteY150" fmla="*/ 1500871 h 3992958"/>
                <a:gd name="connsiteX151" fmla="*/ 3356029 w 3996497"/>
                <a:gd name="connsiteY151" fmla="*/ 1457619 h 3992958"/>
                <a:gd name="connsiteX152" fmla="*/ 3308152 w 3996497"/>
                <a:gd name="connsiteY152" fmla="*/ 1435076 h 3992958"/>
                <a:gd name="connsiteX153" fmla="*/ 2955988 w 3996497"/>
                <a:gd name="connsiteY153" fmla="*/ 1315305 h 3992958"/>
                <a:gd name="connsiteX154" fmla="*/ 1474233 w 3996497"/>
                <a:gd name="connsiteY154" fmla="*/ 1231972 h 3992958"/>
                <a:gd name="connsiteX155" fmla="*/ 1457225 w 3996497"/>
                <a:gd name="connsiteY155" fmla="*/ 1233920 h 3992958"/>
                <a:gd name="connsiteX156" fmla="*/ 1271075 w 3996497"/>
                <a:gd name="connsiteY156" fmla="*/ 1265198 h 3992958"/>
                <a:gd name="connsiteX157" fmla="*/ 1267880 w 3996497"/>
                <a:gd name="connsiteY157" fmla="*/ 1280385 h 3992958"/>
                <a:gd name="connsiteX158" fmla="*/ 1240730 w 3996497"/>
                <a:gd name="connsiteY158" fmla="*/ 1449474 h 3992958"/>
                <a:gd name="connsiteX159" fmla="*/ 1238781 w 3996497"/>
                <a:gd name="connsiteY159" fmla="*/ 1466672 h 3992958"/>
                <a:gd name="connsiteX160" fmla="*/ 1352104 w 3996497"/>
                <a:gd name="connsiteY160" fmla="*/ 1345695 h 3992958"/>
                <a:gd name="connsiteX161" fmla="*/ 2527894 w 3996497"/>
                <a:gd name="connsiteY161" fmla="*/ 1231800 h 3992958"/>
                <a:gd name="connsiteX162" fmla="*/ 2650207 w 3996497"/>
                <a:gd name="connsiteY162" fmla="*/ 1345695 h 3992958"/>
                <a:gd name="connsiteX163" fmla="*/ 2764973 w 3996497"/>
                <a:gd name="connsiteY163" fmla="*/ 1468212 h 3992958"/>
                <a:gd name="connsiteX164" fmla="*/ 2762849 w 3996497"/>
                <a:gd name="connsiteY164" fmla="*/ 1449474 h 3992958"/>
                <a:gd name="connsiteX165" fmla="*/ 2735699 w 3996497"/>
                <a:gd name="connsiteY165" fmla="*/ 1280385 h 3992958"/>
                <a:gd name="connsiteX166" fmla="*/ 2732502 w 3996497"/>
                <a:gd name="connsiteY166" fmla="*/ 1265190 h 3992958"/>
                <a:gd name="connsiteX167" fmla="*/ 2546396 w 3996497"/>
                <a:gd name="connsiteY167" fmla="*/ 1233920 h 3992958"/>
                <a:gd name="connsiteX168" fmla="*/ 2001811 w 3996497"/>
                <a:gd name="connsiteY168" fmla="*/ 1197007 h 3992958"/>
                <a:gd name="connsiteX169" fmla="*/ 1815398 w 3996497"/>
                <a:gd name="connsiteY169" fmla="*/ 1201261 h 3992958"/>
                <a:gd name="connsiteX170" fmla="*/ 1636230 w 3996497"/>
                <a:gd name="connsiteY170" fmla="*/ 1213533 h 3992958"/>
                <a:gd name="connsiteX171" fmla="*/ 1618010 w 3996497"/>
                <a:gd name="connsiteY171" fmla="*/ 1228423 h 3992958"/>
                <a:gd name="connsiteX172" fmla="*/ 1416296 w 3996497"/>
                <a:gd name="connsiteY172" fmla="*/ 1416819 h 3992958"/>
                <a:gd name="connsiteX173" fmla="*/ 1286366 w 3996497"/>
                <a:gd name="connsiteY173" fmla="*/ 1552038 h 3992958"/>
                <a:gd name="connsiteX174" fmla="*/ 1220717 w 3996497"/>
                <a:gd name="connsiteY174" fmla="*/ 1626614 h 3992958"/>
                <a:gd name="connsiteX175" fmla="*/ 1208541 w 3996497"/>
                <a:gd name="connsiteY175" fmla="*/ 1806753 h 3992958"/>
                <a:gd name="connsiteX176" fmla="*/ 1204357 w 3996497"/>
                <a:gd name="connsiteY176" fmla="*/ 1992920 h 3992958"/>
                <a:gd name="connsiteX177" fmla="*/ 1220808 w 3996497"/>
                <a:gd name="connsiteY177" fmla="*/ 2362923 h 3992958"/>
                <a:gd name="connsiteX178" fmla="*/ 1220846 w 3996497"/>
                <a:gd name="connsiteY178" fmla="*/ 2363264 h 3992958"/>
                <a:gd name="connsiteX179" fmla="*/ 1286366 w 3996497"/>
                <a:gd name="connsiteY179" fmla="*/ 2438589 h 3992958"/>
                <a:gd name="connsiteX180" fmla="*/ 1416296 w 3996497"/>
                <a:gd name="connsiteY180" fmla="*/ 2576142 h 3992958"/>
                <a:gd name="connsiteX181" fmla="*/ 1618010 w 3996497"/>
                <a:gd name="connsiteY181" fmla="*/ 2764537 h 3992958"/>
                <a:gd name="connsiteX182" fmla="*/ 1626758 w 3996497"/>
                <a:gd name="connsiteY182" fmla="*/ 2771686 h 3992958"/>
                <a:gd name="connsiteX183" fmla="*/ 1633525 w 3996497"/>
                <a:gd name="connsiteY183" fmla="*/ 2772450 h 3992958"/>
                <a:gd name="connsiteX184" fmla="*/ 2001811 w 3996497"/>
                <a:gd name="connsiteY184" fmla="*/ 2788870 h 3992958"/>
                <a:gd name="connsiteX185" fmla="*/ 2370096 w 3996497"/>
                <a:gd name="connsiteY185" fmla="*/ 2772450 h 3992958"/>
                <a:gd name="connsiteX186" fmla="*/ 2375343 w 3996497"/>
                <a:gd name="connsiteY186" fmla="*/ 2771858 h 3992958"/>
                <a:gd name="connsiteX187" fmla="*/ 2384301 w 3996497"/>
                <a:gd name="connsiteY187" fmla="*/ 2764537 h 3992958"/>
                <a:gd name="connsiteX188" fmla="*/ 2586015 w 3996497"/>
                <a:gd name="connsiteY188" fmla="*/ 2576142 h 3992958"/>
                <a:gd name="connsiteX189" fmla="*/ 2717841 w 3996497"/>
                <a:gd name="connsiteY189" fmla="*/ 2437526 h 3992958"/>
                <a:gd name="connsiteX190" fmla="*/ 2782762 w 3996497"/>
                <a:gd name="connsiteY190" fmla="*/ 2363005 h 3992958"/>
                <a:gd name="connsiteX191" fmla="*/ 2782771 w 3996497"/>
                <a:gd name="connsiteY191" fmla="*/ 2362923 h 3992958"/>
                <a:gd name="connsiteX192" fmla="*/ 2799222 w 3996497"/>
                <a:gd name="connsiteY192" fmla="*/ 1992920 h 3992958"/>
                <a:gd name="connsiteX193" fmla="*/ 2795038 w 3996497"/>
                <a:gd name="connsiteY193" fmla="*/ 1806753 h 3992958"/>
                <a:gd name="connsiteX194" fmla="*/ 2783116 w 3996497"/>
                <a:gd name="connsiteY194" fmla="*/ 1630361 h 3992958"/>
                <a:gd name="connsiteX195" fmla="*/ 2717841 w 3996497"/>
                <a:gd name="connsiteY195" fmla="*/ 1555435 h 3992958"/>
                <a:gd name="connsiteX196" fmla="*/ 2586015 w 3996497"/>
                <a:gd name="connsiteY196" fmla="*/ 1416819 h 3992958"/>
                <a:gd name="connsiteX197" fmla="*/ 2384301 w 3996497"/>
                <a:gd name="connsiteY197" fmla="*/ 1228423 h 3992958"/>
                <a:gd name="connsiteX198" fmla="*/ 2365961 w 3996497"/>
                <a:gd name="connsiteY198" fmla="*/ 1213435 h 3992958"/>
                <a:gd name="connsiteX199" fmla="*/ 2188223 w 3996497"/>
                <a:gd name="connsiteY199" fmla="*/ 1201261 h 3992958"/>
                <a:gd name="connsiteX200" fmla="*/ 2001811 w 3996497"/>
                <a:gd name="connsiteY200" fmla="*/ 1197007 h 3992958"/>
                <a:gd name="connsiteX201" fmla="*/ 2001156 w 3996497"/>
                <a:gd name="connsiteY201" fmla="*/ 934363 h 3992958"/>
                <a:gd name="connsiteX202" fmla="*/ 1825446 w 3996497"/>
                <a:gd name="connsiteY202" fmla="*/ 1058933 h 3992958"/>
                <a:gd name="connsiteX203" fmla="*/ 2001811 w 3996497"/>
                <a:gd name="connsiteY203" fmla="*/ 1054876 h 3992958"/>
                <a:gd name="connsiteX204" fmla="*/ 2176823 w 3996497"/>
                <a:gd name="connsiteY204" fmla="*/ 1058904 h 3992958"/>
                <a:gd name="connsiteX205" fmla="*/ 1460627 w 3996497"/>
                <a:gd name="connsiteY205" fmla="*/ 648063 h 3992958"/>
                <a:gd name="connsiteX206" fmla="*/ 1440205 w 3996497"/>
                <a:gd name="connsiteY206" fmla="*/ 691294 h 3992958"/>
                <a:gd name="connsiteX207" fmla="*/ 1342153 w 3996497"/>
                <a:gd name="connsiteY207" fmla="*/ 966364 h 3992958"/>
                <a:gd name="connsiteX208" fmla="*/ 1303399 w 3996497"/>
                <a:gd name="connsiteY208" fmla="*/ 1113073 h 3992958"/>
                <a:gd name="connsiteX209" fmla="*/ 1354788 w 3996497"/>
                <a:gd name="connsiteY209" fmla="*/ 1103394 h 3992958"/>
                <a:gd name="connsiteX210" fmla="*/ 1594678 w 3996497"/>
                <a:gd name="connsiteY210" fmla="*/ 1073614 h 3992958"/>
                <a:gd name="connsiteX211" fmla="*/ 1662729 w 3996497"/>
                <a:gd name="connsiteY211" fmla="*/ 1068865 h 3992958"/>
                <a:gd name="connsiteX212" fmla="*/ 1773921 w 3996497"/>
                <a:gd name="connsiteY212" fmla="*/ 978739 h 3992958"/>
                <a:gd name="connsiteX213" fmla="*/ 1915837 w 3996497"/>
                <a:gd name="connsiteY213" fmla="*/ 879390 h 3992958"/>
                <a:gd name="connsiteX214" fmla="*/ 1760436 w 3996497"/>
                <a:gd name="connsiteY214" fmla="*/ 785592 h 3992958"/>
                <a:gd name="connsiteX215" fmla="*/ 1557385 w 3996497"/>
                <a:gd name="connsiteY215" fmla="*/ 684879 h 3992958"/>
                <a:gd name="connsiteX216" fmla="*/ 2542759 w 3996497"/>
                <a:gd name="connsiteY216" fmla="*/ 647654 h 3992958"/>
                <a:gd name="connsiteX217" fmla="*/ 2444927 w 3996497"/>
                <a:gd name="connsiteY217" fmla="*/ 684879 h 3992958"/>
                <a:gd name="connsiteX218" fmla="*/ 2241875 w 3996497"/>
                <a:gd name="connsiteY218" fmla="*/ 785592 h 3992958"/>
                <a:gd name="connsiteX219" fmla="*/ 2086474 w 3996497"/>
                <a:gd name="connsiteY219" fmla="*/ 879390 h 3992958"/>
                <a:gd name="connsiteX220" fmla="*/ 2228390 w 3996497"/>
                <a:gd name="connsiteY220" fmla="*/ 978739 h 3992958"/>
                <a:gd name="connsiteX221" fmla="*/ 2339480 w 3996497"/>
                <a:gd name="connsiteY221" fmla="*/ 1068782 h 3992958"/>
                <a:gd name="connsiteX222" fmla="*/ 2408637 w 3996497"/>
                <a:gd name="connsiteY222" fmla="*/ 1073614 h 3992958"/>
                <a:gd name="connsiteX223" fmla="*/ 2648071 w 3996497"/>
                <a:gd name="connsiteY223" fmla="*/ 1103394 h 3992958"/>
                <a:gd name="connsiteX224" fmla="*/ 2700226 w 3996497"/>
                <a:gd name="connsiteY224" fmla="*/ 1113244 h 3992958"/>
                <a:gd name="connsiteX225" fmla="*/ 2661426 w 3996497"/>
                <a:gd name="connsiteY225" fmla="*/ 966364 h 3992958"/>
                <a:gd name="connsiteX226" fmla="*/ 2563374 w 3996497"/>
                <a:gd name="connsiteY226" fmla="*/ 691294 h 3992958"/>
                <a:gd name="connsiteX227" fmla="*/ 2992563 w 3996497"/>
                <a:gd name="connsiteY227" fmla="*/ 549104 h 3992958"/>
                <a:gd name="connsiteX228" fmla="*/ 2733414 w 3996497"/>
                <a:gd name="connsiteY228" fmla="*/ 584079 h 3992958"/>
                <a:gd name="connsiteX229" fmla="*/ 2678784 w 3996497"/>
                <a:gd name="connsiteY229" fmla="*/ 599623 h 3992958"/>
                <a:gd name="connsiteX230" fmla="*/ 2729535 w 3996497"/>
                <a:gd name="connsiteY230" fmla="*/ 718262 h 3992958"/>
                <a:gd name="connsiteX231" fmla="*/ 2829764 w 3996497"/>
                <a:gd name="connsiteY231" fmla="*/ 1035532 h 3992958"/>
                <a:gd name="connsiteX232" fmla="*/ 2853661 w 3996497"/>
                <a:gd name="connsiteY232" fmla="*/ 1142222 h 3992958"/>
                <a:gd name="connsiteX233" fmla="*/ 2873919 w 3996497"/>
                <a:gd name="connsiteY233" fmla="*/ 1146048 h 3992958"/>
                <a:gd name="connsiteX234" fmla="*/ 3277599 w 3996497"/>
                <a:gd name="connsiteY234" fmla="*/ 1266563 h 3992958"/>
                <a:gd name="connsiteX235" fmla="*/ 3404598 w 3996497"/>
                <a:gd name="connsiteY235" fmla="*/ 1320740 h 3992958"/>
                <a:gd name="connsiteX236" fmla="*/ 3442068 w 3996497"/>
                <a:gd name="connsiteY236" fmla="*/ 1162594 h 3992958"/>
                <a:gd name="connsiteX237" fmla="*/ 3334920 w 3996497"/>
                <a:gd name="connsiteY237" fmla="*/ 670015 h 3992958"/>
                <a:gd name="connsiteX238" fmla="*/ 2992563 w 3996497"/>
                <a:gd name="connsiteY238" fmla="*/ 549104 h 3992958"/>
                <a:gd name="connsiteX239" fmla="*/ 1009747 w 3996497"/>
                <a:gd name="connsiteY239" fmla="*/ 549104 h 3992958"/>
                <a:gd name="connsiteX240" fmla="*/ 667391 w 3996497"/>
                <a:gd name="connsiteY240" fmla="*/ 670015 h 3992958"/>
                <a:gd name="connsiteX241" fmla="*/ 571103 w 3996497"/>
                <a:gd name="connsiteY241" fmla="*/ 1201113 h 3992958"/>
                <a:gd name="connsiteX242" fmla="*/ 600780 w 3996497"/>
                <a:gd name="connsiteY242" fmla="*/ 1318509 h 3992958"/>
                <a:gd name="connsiteX243" fmla="*/ 723125 w 3996497"/>
                <a:gd name="connsiteY243" fmla="*/ 1266563 h 3992958"/>
                <a:gd name="connsiteX244" fmla="*/ 1128329 w 3996497"/>
                <a:gd name="connsiteY244" fmla="*/ 1146048 h 3992958"/>
                <a:gd name="connsiteX245" fmla="*/ 1149975 w 3996497"/>
                <a:gd name="connsiteY245" fmla="*/ 1141971 h 3992958"/>
                <a:gd name="connsiteX246" fmla="*/ 1173816 w 3996497"/>
                <a:gd name="connsiteY246" fmla="*/ 1035532 h 3992958"/>
                <a:gd name="connsiteX247" fmla="*/ 1274044 w 3996497"/>
                <a:gd name="connsiteY247" fmla="*/ 718262 h 3992958"/>
                <a:gd name="connsiteX248" fmla="*/ 1324657 w 3996497"/>
                <a:gd name="connsiteY248" fmla="*/ 599945 h 3992958"/>
                <a:gd name="connsiteX249" fmla="*/ 1268897 w 3996497"/>
                <a:gd name="connsiteY249" fmla="*/ 584079 h 3992958"/>
                <a:gd name="connsiteX250" fmla="*/ 1009747 w 3996497"/>
                <a:gd name="connsiteY250" fmla="*/ 549104 h 3992958"/>
                <a:gd name="connsiteX251" fmla="*/ 2001790 w 3996497"/>
                <a:gd name="connsiteY251" fmla="*/ 142351 h 3992958"/>
                <a:gd name="connsiteX252" fmla="*/ 1558615 w 3996497"/>
                <a:gd name="connsiteY252" fmla="*/ 463268 h 3992958"/>
                <a:gd name="connsiteX253" fmla="*/ 1500648 w 3996497"/>
                <a:gd name="connsiteY253" fmla="*/ 564653 h 3992958"/>
                <a:gd name="connsiteX254" fmla="*/ 1583337 w 3996497"/>
                <a:gd name="connsiteY254" fmla="*/ 595419 h 3992958"/>
                <a:gd name="connsiteX255" fmla="*/ 1795206 w 3996497"/>
                <a:gd name="connsiteY255" fmla="*/ 698465 h 3992958"/>
                <a:gd name="connsiteX256" fmla="*/ 2001155 w 3996497"/>
                <a:gd name="connsiteY256" fmla="*/ 820754 h 3992958"/>
                <a:gd name="connsiteX257" fmla="*/ 2207104 w 3996497"/>
                <a:gd name="connsiteY257" fmla="*/ 698465 h 3992958"/>
                <a:gd name="connsiteX258" fmla="*/ 2418974 w 3996497"/>
                <a:gd name="connsiteY258" fmla="*/ 595419 h 3992958"/>
                <a:gd name="connsiteX259" fmla="*/ 2502708 w 3996497"/>
                <a:gd name="connsiteY259" fmla="*/ 564264 h 3992958"/>
                <a:gd name="connsiteX260" fmla="*/ 2444964 w 3996497"/>
                <a:gd name="connsiteY260" fmla="*/ 463268 h 3992958"/>
                <a:gd name="connsiteX261" fmla="*/ 2001790 w 3996497"/>
                <a:gd name="connsiteY261" fmla="*/ 142351 h 3992958"/>
                <a:gd name="connsiteX262" fmla="*/ 2001790 w 3996497"/>
                <a:gd name="connsiteY262" fmla="*/ 0 h 3992958"/>
                <a:gd name="connsiteX263" fmla="*/ 2602858 w 3996497"/>
                <a:gd name="connsiteY263" fmla="*/ 449660 h 3992958"/>
                <a:gd name="connsiteX264" fmla="*/ 2637138 w 3996497"/>
                <a:gd name="connsiteY264" fmla="*/ 515591 h 3992958"/>
                <a:gd name="connsiteX265" fmla="*/ 2720767 w 3996497"/>
                <a:gd name="connsiteY265" fmla="*/ 492368 h 3992958"/>
                <a:gd name="connsiteX266" fmla="*/ 2992563 w 3996497"/>
                <a:gd name="connsiteY266" fmla="*/ 456643 h 3992958"/>
                <a:gd name="connsiteX267" fmla="*/ 3399112 w 3996497"/>
                <a:gd name="connsiteY267" fmla="*/ 598891 h 3992958"/>
                <a:gd name="connsiteX268" fmla="*/ 3503477 w 3996497"/>
                <a:gd name="connsiteY268" fmla="*/ 1310594 h 3992958"/>
                <a:gd name="connsiteX269" fmla="*/ 3486578 w 3996497"/>
                <a:gd name="connsiteY269" fmla="*/ 1361963 h 3992958"/>
                <a:gd name="connsiteX270" fmla="*/ 3546439 w 3996497"/>
                <a:gd name="connsiteY270" fmla="*/ 1393002 h 3992958"/>
                <a:gd name="connsiteX271" fmla="*/ 3996497 w 3996497"/>
                <a:gd name="connsiteY271" fmla="*/ 1992938 h 3992958"/>
                <a:gd name="connsiteX272" fmla="*/ 3546439 w 3996497"/>
                <a:gd name="connsiteY272" fmla="*/ 2592874 h 3992958"/>
                <a:gd name="connsiteX273" fmla="*/ 3486586 w 3996497"/>
                <a:gd name="connsiteY273" fmla="*/ 2623909 h 3992958"/>
                <a:gd name="connsiteX274" fmla="*/ 3503477 w 3996497"/>
                <a:gd name="connsiteY274" fmla="*/ 2675254 h 3992958"/>
                <a:gd name="connsiteX275" fmla="*/ 3399112 w 3996497"/>
                <a:gd name="connsiteY275" fmla="*/ 3386956 h 3992958"/>
                <a:gd name="connsiteX276" fmla="*/ 2992563 w 3996497"/>
                <a:gd name="connsiteY276" fmla="*/ 3536317 h 3992958"/>
                <a:gd name="connsiteX277" fmla="*/ 2720767 w 3996497"/>
                <a:gd name="connsiteY277" fmla="*/ 3500545 h 3992958"/>
                <a:gd name="connsiteX278" fmla="*/ 2636845 w 3996497"/>
                <a:gd name="connsiteY278" fmla="*/ 3477186 h 3992958"/>
                <a:gd name="connsiteX279" fmla="*/ 2602858 w 3996497"/>
                <a:gd name="connsiteY279" fmla="*/ 3542702 h 3992958"/>
                <a:gd name="connsiteX280" fmla="*/ 2001790 w 3996497"/>
                <a:gd name="connsiteY280" fmla="*/ 3992958 h 3992958"/>
                <a:gd name="connsiteX281" fmla="*/ 1400722 w 3996497"/>
                <a:gd name="connsiteY281" fmla="*/ 3542702 h 3992958"/>
                <a:gd name="connsiteX282" fmla="*/ 1366574 w 3996497"/>
                <a:gd name="connsiteY282" fmla="*/ 3476878 h 3992958"/>
                <a:gd name="connsiteX283" fmla="*/ 1281544 w 3996497"/>
                <a:gd name="connsiteY283" fmla="*/ 3500545 h 3992958"/>
                <a:gd name="connsiteX284" fmla="*/ 1009747 w 3996497"/>
                <a:gd name="connsiteY284" fmla="*/ 3536317 h 3992958"/>
                <a:gd name="connsiteX285" fmla="*/ 603199 w 3996497"/>
                <a:gd name="connsiteY285" fmla="*/ 3386956 h 3992958"/>
                <a:gd name="connsiteX286" fmla="*/ 507148 w 3996497"/>
                <a:gd name="connsiteY286" fmla="*/ 2647933 h 3992958"/>
                <a:gd name="connsiteX287" fmla="*/ 514647 w 3996497"/>
                <a:gd name="connsiteY287" fmla="*/ 2624697 h 3992958"/>
                <a:gd name="connsiteX288" fmla="*/ 452956 w 3996497"/>
                <a:gd name="connsiteY288" fmla="*/ 2592874 h 3992958"/>
                <a:gd name="connsiteX289" fmla="*/ 0 w 3996497"/>
                <a:gd name="connsiteY289" fmla="*/ 1992938 h 3992958"/>
                <a:gd name="connsiteX290" fmla="*/ 452956 w 3996497"/>
                <a:gd name="connsiteY290" fmla="*/ 1393002 h 3992958"/>
                <a:gd name="connsiteX291" fmla="*/ 514655 w 3996497"/>
                <a:gd name="connsiteY291" fmla="*/ 1361176 h 3992958"/>
                <a:gd name="connsiteX292" fmla="*/ 507148 w 3996497"/>
                <a:gd name="connsiteY292" fmla="*/ 1337915 h 3992958"/>
                <a:gd name="connsiteX293" fmla="*/ 603199 w 3996497"/>
                <a:gd name="connsiteY293" fmla="*/ 598891 h 3992958"/>
                <a:gd name="connsiteX294" fmla="*/ 1009747 w 3996497"/>
                <a:gd name="connsiteY294" fmla="*/ 456643 h 3992958"/>
                <a:gd name="connsiteX295" fmla="*/ 1281544 w 3996497"/>
                <a:gd name="connsiteY295" fmla="*/ 492368 h 3992958"/>
                <a:gd name="connsiteX296" fmla="*/ 1366281 w 3996497"/>
                <a:gd name="connsiteY296" fmla="*/ 515898 h 3992958"/>
                <a:gd name="connsiteX297" fmla="*/ 1400722 w 3996497"/>
                <a:gd name="connsiteY297" fmla="*/ 449660 h 3992958"/>
                <a:gd name="connsiteX298" fmla="*/ 2001790 w 3996497"/>
                <a:gd name="connsiteY298" fmla="*/ 0 h 3992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</a:cxnLst>
              <a:rect l="l" t="t" r="r" b="b"/>
              <a:pathLst>
                <a:path w="3996497" h="3992958">
                  <a:moveTo>
                    <a:pt x="2001155" y="3170511"/>
                  </a:moveTo>
                  <a:lnTo>
                    <a:pt x="1795206" y="3293606"/>
                  </a:lnTo>
                  <a:cubicBezTo>
                    <a:pt x="1723659" y="3332502"/>
                    <a:pt x="1652837" y="3367120"/>
                    <a:pt x="1583337" y="3397167"/>
                  </a:cubicBezTo>
                  <a:lnTo>
                    <a:pt x="1500797" y="3427984"/>
                  </a:lnTo>
                  <a:lnTo>
                    <a:pt x="1558615" y="3529315"/>
                  </a:lnTo>
                  <a:cubicBezTo>
                    <a:pt x="1686065" y="3731499"/>
                    <a:pt x="1838921" y="3850607"/>
                    <a:pt x="2001790" y="3850607"/>
                  </a:cubicBezTo>
                  <a:cubicBezTo>
                    <a:pt x="2164658" y="3850607"/>
                    <a:pt x="2317514" y="3731499"/>
                    <a:pt x="2444964" y="3529315"/>
                  </a:cubicBezTo>
                  <a:lnTo>
                    <a:pt x="2502559" y="3428374"/>
                  </a:lnTo>
                  <a:lnTo>
                    <a:pt x="2418974" y="3397167"/>
                  </a:lnTo>
                  <a:cubicBezTo>
                    <a:pt x="2349474" y="3367120"/>
                    <a:pt x="2278651" y="3332502"/>
                    <a:pt x="2207104" y="3293606"/>
                  </a:cubicBezTo>
                  <a:close/>
                  <a:moveTo>
                    <a:pt x="1816477" y="2926737"/>
                  </a:moveTo>
                  <a:lnTo>
                    <a:pt x="1825074" y="2933763"/>
                  </a:lnTo>
                  <a:lnTo>
                    <a:pt x="2001156" y="3058598"/>
                  </a:lnTo>
                  <a:lnTo>
                    <a:pt x="2177237" y="2933763"/>
                  </a:lnTo>
                  <a:lnTo>
                    <a:pt x="2185799" y="2926766"/>
                  </a:lnTo>
                  <a:lnTo>
                    <a:pt x="2001811" y="2931000"/>
                  </a:lnTo>
                  <a:close/>
                  <a:moveTo>
                    <a:pt x="1302072" y="2872553"/>
                  </a:moveTo>
                  <a:lnTo>
                    <a:pt x="1342153" y="3024857"/>
                  </a:lnTo>
                  <a:cubicBezTo>
                    <a:pt x="1371064" y="3123836"/>
                    <a:pt x="1403938" y="3216253"/>
                    <a:pt x="1440205" y="3300774"/>
                  </a:cubicBezTo>
                  <a:lnTo>
                    <a:pt x="1460941" y="3344778"/>
                  </a:lnTo>
                  <a:lnTo>
                    <a:pt x="1557385" y="3308081"/>
                  </a:lnTo>
                  <a:cubicBezTo>
                    <a:pt x="1623917" y="3278826"/>
                    <a:pt x="1691786" y="3245153"/>
                    <a:pt x="1760436" y="3207368"/>
                  </a:cubicBezTo>
                  <a:lnTo>
                    <a:pt x="1917497" y="3112569"/>
                  </a:lnTo>
                  <a:lnTo>
                    <a:pt x="1773921" y="3011221"/>
                  </a:lnTo>
                  <a:lnTo>
                    <a:pt x="1658500" y="2916716"/>
                  </a:lnTo>
                  <a:lnTo>
                    <a:pt x="1594678" y="2912262"/>
                  </a:lnTo>
                  <a:cubicBezTo>
                    <a:pt x="1512682" y="2904576"/>
                    <a:pt x="1432616" y="2894602"/>
                    <a:pt x="1354788" y="2882483"/>
                  </a:cubicBezTo>
                  <a:close/>
                  <a:moveTo>
                    <a:pt x="2701552" y="2872382"/>
                  </a:moveTo>
                  <a:lnTo>
                    <a:pt x="2648071" y="2882483"/>
                  </a:lnTo>
                  <a:cubicBezTo>
                    <a:pt x="2570424" y="2894602"/>
                    <a:pt x="2490511" y="2904576"/>
                    <a:pt x="2408637" y="2912262"/>
                  </a:cubicBezTo>
                  <a:lnTo>
                    <a:pt x="2343711" y="2916798"/>
                  </a:lnTo>
                  <a:lnTo>
                    <a:pt x="2228390" y="3011221"/>
                  </a:lnTo>
                  <a:lnTo>
                    <a:pt x="2084814" y="3112569"/>
                  </a:lnTo>
                  <a:lnTo>
                    <a:pt x="2241875" y="3207368"/>
                  </a:lnTo>
                  <a:cubicBezTo>
                    <a:pt x="2310525" y="3245153"/>
                    <a:pt x="2378395" y="3278826"/>
                    <a:pt x="2444927" y="3308081"/>
                  </a:cubicBezTo>
                  <a:lnTo>
                    <a:pt x="2542446" y="3345187"/>
                  </a:lnTo>
                  <a:lnTo>
                    <a:pt x="2563374" y="3300774"/>
                  </a:lnTo>
                  <a:cubicBezTo>
                    <a:pt x="2599642" y="3216253"/>
                    <a:pt x="2632516" y="3123836"/>
                    <a:pt x="2661426" y="3024857"/>
                  </a:cubicBezTo>
                  <a:close/>
                  <a:moveTo>
                    <a:pt x="602560" y="2668123"/>
                  </a:moveTo>
                  <a:lnTo>
                    <a:pt x="601861" y="2670173"/>
                  </a:lnTo>
                  <a:cubicBezTo>
                    <a:pt x="514489" y="2963546"/>
                    <a:pt x="536332" y="3192254"/>
                    <a:pt x="667391" y="3322945"/>
                  </a:cubicBezTo>
                  <a:cubicBezTo>
                    <a:pt x="745847" y="3401181"/>
                    <a:pt x="859966" y="3443856"/>
                    <a:pt x="1009747" y="3443856"/>
                  </a:cubicBezTo>
                  <a:cubicBezTo>
                    <a:pt x="1089987" y="3443856"/>
                    <a:pt x="1176997" y="3431854"/>
                    <a:pt x="1268897" y="3408881"/>
                  </a:cubicBezTo>
                  <a:lnTo>
                    <a:pt x="1325020" y="3392913"/>
                  </a:lnTo>
                  <a:lnTo>
                    <a:pt x="1274044" y="3273430"/>
                  </a:lnTo>
                  <a:cubicBezTo>
                    <a:pt x="1236032" y="3175091"/>
                    <a:pt x="1202427" y="3068577"/>
                    <a:pt x="1173816" y="2955113"/>
                  </a:cubicBezTo>
                  <a:lnTo>
                    <a:pt x="1148962" y="2843715"/>
                  </a:lnTo>
                  <a:lnTo>
                    <a:pt x="1128329" y="2839829"/>
                  </a:lnTo>
                  <a:cubicBezTo>
                    <a:pt x="982246" y="2807291"/>
                    <a:pt x="846354" y="2766740"/>
                    <a:pt x="723125" y="2719314"/>
                  </a:cubicBezTo>
                  <a:close/>
                  <a:moveTo>
                    <a:pt x="3402965" y="2665834"/>
                  </a:moveTo>
                  <a:lnTo>
                    <a:pt x="3277599" y="2719314"/>
                  </a:lnTo>
                  <a:cubicBezTo>
                    <a:pt x="3154919" y="2766740"/>
                    <a:pt x="3019552" y="2807291"/>
                    <a:pt x="2873919" y="2839829"/>
                  </a:cubicBezTo>
                  <a:lnTo>
                    <a:pt x="2854674" y="2843464"/>
                  </a:lnTo>
                  <a:lnTo>
                    <a:pt x="2829764" y="2955113"/>
                  </a:lnTo>
                  <a:cubicBezTo>
                    <a:pt x="2801152" y="3068577"/>
                    <a:pt x="2767548" y="3175091"/>
                    <a:pt x="2729535" y="3273430"/>
                  </a:cubicBezTo>
                  <a:lnTo>
                    <a:pt x="2678422" y="3393235"/>
                  </a:lnTo>
                  <a:lnTo>
                    <a:pt x="2733414" y="3408881"/>
                  </a:lnTo>
                  <a:cubicBezTo>
                    <a:pt x="2825314" y="3431854"/>
                    <a:pt x="2912324" y="3443856"/>
                    <a:pt x="2992563" y="3443856"/>
                  </a:cubicBezTo>
                  <a:cubicBezTo>
                    <a:pt x="3135212" y="3443856"/>
                    <a:pt x="3249331" y="3401181"/>
                    <a:pt x="3334920" y="3322945"/>
                  </a:cubicBezTo>
                  <a:cubicBezTo>
                    <a:pt x="3472832" y="3185420"/>
                    <a:pt x="3488276" y="2949407"/>
                    <a:pt x="3403318" y="2666817"/>
                  </a:cubicBezTo>
                  <a:close/>
                  <a:moveTo>
                    <a:pt x="1238609" y="2520851"/>
                  </a:moveTo>
                  <a:lnTo>
                    <a:pt x="1240730" y="2539667"/>
                  </a:lnTo>
                  <a:cubicBezTo>
                    <a:pt x="1248599" y="2597497"/>
                    <a:pt x="1257673" y="2654187"/>
                    <a:pt x="1267880" y="2709571"/>
                  </a:cubicBezTo>
                  <a:lnTo>
                    <a:pt x="1270403" y="2721614"/>
                  </a:lnTo>
                  <a:lnTo>
                    <a:pt x="1457225" y="2752565"/>
                  </a:lnTo>
                  <a:lnTo>
                    <a:pt x="1473300" y="2754378"/>
                  </a:lnTo>
                  <a:lnTo>
                    <a:pt x="1352104" y="2640153"/>
                  </a:lnTo>
                  <a:close/>
                  <a:moveTo>
                    <a:pt x="2765381" y="2517200"/>
                  </a:moveTo>
                  <a:lnTo>
                    <a:pt x="2650207" y="2640153"/>
                  </a:lnTo>
                  <a:lnTo>
                    <a:pt x="2528833" y="2754546"/>
                  </a:lnTo>
                  <a:lnTo>
                    <a:pt x="2546396" y="2752565"/>
                  </a:lnTo>
                  <a:lnTo>
                    <a:pt x="2733175" y="2721621"/>
                  </a:lnTo>
                  <a:lnTo>
                    <a:pt x="2735699" y="2709571"/>
                  </a:lnTo>
                  <a:cubicBezTo>
                    <a:pt x="2745906" y="2654187"/>
                    <a:pt x="2754980" y="2597497"/>
                    <a:pt x="2762849" y="2539667"/>
                  </a:cubicBezTo>
                  <a:close/>
                  <a:moveTo>
                    <a:pt x="3121721" y="2080763"/>
                  </a:moveTo>
                  <a:lnTo>
                    <a:pt x="3041831" y="2192337"/>
                  </a:lnTo>
                  <a:lnTo>
                    <a:pt x="2927654" y="2332763"/>
                  </a:lnTo>
                  <a:lnTo>
                    <a:pt x="2922848" y="2401736"/>
                  </a:lnTo>
                  <a:cubicBezTo>
                    <a:pt x="2916688" y="2467518"/>
                    <a:pt x="2909060" y="2532021"/>
                    <a:pt x="2900038" y="2595092"/>
                  </a:cubicBezTo>
                  <a:lnTo>
                    <a:pt x="2884259" y="2688616"/>
                  </a:lnTo>
                  <a:lnTo>
                    <a:pt x="2955988" y="2672225"/>
                  </a:lnTo>
                  <a:cubicBezTo>
                    <a:pt x="3083844" y="2638671"/>
                    <a:pt x="3202129" y="2598715"/>
                    <a:pt x="3308152" y="2553466"/>
                  </a:cubicBezTo>
                  <a:lnTo>
                    <a:pt x="3354704" y="2531657"/>
                  </a:lnTo>
                  <a:lnTo>
                    <a:pt x="3340472" y="2492089"/>
                  </a:lnTo>
                  <a:cubicBezTo>
                    <a:pt x="3290778" y="2372431"/>
                    <a:pt x="3225726" y="2246983"/>
                    <a:pt x="3146728" y="2119065"/>
                  </a:cubicBezTo>
                  <a:close/>
                  <a:moveTo>
                    <a:pt x="878484" y="2080540"/>
                  </a:moveTo>
                  <a:lnTo>
                    <a:pt x="855244" y="2116252"/>
                  </a:lnTo>
                  <a:cubicBezTo>
                    <a:pt x="811467" y="2187723"/>
                    <a:pt x="771859" y="2259132"/>
                    <a:pt x="736843" y="2330010"/>
                  </a:cubicBezTo>
                  <a:lnTo>
                    <a:pt x="649688" y="2532018"/>
                  </a:lnTo>
                  <a:lnTo>
                    <a:pt x="695469" y="2553466"/>
                  </a:lnTo>
                  <a:cubicBezTo>
                    <a:pt x="801493" y="2598715"/>
                    <a:pt x="919778" y="2638671"/>
                    <a:pt x="1047634" y="2672225"/>
                  </a:cubicBezTo>
                  <a:lnTo>
                    <a:pt x="1119319" y="2688606"/>
                  </a:lnTo>
                  <a:lnTo>
                    <a:pt x="1103541" y="2595092"/>
                  </a:lnTo>
                  <a:cubicBezTo>
                    <a:pt x="1094519" y="2532021"/>
                    <a:pt x="1086892" y="2467518"/>
                    <a:pt x="1080731" y="2401736"/>
                  </a:cubicBezTo>
                  <a:lnTo>
                    <a:pt x="1076247" y="2337374"/>
                  </a:lnTo>
                  <a:lnTo>
                    <a:pt x="975854" y="2215201"/>
                  </a:lnTo>
                  <a:close/>
                  <a:moveTo>
                    <a:pt x="2937590" y="1818244"/>
                  </a:moveTo>
                  <a:lnTo>
                    <a:pt x="2941621" y="1992920"/>
                  </a:lnTo>
                  <a:lnTo>
                    <a:pt x="2937447" y="2174896"/>
                  </a:lnTo>
                  <a:lnTo>
                    <a:pt x="2952784" y="2155627"/>
                  </a:lnTo>
                  <a:cubicBezTo>
                    <a:pt x="2988615" y="2108445"/>
                    <a:pt x="3022738" y="2061270"/>
                    <a:pt x="3055084" y="2014261"/>
                  </a:cubicBezTo>
                  <a:lnTo>
                    <a:pt x="3066693" y="1996480"/>
                  </a:lnTo>
                  <a:lnTo>
                    <a:pt x="3055084" y="1978699"/>
                  </a:lnTo>
                  <a:cubicBezTo>
                    <a:pt x="3022738" y="1931691"/>
                    <a:pt x="2988615" y="1884515"/>
                    <a:pt x="2952784" y="1837333"/>
                  </a:cubicBezTo>
                  <a:close/>
                  <a:moveTo>
                    <a:pt x="1066109" y="1813047"/>
                  </a:moveTo>
                  <a:lnTo>
                    <a:pt x="1051581" y="1831145"/>
                  </a:lnTo>
                  <a:cubicBezTo>
                    <a:pt x="1015487" y="1878348"/>
                    <a:pt x="980995" y="1925801"/>
                    <a:pt x="948230" y="1973365"/>
                  </a:cubicBezTo>
                  <a:lnTo>
                    <a:pt x="934908" y="1993837"/>
                  </a:lnTo>
                  <a:lnTo>
                    <a:pt x="948230" y="2014261"/>
                  </a:lnTo>
                  <a:cubicBezTo>
                    <a:pt x="980995" y="2061825"/>
                    <a:pt x="1015487" y="2109390"/>
                    <a:pt x="1051581" y="2156815"/>
                  </a:cubicBezTo>
                  <a:lnTo>
                    <a:pt x="1066137" y="2175076"/>
                  </a:lnTo>
                  <a:lnTo>
                    <a:pt x="1061958" y="1992920"/>
                  </a:lnTo>
                  <a:close/>
                  <a:moveTo>
                    <a:pt x="561551" y="1499375"/>
                  </a:moveTo>
                  <a:lnTo>
                    <a:pt x="465933" y="1553721"/>
                  </a:lnTo>
                  <a:cubicBezTo>
                    <a:pt x="262693" y="1681139"/>
                    <a:pt x="142478" y="1833041"/>
                    <a:pt x="142478" y="1992938"/>
                  </a:cubicBezTo>
                  <a:cubicBezTo>
                    <a:pt x="142478" y="2155500"/>
                    <a:pt x="262693" y="2308069"/>
                    <a:pt x="465933" y="2435278"/>
                  </a:cubicBezTo>
                  <a:lnTo>
                    <a:pt x="560568" y="2488917"/>
                  </a:lnTo>
                  <a:lnTo>
                    <a:pt x="650829" y="2289744"/>
                  </a:lnTo>
                  <a:cubicBezTo>
                    <a:pt x="687705" y="2217080"/>
                    <a:pt x="728859" y="2143681"/>
                    <a:pt x="774057" y="2070063"/>
                  </a:cubicBezTo>
                  <a:lnTo>
                    <a:pt x="822478" y="1995509"/>
                  </a:lnTo>
                  <a:lnTo>
                    <a:pt x="774057" y="1920786"/>
                  </a:lnTo>
                  <a:cubicBezTo>
                    <a:pt x="728859" y="1846835"/>
                    <a:pt x="687705" y="1772853"/>
                    <a:pt x="650829" y="1699355"/>
                  </a:cubicBezTo>
                  <a:close/>
                  <a:moveTo>
                    <a:pt x="3441270" y="1498920"/>
                  </a:moveTo>
                  <a:lnTo>
                    <a:pt x="3355722" y="1691724"/>
                  </a:lnTo>
                  <a:cubicBezTo>
                    <a:pt x="3322770" y="1757922"/>
                    <a:pt x="3285754" y="1825183"/>
                    <a:pt x="3244823" y="1893098"/>
                  </a:cubicBezTo>
                  <a:lnTo>
                    <a:pt x="3180894" y="1992924"/>
                  </a:lnTo>
                  <a:lnTo>
                    <a:pt x="3244823" y="2092749"/>
                  </a:lnTo>
                  <a:cubicBezTo>
                    <a:pt x="3326684" y="2228579"/>
                    <a:pt x="3392888" y="2361796"/>
                    <a:pt x="3442239" y="2489113"/>
                  </a:cubicBezTo>
                  <a:lnTo>
                    <a:pt x="3442313" y="2489336"/>
                  </a:lnTo>
                  <a:lnTo>
                    <a:pt x="3537689" y="2435278"/>
                  </a:lnTo>
                  <a:cubicBezTo>
                    <a:pt x="3740928" y="2308069"/>
                    <a:pt x="3861143" y="2155500"/>
                    <a:pt x="3861143" y="1992938"/>
                  </a:cubicBezTo>
                  <a:cubicBezTo>
                    <a:pt x="3861143" y="1833041"/>
                    <a:pt x="3740928" y="1681139"/>
                    <a:pt x="3537689" y="1553721"/>
                  </a:cubicBezTo>
                  <a:close/>
                  <a:moveTo>
                    <a:pt x="1119711" y="1298635"/>
                  </a:moveTo>
                  <a:lnTo>
                    <a:pt x="1047634" y="1315305"/>
                  </a:lnTo>
                  <a:cubicBezTo>
                    <a:pt x="919778" y="1349228"/>
                    <a:pt x="801493" y="1389550"/>
                    <a:pt x="695469" y="1435076"/>
                  </a:cubicBezTo>
                  <a:lnTo>
                    <a:pt x="648170" y="1457347"/>
                  </a:lnTo>
                  <a:lnTo>
                    <a:pt x="736843" y="1659700"/>
                  </a:lnTo>
                  <a:cubicBezTo>
                    <a:pt x="771859" y="1729744"/>
                    <a:pt x="811467" y="1800569"/>
                    <a:pt x="855244" y="1871707"/>
                  </a:cubicBezTo>
                  <a:lnTo>
                    <a:pt x="879607" y="1909058"/>
                  </a:lnTo>
                  <a:lnTo>
                    <a:pt x="975854" y="1775648"/>
                  </a:lnTo>
                  <a:lnTo>
                    <a:pt x="1076092" y="1652676"/>
                  </a:lnTo>
                  <a:lnTo>
                    <a:pt x="1080731" y="1586454"/>
                  </a:lnTo>
                  <a:cubicBezTo>
                    <a:pt x="1086892" y="1521013"/>
                    <a:pt x="1094519" y="1456826"/>
                    <a:pt x="1103541" y="1394049"/>
                  </a:cubicBezTo>
                  <a:close/>
                  <a:moveTo>
                    <a:pt x="2883867" y="1298625"/>
                  </a:moveTo>
                  <a:lnTo>
                    <a:pt x="2900038" y="1394049"/>
                  </a:lnTo>
                  <a:cubicBezTo>
                    <a:pt x="2909060" y="1456826"/>
                    <a:pt x="2916688" y="1521013"/>
                    <a:pt x="2922848" y="1586454"/>
                  </a:cubicBezTo>
                  <a:lnTo>
                    <a:pt x="2927503" y="1652900"/>
                  </a:lnTo>
                  <a:lnTo>
                    <a:pt x="3041831" y="1793511"/>
                  </a:lnTo>
                  <a:lnTo>
                    <a:pt x="3124150" y="1908477"/>
                  </a:lnTo>
                  <a:lnTo>
                    <a:pt x="3146728" y="1873895"/>
                  </a:lnTo>
                  <a:cubicBezTo>
                    <a:pt x="3225726" y="1745978"/>
                    <a:pt x="3290778" y="1620529"/>
                    <a:pt x="3340472" y="1500871"/>
                  </a:cubicBezTo>
                  <a:lnTo>
                    <a:pt x="3356029" y="1457619"/>
                  </a:lnTo>
                  <a:lnTo>
                    <a:pt x="3308152" y="1435076"/>
                  </a:lnTo>
                  <a:cubicBezTo>
                    <a:pt x="3202129" y="1389550"/>
                    <a:pt x="3083844" y="1349228"/>
                    <a:pt x="2955988" y="1315305"/>
                  </a:cubicBezTo>
                  <a:close/>
                  <a:moveTo>
                    <a:pt x="1474233" y="1231972"/>
                  </a:moveTo>
                  <a:lnTo>
                    <a:pt x="1457225" y="1233920"/>
                  </a:lnTo>
                  <a:lnTo>
                    <a:pt x="1271075" y="1265198"/>
                  </a:lnTo>
                  <a:lnTo>
                    <a:pt x="1267880" y="1280385"/>
                  </a:lnTo>
                  <a:cubicBezTo>
                    <a:pt x="1257673" y="1335518"/>
                    <a:pt x="1248599" y="1391937"/>
                    <a:pt x="1240730" y="1449474"/>
                  </a:cubicBezTo>
                  <a:lnTo>
                    <a:pt x="1238781" y="1466672"/>
                  </a:lnTo>
                  <a:lnTo>
                    <a:pt x="1352104" y="1345695"/>
                  </a:lnTo>
                  <a:close/>
                  <a:moveTo>
                    <a:pt x="2527894" y="1231800"/>
                  </a:moveTo>
                  <a:lnTo>
                    <a:pt x="2650207" y="1345695"/>
                  </a:lnTo>
                  <a:lnTo>
                    <a:pt x="2764973" y="1468212"/>
                  </a:lnTo>
                  <a:lnTo>
                    <a:pt x="2762849" y="1449474"/>
                  </a:lnTo>
                  <a:cubicBezTo>
                    <a:pt x="2754980" y="1391937"/>
                    <a:pt x="2745906" y="1335518"/>
                    <a:pt x="2735699" y="1280385"/>
                  </a:cubicBezTo>
                  <a:lnTo>
                    <a:pt x="2732502" y="1265190"/>
                  </a:lnTo>
                  <a:lnTo>
                    <a:pt x="2546396" y="1233920"/>
                  </a:lnTo>
                  <a:close/>
                  <a:moveTo>
                    <a:pt x="2001811" y="1197007"/>
                  </a:moveTo>
                  <a:cubicBezTo>
                    <a:pt x="1939031" y="1197007"/>
                    <a:pt x="1876837" y="1198450"/>
                    <a:pt x="1815398" y="1201261"/>
                  </a:cubicBezTo>
                  <a:lnTo>
                    <a:pt x="1636230" y="1213533"/>
                  </a:lnTo>
                  <a:lnTo>
                    <a:pt x="1618010" y="1228423"/>
                  </a:lnTo>
                  <a:cubicBezTo>
                    <a:pt x="1549695" y="1288129"/>
                    <a:pt x="1482271" y="1351029"/>
                    <a:pt x="1416296" y="1416819"/>
                  </a:cubicBezTo>
                  <a:cubicBezTo>
                    <a:pt x="1371718" y="1461272"/>
                    <a:pt x="1328367" y="1506391"/>
                    <a:pt x="1286366" y="1552038"/>
                  </a:cubicBezTo>
                  <a:lnTo>
                    <a:pt x="1220717" y="1626614"/>
                  </a:lnTo>
                  <a:lnTo>
                    <a:pt x="1208541" y="1806753"/>
                  </a:lnTo>
                  <a:cubicBezTo>
                    <a:pt x="1205775" y="1868085"/>
                    <a:pt x="1204357" y="1930197"/>
                    <a:pt x="1204357" y="1992920"/>
                  </a:cubicBezTo>
                  <a:cubicBezTo>
                    <a:pt x="1204357" y="2119257"/>
                    <a:pt x="1210031" y="2243036"/>
                    <a:pt x="1220808" y="2362923"/>
                  </a:cubicBezTo>
                  <a:lnTo>
                    <a:pt x="1220846" y="2363264"/>
                  </a:lnTo>
                  <a:lnTo>
                    <a:pt x="1286366" y="2438589"/>
                  </a:lnTo>
                  <a:cubicBezTo>
                    <a:pt x="1328367" y="2484903"/>
                    <a:pt x="1371718" y="2530801"/>
                    <a:pt x="1416296" y="2576142"/>
                  </a:cubicBezTo>
                  <a:cubicBezTo>
                    <a:pt x="1482271" y="2641932"/>
                    <a:pt x="1549695" y="2704832"/>
                    <a:pt x="1618010" y="2764537"/>
                  </a:cubicBezTo>
                  <a:lnTo>
                    <a:pt x="1626758" y="2771686"/>
                  </a:lnTo>
                  <a:lnTo>
                    <a:pt x="1633525" y="2772450"/>
                  </a:lnTo>
                  <a:cubicBezTo>
                    <a:pt x="1753031" y="2783207"/>
                    <a:pt x="1876252" y="2788870"/>
                    <a:pt x="2001811" y="2788870"/>
                  </a:cubicBezTo>
                  <a:cubicBezTo>
                    <a:pt x="2127369" y="2788870"/>
                    <a:pt x="2250590" y="2783207"/>
                    <a:pt x="2370096" y="2772450"/>
                  </a:cubicBezTo>
                  <a:lnTo>
                    <a:pt x="2375343" y="2771858"/>
                  </a:lnTo>
                  <a:lnTo>
                    <a:pt x="2384301" y="2764537"/>
                  </a:lnTo>
                  <a:cubicBezTo>
                    <a:pt x="2452616" y="2704832"/>
                    <a:pt x="2520040" y="2641932"/>
                    <a:pt x="2586015" y="2576142"/>
                  </a:cubicBezTo>
                  <a:cubicBezTo>
                    <a:pt x="2631484" y="2530356"/>
                    <a:pt x="2675449" y="2484097"/>
                    <a:pt x="2717841" y="2437526"/>
                  </a:cubicBezTo>
                  <a:lnTo>
                    <a:pt x="2782762" y="2363005"/>
                  </a:lnTo>
                  <a:lnTo>
                    <a:pt x="2782771" y="2362923"/>
                  </a:lnTo>
                  <a:cubicBezTo>
                    <a:pt x="2793549" y="2243036"/>
                    <a:pt x="2799222" y="2119257"/>
                    <a:pt x="2799222" y="1992920"/>
                  </a:cubicBezTo>
                  <a:cubicBezTo>
                    <a:pt x="2799222" y="1930197"/>
                    <a:pt x="2797804" y="1868085"/>
                    <a:pt x="2795038" y="1806753"/>
                  </a:cubicBezTo>
                  <a:lnTo>
                    <a:pt x="2783116" y="1630361"/>
                  </a:lnTo>
                  <a:lnTo>
                    <a:pt x="2717841" y="1555435"/>
                  </a:lnTo>
                  <a:cubicBezTo>
                    <a:pt x="2675449" y="1508864"/>
                    <a:pt x="2631484" y="1462605"/>
                    <a:pt x="2586015" y="1416819"/>
                  </a:cubicBezTo>
                  <a:cubicBezTo>
                    <a:pt x="2520040" y="1351029"/>
                    <a:pt x="2452616" y="1288129"/>
                    <a:pt x="2384301" y="1228423"/>
                  </a:cubicBezTo>
                  <a:lnTo>
                    <a:pt x="2365961" y="1213435"/>
                  </a:lnTo>
                  <a:lnTo>
                    <a:pt x="2188223" y="1201261"/>
                  </a:lnTo>
                  <a:cubicBezTo>
                    <a:pt x="2126785" y="1198450"/>
                    <a:pt x="2064590" y="1197007"/>
                    <a:pt x="2001811" y="1197007"/>
                  </a:cubicBezTo>
                  <a:close/>
                  <a:moveTo>
                    <a:pt x="2001156" y="934363"/>
                  </a:moveTo>
                  <a:lnTo>
                    <a:pt x="1825446" y="1058933"/>
                  </a:lnTo>
                  <a:lnTo>
                    <a:pt x="2001811" y="1054876"/>
                  </a:lnTo>
                  <a:lnTo>
                    <a:pt x="2176823" y="1058904"/>
                  </a:lnTo>
                  <a:close/>
                  <a:moveTo>
                    <a:pt x="1460627" y="648063"/>
                  </a:moveTo>
                  <a:lnTo>
                    <a:pt x="1440205" y="691294"/>
                  </a:lnTo>
                  <a:cubicBezTo>
                    <a:pt x="1403938" y="775593"/>
                    <a:pt x="1371064" y="867732"/>
                    <a:pt x="1342153" y="966364"/>
                  </a:cubicBezTo>
                  <a:lnTo>
                    <a:pt x="1303399" y="1113073"/>
                  </a:lnTo>
                  <a:lnTo>
                    <a:pt x="1354788" y="1103394"/>
                  </a:lnTo>
                  <a:cubicBezTo>
                    <a:pt x="1432616" y="1091274"/>
                    <a:pt x="1512682" y="1081300"/>
                    <a:pt x="1594678" y="1073614"/>
                  </a:cubicBezTo>
                  <a:lnTo>
                    <a:pt x="1662729" y="1068865"/>
                  </a:lnTo>
                  <a:lnTo>
                    <a:pt x="1773921" y="978739"/>
                  </a:lnTo>
                  <a:lnTo>
                    <a:pt x="1915837" y="879390"/>
                  </a:lnTo>
                  <a:lnTo>
                    <a:pt x="1760436" y="785592"/>
                  </a:lnTo>
                  <a:cubicBezTo>
                    <a:pt x="1691786" y="747807"/>
                    <a:pt x="1623917" y="714135"/>
                    <a:pt x="1557385" y="684879"/>
                  </a:cubicBezTo>
                  <a:close/>
                  <a:moveTo>
                    <a:pt x="2542759" y="647654"/>
                  </a:moveTo>
                  <a:lnTo>
                    <a:pt x="2444927" y="684879"/>
                  </a:lnTo>
                  <a:cubicBezTo>
                    <a:pt x="2378395" y="714135"/>
                    <a:pt x="2310525" y="747807"/>
                    <a:pt x="2241875" y="785592"/>
                  </a:cubicBezTo>
                  <a:lnTo>
                    <a:pt x="2086474" y="879390"/>
                  </a:lnTo>
                  <a:lnTo>
                    <a:pt x="2228390" y="978739"/>
                  </a:lnTo>
                  <a:lnTo>
                    <a:pt x="2339480" y="1068782"/>
                  </a:lnTo>
                  <a:lnTo>
                    <a:pt x="2408637" y="1073614"/>
                  </a:lnTo>
                  <a:cubicBezTo>
                    <a:pt x="2490511" y="1081300"/>
                    <a:pt x="2570424" y="1091274"/>
                    <a:pt x="2648071" y="1103394"/>
                  </a:cubicBezTo>
                  <a:lnTo>
                    <a:pt x="2700226" y="1113244"/>
                  </a:lnTo>
                  <a:lnTo>
                    <a:pt x="2661426" y="966364"/>
                  </a:lnTo>
                  <a:cubicBezTo>
                    <a:pt x="2632516" y="867732"/>
                    <a:pt x="2599642" y="775593"/>
                    <a:pt x="2563374" y="691294"/>
                  </a:cubicBezTo>
                  <a:close/>
                  <a:moveTo>
                    <a:pt x="2992563" y="549104"/>
                  </a:moveTo>
                  <a:cubicBezTo>
                    <a:pt x="2912324" y="549104"/>
                    <a:pt x="2825314" y="561106"/>
                    <a:pt x="2733414" y="584079"/>
                  </a:cubicBezTo>
                  <a:lnTo>
                    <a:pt x="2678784" y="599623"/>
                  </a:lnTo>
                  <a:lnTo>
                    <a:pt x="2729535" y="718262"/>
                  </a:lnTo>
                  <a:cubicBezTo>
                    <a:pt x="2767548" y="816319"/>
                    <a:pt x="2801152" y="922489"/>
                    <a:pt x="2829764" y="1035532"/>
                  </a:cubicBezTo>
                  <a:lnTo>
                    <a:pt x="2853661" y="1142222"/>
                  </a:lnTo>
                  <a:lnTo>
                    <a:pt x="2873919" y="1146048"/>
                  </a:lnTo>
                  <a:cubicBezTo>
                    <a:pt x="3019552" y="1178586"/>
                    <a:pt x="3154919" y="1219137"/>
                    <a:pt x="3277599" y="1266563"/>
                  </a:cubicBezTo>
                  <a:lnTo>
                    <a:pt x="3404598" y="1320740"/>
                  </a:lnTo>
                  <a:lnTo>
                    <a:pt x="3442068" y="1162594"/>
                  </a:lnTo>
                  <a:cubicBezTo>
                    <a:pt x="3477200" y="953088"/>
                    <a:pt x="3445250" y="780036"/>
                    <a:pt x="3334920" y="670015"/>
                  </a:cubicBezTo>
                  <a:cubicBezTo>
                    <a:pt x="3249331" y="591779"/>
                    <a:pt x="3135212" y="549104"/>
                    <a:pt x="2992563" y="549104"/>
                  </a:cubicBezTo>
                  <a:close/>
                  <a:moveTo>
                    <a:pt x="1009747" y="549104"/>
                  </a:moveTo>
                  <a:cubicBezTo>
                    <a:pt x="859966" y="549104"/>
                    <a:pt x="745847" y="591779"/>
                    <a:pt x="667391" y="670015"/>
                  </a:cubicBezTo>
                  <a:cubicBezTo>
                    <a:pt x="555055" y="782036"/>
                    <a:pt x="522959" y="966070"/>
                    <a:pt x="571103" y="1201113"/>
                  </a:cubicBezTo>
                  <a:lnTo>
                    <a:pt x="600780" y="1318509"/>
                  </a:lnTo>
                  <a:lnTo>
                    <a:pt x="723125" y="1266563"/>
                  </a:lnTo>
                  <a:cubicBezTo>
                    <a:pt x="846354" y="1219137"/>
                    <a:pt x="982246" y="1178586"/>
                    <a:pt x="1128329" y="1146048"/>
                  </a:cubicBezTo>
                  <a:lnTo>
                    <a:pt x="1149975" y="1141971"/>
                  </a:lnTo>
                  <a:lnTo>
                    <a:pt x="1173816" y="1035532"/>
                  </a:lnTo>
                  <a:cubicBezTo>
                    <a:pt x="1202427" y="922489"/>
                    <a:pt x="1236032" y="816319"/>
                    <a:pt x="1274044" y="718262"/>
                  </a:cubicBezTo>
                  <a:lnTo>
                    <a:pt x="1324657" y="599945"/>
                  </a:lnTo>
                  <a:lnTo>
                    <a:pt x="1268897" y="584079"/>
                  </a:lnTo>
                  <a:cubicBezTo>
                    <a:pt x="1176997" y="561106"/>
                    <a:pt x="1089987" y="549104"/>
                    <a:pt x="1009747" y="549104"/>
                  </a:cubicBezTo>
                  <a:close/>
                  <a:moveTo>
                    <a:pt x="2001790" y="142351"/>
                  </a:moveTo>
                  <a:cubicBezTo>
                    <a:pt x="1838921" y="142351"/>
                    <a:pt x="1686065" y="261460"/>
                    <a:pt x="1558615" y="463268"/>
                  </a:cubicBezTo>
                  <a:lnTo>
                    <a:pt x="1500648" y="564653"/>
                  </a:lnTo>
                  <a:lnTo>
                    <a:pt x="1583337" y="595419"/>
                  </a:lnTo>
                  <a:cubicBezTo>
                    <a:pt x="1652837" y="625341"/>
                    <a:pt x="1723659" y="659791"/>
                    <a:pt x="1795206" y="698465"/>
                  </a:cubicBezTo>
                  <a:lnTo>
                    <a:pt x="2001155" y="820754"/>
                  </a:lnTo>
                  <a:lnTo>
                    <a:pt x="2207104" y="698465"/>
                  </a:lnTo>
                  <a:cubicBezTo>
                    <a:pt x="2278651" y="659791"/>
                    <a:pt x="2349474" y="625341"/>
                    <a:pt x="2418974" y="595419"/>
                  </a:cubicBezTo>
                  <a:lnTo>
                    <a:pt x="2502708" y="564264"/>
                  </a:lnTo>
                  <a:lnTo>
                    <a:pt x="2444964" y="463268"/>
                  </a:lnTo>
                  <a:cubicBezTo>
                    <a:pt x="2317514" y="261460"/>
                    <a:pt x="2164658" y="142351"/>
                    <a:pt x="2001790" y="142351"/>
                  </a:cubicBezTo>
                  <a:close/>
                  <a:moveTo>
                    <a:pt x="2001790" y="0"/>
                  </a:moveTo>
                  <a:cubicBezTo>
                    <a:pt x="2232298" y="0"/>
                    <a:pt x="2441001" y="167569"/>
                    <a:pt x="2602858" y="449660"/>
                  </a:cubicBezTo>
                  <a:lnTo>
                    <a:pt x="2637138" y="515591"/>
                  </a:lnTo>
                  <a:lnTo>
                    <a:pt x="2720767" y="492368"/>
                  </a:lnTo>
                  <a:cubicBezTo>
                    <a:pt x="2817039" y="468895"/>
                    <a:pt x="2908312" y="456643"/>
                    <a:pt x="2992563" y="456643"/>
                  </a:cubicBezTo>
                  <a:cubicBezTo>
                    <a:pt x="3163742" y="456643"/>
                    <a:pt x="3299258" y="506430"/>
                    <a:pt x="3399112" y="598891"/>
                  </a:cubicBezTo>
                  <a:cubicBezTo>
                    <a:pt x="3555413" y="754753"/>
                    <a:pt x="3583977" y="1009103"/>
                    <a:pt x="3503477" y="1310594"/>
                  </a:cubicBezTo>
                  <a:lnTo>
                    <a:pt x="3486578" y="1361963"/>
                  </a:lnTo>
                  <a:lnTo>
                    <a:pt x="3546439" y="1393002"/>
                  </a:lnTo>
                  <a:cubicBezTo>
                    <a:pt x="3828780" y="1554554"/>
                    <a:pt x="3996497" y="1762864"/>
                    <a:pt x="3996497" y="1992938"/>
                  </a:cubicBezTo>
                  <a:cubicBezTo>
                    <a:pt x="3996497" y="2223012"/>
                    <a:pt x="3828780" y="2431322"/>
                    <a:pt x="3546439" y="2592874"/>
                  </a:cubicBezTo>
                  <a:lnTo>
                    <a:pt x="3486586" y="2623909"/>
                  </a:lnTo>
                  <a:lnTo>
                    <a:pt x="3503477" y="2675254"/>
                  </a:lnTo>
                  <a:cubicBezTo>
                    <a:pt x="3583977" y="2976745"/>
                    <a:pt x="3555413" y="3231095"/>
                    <a:pt x="3399112" y="3386956"/>
                  </a:cubicBezTo>
                  <a:cubicBezTo>
                    <a:pt x="3299258" y="3486530"/>
                    <a:pt x="3163742" y="3536317"/>
                    <a:pt x="2992563" y="3536317"/>
                  </a:cubicBezTo>
                  <a:cubicBezTo>
                    <a:pt x="2908312" y="3536317"/>
                    <a:pt x="2817039" y="3524065"/>
                    <a:pt x="2720767" y="3500545"/>
                  </a:cubicBezTo>
                  <a:lnTo>
                    <a:pt x="2636845" y="3477186"/>
                  </a:lnTo>
                  <a:lnTo>
                    <a:pt x="2602858" y="3542702"/>
                  </a:lnTo>
                  <a:cubicBezTo>
                    <a:pt x="2441001" y="3825389"/>
                    <a:pt x="2232298" y="3992958"/>
                    <a:pt x="2001790" y="3992958"/>
                  </a:cubicBezTo>
                  <a:cubicBezTo>
                    <a:pt x="1771282" y="3992958"/>
                    <a:pt x="1562579" y="3825389"/>
                    <a:pt x="1400722" y="3542702"/>
                  </a:cubicBezTo>
                  <a:lnTo>
                    <a:pt x="1366574" y="3476878"/>
                  </a:lnTo>
                  <a:lnTo>
                    <a:pt x="1281544" y="3500545"/>
                  </a:lnTo>
                  <a:cubicBezTo>
                    <a:pt x="1185272" y="3524065"/>
                    <a:pt x="1093999" y="3536317"/>
                    <a:pt x="1009747" y="3536317"/>
                  </a:cubicBezTo>
                  <a:cubicBezTo>
                    <a:pt x="838569" y="3536317"/>
                    <a:pt x="703053" y="3486530"/>
                    <a:pt x="603199" y="3386956"/>
                  </a:cubicBezTo>
                  <a:cubicBezTo>
                    <a:pt x="447177" y="3231372"/>
                    <a:pt x="416753" y="2972325"/>
                    <a:pt x="507148" y="2647933"/>
                  </a:cubicBezTo>
                  <a:lnTo>
                    <a:pt x="514647" y="2624697"/>
                  </a:lnTo>
                  <a:lnTo>
                    <a:pt x="452956" y="2592874"/>
                  </a:lnTo>
                  <a:cubicBezTo>
                    <a:pt x="169081" y="2431322"/>
                    <a:pt x="0" y="2223012"/>
                    <a:pt x="0" y="1992938"/>
                  </a:cubicBezTo>
                  <a:cubicBezTo>
                    <a:pt x="0" y="1762864"/>
                    <a:pt x="169081" y="1554554"/>
                    <a:pt x="452956" y="1393002"/>
                  </a:cubicBezTo>
                  <a:lnTo>
                    <a:pt x="514655" y="1361176"/>
                  </a:lnTo>
                  <a:lnTo>
                    <a:pt x="507148" y="1337915"/>
                  </a:lnTo>
                  <a:cubicBezTo>
                    <a:pt x="416753" y="1013523"/>
                    <a:pt x="447177" y="754475"/>
                    <a:pt x="603199" y="598891"/>
                  </a:cubicBezTo>
                  <a:cubicBezTo>
                    <a:pt x="703053" y="506430"/>
                    <a:pt x="838569" y="456643"/>
                    <a:pt x="1009747" y="456643"/>
                  </a:cubicBezTo>
                  <a:cubicBezTo>
                    <a:pt x="1093999" y="456643"/>
                    <a:pt x="1185272" y="468895"/>
                    <a:pt x="1281544" y="492368"/>
                  </a:cubicBezTo>
                  <a:lnTo>
                    <a:pt x="1366281" y="515898"/>
                  </a:lnTo>
                  <a:lnTo>
                    <a:pt x="1400722" y="449660"/>
                  </a:lnTo>
                  <a:cubicBezTo>
                    <a:pt x="1562579" y="167569"/>
                    <a:pt x="1771282" y="0"/>
                    <a:pt x="2001790" y="0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 sz="2800"/>
            </a:p>
          </p:txBody>
        </p:sp>
        <p:cxnSp>
          <p:nvCxnSpPr>
            <p:cNvPr id="5" name="íśḷïḑê"/>
            <p:cNvCxnSpPr/>
            <p:nvPr>
              <p:custDataLst>
                <p:tags r:id="rId3"/>
              </p:custDataLst>
            </p:nvPr>
          </p:nvCxnSpPr>
          <p:spPr>
            <a:xfrm>
              <a:off x="7008690" y="2779763"/>
              <a:ext cx="4341935" cy="0"/>
            </a:xfrm>
            <a:prstGeom prst="line">
              <a:avLst/>
            </a:prstGeom>
            <a:ln w="635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iṣ1îdè"/>
            <p:cNvCxnSpPr/>
            <p:nvPr>
              <p:custDataLst>
                <p:tags r:id="rId4"/>
              </p:custDataLst>
            </p:nvPr>
          </p:nvCxnSpPr>
          <p:spPr>
            <a:xfrm>
              <a:off x="7008690" y="3965139"/>
              <a:ext cx="4341935" cy="0"/>
            </a:xfrm>
            <a:prstGeom prst="line">
              <a:avLst/>
            </a:prstGeom>
            <a:ln w="635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ïś1ïďe"/>
            <p:cNvCxnSpPr/>
            <p:nvPr>
              <p:custDataLst>
                <p:tags r:id="rId5"/>
              </p:custDataLst>
            </p:nvPr>
          </p:nvCxnSpPr>
          <p:spPr>
            <a:xfrm>
              <a:off x="7008690" y="5117809"/>
              <a:ext cx="4341935" cy="0"/>
            </a:xfrm>
            <a:prstGeom prst="line">
              <a:avLst/>
            </a:prstGeom>
            <a:ln w="635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/>
            <p:cNvGrpSpPr/>
            <p:nvPr/>
          </p:nvGrpSpPr>
          <p:grpSpPr>
            <a:xfrm>
              <a:off x="1713823" y="1898011"/>
              <a:ext cx="10385425" cy="986480"/>
              <a:chOff x="1713823" y="1898011"/>
              <a:chExt cx="10385425" cy="986480"/>
            </a:xfrm>
          </p:grpSpPr>
          <p:sp>
            <p:nvSpPr>
              <p:cNvPr id="25" name="Number1"/>
              <p:cNvSpPr/>
              <p:nvPr/>
            </p:nvSpPr>
            <p:spPr bwMode="auto">
              <a:xfrm>
                <a:off x="1713823" y="2111494"/>
                <a:ext cx="772997" cy="77299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none" lIns="91440" tIns="45720" rIns="91440" bIns="45720" numCol="1" anchor="ctr" anchorCtr="1" compatLnSpc="1">
                <a:noAutofit/>
              </a:bodyPr>
              <a:lstStyle/>
              <a:p>
                <a:pPr algn="ctr"/>
                <a:r>
                  <a:rPr lang="en-US" altLang="zh-CN" sz="2000" b="1">
                    <a:solidFill>
                      <a:srgbClr val="FFFFFF"/>
                    </a:solidFill>
                  </a:rPr>
                  <a:t>01</a:t>
                </a:r>
                <a:endParaRPr lang="en-US" sz="2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Icon1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6059052" y="1960241"/>
                <a:ext cx="472482" cy="471597"/>
              </a:xfrm>
              <a:custGeom>
                <a:avLst/>
                <a:gdLst>
                  <a:gd name="connsiteX0" fmla="*/ 290910 w 605702"/>
                  <a:gd name="connsiteY0" fmla="*/ 156336 h 604568"/>
                  <a:gd name="connsiteX1" fmla="*/ 335849 w 605702"/>
                  <a:gd name="connsiteY1" fmla="*/ 164992 h 604568"/>
                  <a:gd name="connsiteX2" fmla="*/ 288310 w 605702"/>
                  <a:gd name="connsiteY2" fmla="*/ 212456 h 604568"/>
                  <a:gd name="connsiteX3" fmla="*/ 203632 w 605702"/>
                  <a:gd name="connsiteY3" fmla="*/ 244717 h 604568"/>
                  <a:gd name="connsiteX4" fmla="*/ 203632 w 605702"/>
                  <a:gd name="connsiteY4" fmla="*/ 401388 h 604568"/>
                  <a:gd name="connsiteX5" fmla="*/ 360547 w 605702"/>
                  <a:gd name="connsiteY5" fmla="*/ 401388 h 604568"/>
                  <a:gd name="connsiteX6" fmla="*/ 392859 w 605702"/>
                  <a:gd name="connsiteY6" fmla="*/ 316749 h 604568"/>
                  <a:gd name="connsiteX7" fmla="*/ 440397 w 605702"/>
                  <a:gd name="connsiteY7" fmla="*/ 269284 h 604568"/>
                  <a:gd name="connsiteX8" fmla="*/ 400287 w 605702"/>
                  <a:gd name="connsiteY8" fmla="*/ 441065 h 604568"/>
                  <a:gd name="connsiteX9" fmla="*/ 163892 w 605702"/>
                  <a:gd name="connsiteY9" fmla="*/ 441065 h 604568"/>
                  <a:gd name="connsiteX10" fmla="*/ 163892 w 605702"/>
                  <a:gd name="connsiteY10" fmla="*/ 205040 h 604568"/>
                  <a:gd name="connsiteX11" fmla="*/ 290910 w 605702"/>
                  <a:gd name="connsiteY11" fmla="*/ 156336 h 604568"/>
                  <a:gd name="connsiteX12" fmla="*/ 246542 w 605702"/>
                  <a:gd name="connsiteY12" fmla="*/ 43775 h 604568"/>
                  <a:gd name="connsiteX13" fmla="*/ 422196 w 605702"/>
                  <a:gd name="connsiteY13" fmla="*/ 78723 h 604568"/>
                  <a:gd name="connsiteX14" fmla="*/ 376794 w 605702"/>
                  <a:gd name="connsiteY14" fmla="*/ 124054 h 604568"/>
                  <a:gd name="connsiteX15" fmla="*/ 126109 w 605702"/>
                  <a:gd name="connsiteY15" fmla="*/ 167345 h 604568"/>
                  <a:gd name="connsiteX16" fmla="*/ 126109 w 605702"/>
                  <a:gd name="connsiteY16" fmla="*/ 478820 h 604568"/>
                  <a:gd name="connsiteX17" fmla="*/ 438073 w 605702"/>
                  <a:gd name="connsiteY17" fmla="*/ 478820 h 604568"/>
                  <a:gd name="connsiteX18" fmla="*/ 481432 w 605702"/>
                  <a:gd name="connsiteY18" fmla="*/ 228527 h 604568"/>
                  <a:gd name="connsiteX19" fmla="*/ 526741 w 605702"/>
                  <a:gd name="connsiteY19" fmla="*/ 183011 h 604568"/>
                  <a:gd name="connsiteX20" fmla="*/ 481432 w 605702"/>
                  <a:gd name="connsiteY20" fmla="*/ 522111 h 604568"/>
                  <a:gd name="connsiteX21" fmla="*/ 82657 w 605702"/>
                  <a:gd name="connsiteY21" fmla="*/ 522111 h 604568"/>
                  <a:gd name="connsiteX22" fmla="*/ 82657 w 605702"/>
                  <a:gd name="connsiteY22" fmla="*/ 123961 h 604568"/>
                  <a:gd name="connsiteX23" fmla="*/ 246542 w 605702"/>
                  <a:gd name="connsiteY23" fmla="*/ 43775 h 604568"/>
                  <a:gd name="connsiteX24" fmla="*/ 536061 w 605702"/>
                  <a:gd name="connsiteY24" fmla="*/ 0 h 604568"/>
                  <a:gd name="connsiteX25" fmla="*/ 544232 w 605702"/>
                  <a:gd name="connsiteY25" fmla="*/ 61368 h 604568"/>
                  <a:gd name="connsiteX26" fmla="*/ 605702 w 605702"/>
                  <a:gd name="connsiteY26" fmla="*/ 69526 h 604568"/>
                  <a:gd name="connsiteX27" fmla="*/ 524361 w 605702"/>
                  <a:gd name="connsiteY27" fmla="*/ 150732 h 604568"/>
                  <a:gd name="connsiteX28" fmla="*/ 498361 w 605702"/>
                  <a:gd name="connsiteY28" fmla="*/ 147302 h 604568"/>
                  <a:gd name="connsiteX29" fmla="*/ 337721 w 605702"/>
                  <a:gd name="connsiteY29" fmla="*/ 307767 h 604568"/>
                  <a:gd name="connsiteX30" fmla="*/ 339764 w 605702"/>
                  <a:gd name="connsiteY30" fmla="*/ 323063 h 604568"/>
                  <a:gd name="connsiteX31" fmla="*/ 282101 w 605702"/>
                  <a:gd name="connsiteY31" fmla="*/ 380630 h 604568"/>
                  <a:gd name="connsiteX32" fmla="*/ 224437 w 605702"/>
                  <a:gd name="connsiteY32" fmla="*/ 323063 h 604568"/>
                  <a:gd name="connsiteX33" fmla="*/ 282101 w 605702"/>
                  <a:gd name="connsiteY33" fmla="*/ 265495 h 604568"/>
                  <a:gd name="connsiteX34" fmla="*/ 297422 w 605702"/>
                  <a:gd name="connsiteY34" fmla="*/ 267535 h 604568"/>
                  <a:gd name="connsiteX35" fmla="*/ 458155 w 605702"/>
                  <a:gd name="connsiteY35" fmla="*/ 107162 h 604568"/>
                  <a:gd name="connsiteX36" fmla="*/ 454719 w 605702"/>
                  <a:gd name="connsiteY36" fmla="*/ 81206 h 604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05702" h="604568">
                    <a:moveTo>
                      <a:pt x="290910" y="156336"/>
                    </a:moveTo>
                    <a:cubicBezTo>
                      <a:pt x="306137" y="157147"/>
                      <a:pt x="321272" y="160032"/>
                      <a:pt x="335849" y="164992"/>
                    </a:cubicBezTo>
                    <a:lnTo>
                      <a:pt x="288310" y="212456"/>
                    </a:lnTo>
                    <a:cubicBezTo>
                      <a:pt x="257856" y="210695"/>
                      <a:pt x="226844" y="221449"/>
                      <a:pt x="203632" y="244717"/>
                    </a:cubicBezTo>
                    <a:cubicBezTo>
                      <a:pt x="160271" y="287918"/>
                      <a:pt x="160271" y="358187"/>
                      <a:pt x="203632" y="401388"/>
                    </a:cubicBezTo>
                    <a:cubicBezTo>
                      <a:pt x="246900" y="444680"/>
                      <a:pt x="317279" y="444680"/>
                      <a:pt x="360547" y="401388"/>
                    </a:cubicBezTo>
                    <a:cubicBezTo>
                      <a:pt x="383852" y="378211"/>
                      <a:pt x="394623" y="347156"/>
                      <a:pt x="392859" y="316749"/>
                    </a:cubicBezTo>
                    <a:lnTo>
                      <a:pt x="440397" y="269284"/>
                    </a:lnTo>
                    <a:cubicBezTo>
                      <a:pt x="460267" y="327595"/>
                      <a:pt x="446897" y="394620"/>
                      <a:pt x="400287" y="441065"/>
                    </a:cubicBezTo>
                    <a:cubicBezTo>
                      <a:pt x="335106" y="506236"/>
                      <a:pt x="229073" y="506236"/>
                      <a:pt x="163892" y="441065"/>
                    </a:cubicBezTo>
                    <a:cubicBezTo>
                      <a:pt x="98619" y="375987"/>
                      <a:pt x="98619" y="270118"/>
                      <a:pt x="163892" y="205040"/>
                    </a:cubicBezTo>
                    <a:cubicBezTo>
                      <a:pt x="198711" y="170137"/>
                      <a:pt x="245228" y="153902"/>
                      <a:pt x="290910" y="156336"/>
                    </a:cubicBezTo>
                    <a:close/>
                    <a:moveTo>
                      <a:pt x="246542" y="43775"/>
                    </a:moveTo>
                    <a:cubicBezTo>
                      <a:pt x="306463" y="36243"/>
                      <a:pt x="368345" y="47900"/>
                      <a:pt x="422196" y="78723"/>
                    </a:cubicBezTo>
                    <a:lnTo>
                      <a:pt x="376794" y="124054"/>
                    </a:lnTo>
                    <a:cubicBezTo>
                      <a:pt x="294811" y="85305"/>
                      <a:pt x="193980" y="99581"/>
                      <a:pt x="126109" y="167345"/>
                    </a:cubicBezTo>
                    <a:cubicBezTo>
                      <a:pt x="39948" y="253371"/>
                      <a:pt x="39948" y="392793"/>
                      <a:pt x="126109" y="478820"/>
                    </a:cubicBezTo>
                    <a:cubicBezTo>
                      <a:pt x="212271" y="564846"/>
                      <a:pt x="351912" y="564846"/>
                      <a:pt x="438073" y="478820"/>
                    </a:cubicBezTo>
                    <a:cubicBezTo>
                      <a:pt x="505944" y="411055"/>
                      <a:pt x="520428" y="310382"/>
                      <a:pt x="481432" y="228527"/>
                    </a:cubicBezTo>
                    <a:lnTo>
                      <a:pt x="526741" y="183011"/>
                    </a:lnTo>
                    <a:cubicBezTo>
                      <a:pt x="588484" y="290544"/>
                      <a:pt x="573350" y="430244"/>
                      <a:pt x="481432" y="522111"/>
                    </a:cubicBezTo>
                    <a:cubicBezTo>
                      <a:pt x="371316" y="632054"/>
                      <a:pt x="192866" y="632054"/>
                      <a:pt x="82657" y="522111"/>
                    </a:cubicBezTo>
                    <a:cubicBezTo>
                      <a:pt x="-27552" y="412168"/>
                      <a:pt x="-27552" y="233997"/>
                      <a:pt x="82657" y="123961"/>
                    </a:cubicBezTo>
                    <a:cubicBezTo>
                      <a:pt x="128662" y="78028"/>
                      <a:pt x="186622" y="51307"/>
                      <a:pt x="246542" y="43775"/>
                    </a:cubicBezTo>
                    <a:close/>
                    <a:moveTo>
                      <a:pt x="536061" y="0"/>
                    </a:moveTo>
                    <a:lnTo>
                      <a:pt x="544232" y="61368"/>
                    </a:lnTo>
                    <a:lnTo>
                      <a:pt x="605702" y="69526"/>
                    </a:lnTo>
                    <a:lnTo>
                      <a:pt x="524361" y="150732"/>
                    </a:lnTo>
                    <a:lnTo>
                      <a:pt x="498361" y="147302"/>
                    </a:lnTo>
                    <a:lnTo>
                      <a:pt x="337721" y="307767"/>
                    </a:lnTo>
                    <a:cubicBezTo>
                      <a:pt x="339021" y="312588"/>
                      <a:pt x="339764" y="317779"/>
                      <a:pt x="339764" y="323063"/>
                    </a:cubicBezTo>
                    <a:cubicBezTo>
                      <a:pt x="339764" y="354859"/>
                      <a:pt x="313950" y="380630"/>
                      <a:pt x="282101" y="380630"/>
                    </a:cubicBezTo>
                    <a:cubicBezTo>
                      <a:pt x="250251" y="380630"/>
                      <a:pt x="224437" y="354859"/>
                      <a:pt x="224437" y="323063"/>
                    </a:cubicBezTo>
                    <a:cubicBezTo>
                      <a:pt x="224437" y="291266"/>
                      <a:pt x="250251" y="265495"/>
                      <a:pt x="282101" y="265495"/>
                    </a:cubicBezTo>
                    <a:cubicBezTo>
                      <a:pt x="287393" y="265495"/>
                      <a:pt x="292500" y="266237"/>
                      <a:pt x="297422" y="267535"/>
                    </a:cubicBezTo>
                    <a:lnTo>
                      <a:pt x="458155" y="107162"/>
                    </a:lnTo>
                    <a:lnTo>
                      <a:pt x="454719" y="8120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Bullet1"/>
              <p:cNvSpPr txBox="1"/>
              <p:nvPr>
                <p:custDataLst>
                  <p:tags r:id="rId7"/>
                </p:custDataLst>
              </p:nvPr>
            </p:nvSpPr>
            <p:spPr bwMode="auto">
              <a:xfrm>
                <a:off x="6814778" y="1898011"/>
                <a:ext cx="5284470" cy="5340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实现风力电厂直流系统监测的原型验证装置一套</a:t>
                </a:r>
                <a:endPara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414732" y="2111494"/>
              <a:ext cx="6936105" cy="1509395"/>
              <a:chOff x="4414732" y="2111494"/>
              <a:chExt cx="6936105" cy="1509395"/>
            </a:xfrm>
          </p:grpSpPr>
          <p:sp>
            <p:nvSpPr>
              <p:cNvPr id="21" name="Number2"/>
              <p:cNvSpPr/>
              <p:nvPr/>
            </p:nvSpPr>
            <p:spPr bwMode="auto">
              <a:xfrm>
                <a:off x="4414732" y="2111494"/>
                <a:ext cx="772997" cy="77299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none" lIns="91440" tIns="45720" rIns="91440" bIns="45720" numCol="1" anchor="ctr" anchorCtr="1" compatLnSpc="1">
                <a:noAutofit/>
              </a:bodyPr>
              <a:lstStyle/>
              <a:p>
                <a:pPr algn="ctr"/>
                <a:r>
                  <a:rPr lang="en-US" altLang="zh-CN" sz="2000" b="1">
                    <a:solidFill>
                      <a:srgbClr val="FFFFFF"/>
                    </a:solidFill>
                  </a:rPr>
                  <a:t>02</a:t>
                </a:r>
                <a:endParaRPr lang="en-US" altLang="zh-CN" sz="2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Icon2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6059277" y="3209193"/>
                <a:ext cx="427582" cy="411220"/>
              </a:xfrm>
              <a:custGeom>
                <a:avLst/>
                <a:gdLst>
                  <a:gd name="connsiteX0" fmla="*/ 61288 w 609549"/>
                  <a:gd name="connsiteY0" fmla="*/ 383285 h 586216"/>
                  <a:gd name="connsiteX1" fmla="*/ 71162 w 609549"/>
                  <a:gd name="connsiteY1" fmla="*/ 387101 h 586216"/>
                  <a:gd name="connsiteX2" fmla="*/ 120018 w 609549"/>
                  <a:gd name="connsiteY2" fmla="*/ 435892 h 586216"/>
                  <a:gd name="connsiteX3" fmla="*/ 120018 w 609549"/>
                  <a:gd name="connsiteY3" fmla="*/ 454200 h 586216"/>
                  <a:gd name="connsiteX4" fmla="*/ 56639 w 609549"/>
                  <a:gd name="connsiteY4" fmla="*/ 517543 h 586216"/>
                  <a:gd name="connsiteX5" fmla="*/ 35592 w 609549"/>
                  <a:gd name="connsiteY5" fmla="*/ 513644 h 586216"/>
                  <a:gd name="connsiteX6" fmla="*/ 51877 w 609549"/>
                  <a:gd name="connsiteY6" fmla="*/ 388099 h 586216"/>
                  <a:gd name="connsiteX7" fmla="*/ 61288 w 609549"/>
                  <a:gd name="connsiteY7" fmla="*/ 383285 h 586216"/>
                  <a:gd name="connsiteX8" fmla="*/ 235245 w 609549"/>
                  <a:gd name="connsiteY8" fmla="*/ 302810 h 586216"/>
                  <a:gd name="connsiteX9" fmla="*/ 306042 w 609549"/>
                  <a:gd name="connsiteY9" fmla="*/ 373466 h 586216"/>
                  <a:gd name="connsiteX10" fmla="*/ 258717 w 609549"/>
                  <a:gd name="connsiteY10" fmla="*/ 420680 h 586216"/>
                  <a:gd name="connsiteX11" fmla="*/ 230246 w 609549"/>
                  <a:gd name="connsiteY11" fmla="*/ 550152 h 586216"/>
                  <a:gd name="connsiteX12" fmla="*/ 92223 w 609549"/>
                  <a:gd name="connsiteY12" fmla="*/ 575305 h 586216"/>
                  <a:gd name="connsiteX13" fmla="*/ 88748 w 609549"/>
                  <a:gd name="connsiteY13" fmla="*/ 556143 h 586216"/>
                  <a:gd name="connsiteX14" fmla="*/ 165115 w 609549"/>
                  <a:gd name="connsiteY14" fmla="*/ 479877 h 586216"/>
                  <a:gd name="connsiteX15" fmla="*/ 165115 w 609549"/>
                  <a:gd name="connsiteY15" fmla="*/ 446308 h 586216"/>
                  <a:gd name="connsiteX16" fmla="*/ 88700 w 609549"/>
                  <a:gd name="connsiteY16" fmla="*/ 369995 h 586216"/>
                  <a:gd name="connsiteX17" fmla="*/ 92128 w 609549"/>
                  <a:gd name="connsiteY17" fmla="*/ 350976 h 586216"/>
                  <a:gd name="connsiteX18" fmla="*/ 189111 w 609549"/>
                  <a:gd name="connsiteY18" fmla="*/ 348884 h 586216"/>
                  <a:gd name="connsiteX19" fmla="*/ 257958 w 609549"/>
                  <a:gd name="connsiteY19" fmla="*/ 161679 h 586216"/>
                  <a:gd name="connsiteX20" fmla="*/ 317251 w 609549"/>
                  <a:gd name="connsiteY20" fmla="*/ 220879 h 586216"/>
                  <a:gd name="connsiteX21" fmla="*/ 388070 w 609549"/>
                  <a:gd name="connsiteY21" fmla="*/ 291586 h 586216"/>
                  <a:gd name="connsiteX22" fmla="*/ 604906 w 609549"/>
                  <a:gd name="connsiteY22" fmla="*/ 508130 h 586216"/>
                  <a:gd name="connsiteX23" fmla="*/ 604906 w 609549"/>
                  <a:gd name="connsiteY23" fmla="*/ 530526 h 586216"/>
                  <a:gd name="connsiteX24" fmla="*/ 556567 w 609549"/>
                  <a:gd name="connsiteY24" fmla="*/ 578789 h 586216"/>
                  <a:gd name="connsiteX25" fmla="*/ 545327 w 609549"/>
                  <a:gd name="connsiteY25" fmla="*/ 583449 h 586216"/>
                  <a:gd name="connsiteX26" fmla="*/ 534135 w 609549"/>
                  <a:gd name="connsiteY26" fmla="*/ 578789 h 586216"/>
                  <a:gd name="connsiteX27" fmla="*/ 317251 w 609549"/>
                  <a:gd name="connsiteY27" fmla="*/ 362293 h 586216"/>
                  <a:gd name="connsiteX28" fmla="*/ 246481 w 609549"/>
                  <a:gd name="connsiteY28" fmla="*/ 291586 h 586216"/>
                  <a:gd name="connsiteX29" fmla="*/ 187140 w 609549"/>
                  <a:gd name="connsiteY29" fmla="*/ 232339 h 586216"/>
                  <a:gd name="connsiteX30" fmla="*/ 58606 w 609549"/>
                  <a:gd name="connsiteY30" fmla="*/ 160814 h 586216"/>
                  <a:gd name="connsiteX31" fmla="*/ 126401 w 609549"/>
                  <a:gd name="connsiteY31" fmla="*/ 228498 h 586216"/>
                  <a:gd name="connsiteX32" fmla="*/ 111975 w 609549"/>
                  <a:gd name="connsiteY32" fmla="*/ 242899 h 586216"/>
                  <a:gd name="connsiteX33" fmla="*/ 119307 w 609549"/>
                  <a:gd name="connsiteY33" fmla="*/ 250219 h 586216"/>
                  <a:gd name="connsiteX34" fmla="*/ 119307 w 609549"/>
                  <a:gd name="connsiteY34" fmla="*/ 277692 h 586216"/>
                  <a:gd name="connsiteX35" fmla="*/ 115641 w 609549"/>
                  <a:gd name="connsiteY35" fmla="*/ 281352 h 586216"/>
                  <a:gd name="connsiteX36" fmla="*/ 88123 w 609549"/>
                  <a:gd name="connsiteY36" fmla="*/ 281352 h 586216"/>
                  <a:gd name="connsiteX37" fmla="*/ 5712 w 609549"/>
                  <a:gd name="connsiteY37" fmla="*/ 199029 h 586216"/>
                  <a:gd name="connsiteX38" fmla="*/ 5712 w 609549"/>
                  <a:gd name="connsiteY38" fmla="*/ 171604 h 586216"/>
                  <a:gd name="connsiteX39" fmla="*/ 9378 w 609549"/>
                  <a:gd name="connsiteY39" fmla="*/ 167944 h 586216"/>
                  <a:gd name="connsiteX40" fmla="*/ 36849 w 609549"/>
                  <a:gd name="connsiteY40" fmla="*/ 167944 h 586216"/>
                  <a:gd name="connsiteX41" fmla="*/ 44180 w 609549"/>
                  <a:gd name="connsiteY41" fmla="*/ 175264 h 586216"/>
                  <a:gd name="connsiteX42" fmla="*/ 585775 w 609549"/>
                  <a:gd name="connsiteY42" fmla="*/ 66370 h 586216"/>
                  <a:gd name="connsiteX43" fmla="*/ 595263 w 609549"/>
                  <a:gd name="connsiteY43" fmla="*/ 73839 h 586216"/>
                  <a:gd name="connsiteX44" fmla="*/ 578978 w 609549"/>
                  <a:gd name="connsiteY44" fmla="*/ 199341 h 586216"/>
                  <a:gd name="connsiteX45" fmla="*/ 559693 w 609549"/>
                  <a:gd name="connsiteY45" fmla="*/ 200387 h 586216"/>
                  <a:gd name="connsiteX46" fmla="*/ 510789 w 609549"/>
                  <a:gd name="connsiteY46" fmla="*/ 151612 h 586216"/>
                  <a:gd name="connsiteX47" fmla="*/ 510789 w 609549"/>
                  <a:gd name="connsiteY47" fmla="*/ 133262 h 586216"/>
                  <a:gd name="connsiteX48" fmla="*/ 574216 w 609549"/>
                  <a:gd name="connsiteY48" fmla="*/ 69988 h 586216"/>
                  <a:gd name="connsiteX49" fmla="*/ 585775 w 609549"/>
                  <a:gd name="connsiteY49" fmla="*/ 66370 h 586216"/>
                  <a:gd name="connsiteX50" fmla="*/ 158702 w 609549"/>
                  <a:gd name="connsiteY50" fmla="*/ 26758 h 586216"/>
                  <a:gd name="connsiteX51" fmla="*/ 172463 w 609549"/>
                  <a:gd name="connsiteY51" fmla="*/ 32464 h 586216"/>
                  <a:gd name="connsiteX52" fmla="*/ 179701 w 609549"/>
                  <a:gd name="connsiteY52" fmla="*/ 39691 h 586216"/>
                  <a:gd name="connsiteX53" fmla="*/ 246935 w 609549"/>
                  <a:gd name="connsiteY53" fmla="*/ 106831 h 586216"/>
                  <a:gd name="connsiteX54" fmla="*/ 254886 w 609549"/>
                  <a:gd name="connsiteY54" fmla="*/ 114819 h 586216"/>
                  <a:gd name="connsiteX55" fmla="*/ 257600 w 609549"/>
                  <a:gd name="connsiteY55" fmla="*/ 138879 h 586216"/>
                  <a:gd name="connsiteX56" fmla="*/ 254886 w 609549"/>
                  <a:gd name="connsiteY56" fmla="*/ 142255 h 586216"/>
                  <a:gd name="connsiteX57" fmla="*/ 252315 w 609549"/>
                  <a:gd name="connsiteY57" fmla="*/ 144823 h 586216"/>
                  <a:gd name="connsiteX58" fmla="*/ 246696 w 609549"/>
                  <a:gd name="connsiteY58" fmla="*/ 150434 h 586216"/>
                  <a:gd name="connsiteX59" fmla="*/ 175892 w 609549"/>
                  <a:gd name="connsiteY59" fmla="*/ 221140 h 586216"/>
                  <a:gd name="connsiteX60" fmla="*/ 172463 w 609549"/>
                  <a:gd name="connsiteY60" fmla="*/ 224611 h 586216"/>
                  <a:gd name="connsiteX61" fmla="*/ 170130 w 609549"/>
                  <a:gd name="connsiteY61" fmla="*/ 226560 h 586216"/>
                  <a:gd name="connsiteX62" fmla="*/ 162274 w 609549"/>
                  <a:gd name="connsiteY62" fmla="*/ 229936 h 586216"/>
                  <a:gd name="connsiteX63" fmla="*/ 158702 w 609549"/>
                  <a:gd name="connsiteY63" fmla="*/ 230269 h 586216"/>
                  <a:gd name="connsiteX64" fmla="*/ 144942 w 609549"/>
                  <a:gd name="connsiteY64" fmla="*/ 224611 h 586216"/>
                  <a:gd name="connsiteX65" fmla="*/ 137609 w 609549"/>
                  <a:gd name="connsiteY65" fmla="*/ 217288 h 586216"/>
                  <a:gd name="connsiteX66" fmla="*/ 69804 w 609549"/>
                  <a:gd name="connsiteY66" fmla="*/ 149578 h 586216"/>
                  <a:gd name="connsiteX67" fmla="*/ 62519 w 609549"/>
                  <a:gd name="connsiteY67" fmla="*/ 142255 h 586216"/>
                  <a:gd name="connsiteX68" fmla="*/ 62519 w 609549"/>
                  <a:gd name="connsiteY68" fmla="*/ 114819 h 586216"/>
                  <a:gd name="connsiteX69" fmla="*/ 144942 w 609549"/>
                  <a:gd name="connsiteY69" fmla="*/ 32464 h 586216"/>
                  <a:gd name="connsiteX70" fmla="*/ 158702 w 609549"/>
                  <a:gd name="connsiteY70" fmla="*/ 26758 h 586216"/>
                  <a:gd name="connsiteX71" fmla="*/ 254809 w 609549"/>
                  <a:gd name="connsiteY71" fmla="*/ 6542 h 586216"/>
                  <a:gd name="connsiteX72" fmla="*/ 321015 w 609549"/>
                  <a:gd name="connsiteY72" fmla="*/ 29913 h 586216"/>
                  <a:gd name="connsiteX73" fmla="*/ 260017 w 609549"/>
                  <a:gd name="connsiteY73" fmla="*/ 97465 h 586216"/>
                  <a:gd name="connsiteX74" fmla="*/ 193067 w 609549"/>
                  <a:gd name="connsiteY74" fmla="*/ 30626 h 586216"/>
                  <a:gd name="connsiteX75" fmla="*/ 254809 w 609549"/>
                  <a:gd name="connsiteY75" fmla="*/ 6542 h 586216"/>
                  <a:gd name="connsiteX76" fmla="*/ 503105 w 609549"/>
                  <a:gd name="connsiteY76" fmla="*/ 953 h 586216"/>
                  <a:gd name="connsiteX77" fmla="*/ 538560 w 609549"/>
                  <a:gd name="connsiteY77" fmla="*/ 10911 h 586216"/>
                  <a:gd name="connsiteX78" fmla="*/ 542083 w 609549"/>
                  <a:gd name="connsiteY78" fmla="*/ 30073 h 586216"/>
                  <a:gd name="connsiteX79" fmla="*/ 465709 w 609549"/>
                  <a:gd name="connsiteY79" fmla="*/ 106341 h 586216"/>
                  <a:gd name="connsiteX80" fmla="*/ 465709 w 609549"/>
                  <a:gd name="connsiteY80" fmla="*/ 139911 h 586216"/>
                  <a:gd name="connsiteX81" fmla="*/ 542131 w 609549"/>
                  <a:gd name="connsiteY81" fmla="*/ 216227 h 586216"/>
                  <a:gd name="connsiteX82" fmla="*/ 538655 w 609549"/>
                  <a:gd name="connsiteY82" fmla="*/ 235246 h 586216"/>
                  <a:gd name="connsiteX83" fmla="*/ 442187 w 609549"/>
                  <a:gd name="connsiteY83" fmla="*/ 237528 h 586216"/>
                  <a:gd name="connsiteX84" fmla="*/ 399238 w 609549"/>
                  <a:gd name="connsiteY84" fmla="*/ 280370 h 586216"/>
                  <a:gd name="connsiteX85" fmla="*/ 328482 w 609549"/>
                  <a:gd name="connsiteY85" fmla="*/ 209712 h 586216"/>
                  <a:gd name="connsiteX86" fmla="*/ 372240 w 609549"/>
                  <a:gd name="connsiteY86" fmla="*/ 166015 h 586216"/>
                  <a:gd name="connsiteX87" fmla="*/ 400571 w 609549"/>
                  <a:gd name="connsiteY87" fmla="*/ 36064 h 586216"/>
                  <a:gd name="connsiteX88" fmla="*/ 503105 w 609549"/>
                  <a:gd name="connsiteY88" fmla="*/ 953 h 586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09549" h="586216">
                    <a:moveTo>
                      <a:pt x="61288" y="383285"/>
                    </a:moveTo>
                    <a:cubicBezTo>
                      <a:pt x="64829" y="383106"/>
                      <a:pt x="68448" y="384367"/>
                      <a:pt x="71162" y="387101"/>
                    </a:cubicBezTo>
                    <a:lnTo>
                      <a:pt x="120018" y="435892"/>
                    </a:lnTo>
                    <a:cubicBezTo>
                      <a:pt x="125113" y="440933"/>
                      <a:pt x="125113" y="449160"/>
                      <a:pt x="120018" y="454200"/>
                    </a:cubicBezTo>
                    <a:lnTo>
                      <a:pt x="56639" y="517543"/>
                    </a:lnTo>
                    <a:cubicBezTo>
                      <a:pt x="50211" y="523963"/>
                      <a:pt x="39211" y="522013"/>
                      <a:pt x="35592" y="513644"/>
                    </a:cubicBezTo>
                    <a:cubicBezTo>
                      <a:pt x="17783" y="472794"/>
                      <a:pt x="23211" y="424288"/>
                      <a:pt x="51877" y="388099"/>
                    </a:cubicBezTo>
                    <a:cubicBezTo>
                      <a:pt x="54282" y="385079"/>
                      <a:pt x="57746" y="383463"/>
                      <a:pt x="61288" y="383285"/>
                    </a:cubicBezTo>
                    <a:close/>
                    <a:moveTo>
                      <a:pt x="235245" y="302810"/>
                    </a:moveTo>
                    <a:lnTo>
                      <a:pt x="306042" y="373466"/>
                    </a:lnTo>
                    <a:lnTo>
                      <a:pt x="258717" y="420680"/>
                    </a:lnTo>
                    <a:cubicBezTo>
                      <a:pt x="274667" y="464329"/>
                      <a:pt x="265192" y="515300"/>
                      <a:pt x="230246" y="550152"/>
                    </a:cubicBezTo>
                    <a:cubicBezTo>
                      <a:pt x="192919" y="587430"/>
                      <a:pt x="137644" y="595798"/>
                      <a:pt x="92223" y="575305"/>
                    </a:cubicBezTo>
                    <a:cubicBezTo>
                      <a:pt x="84701" y="571882"/>
                      <a:pt x="82892" y="561992"/>
                      <a:pt x="88748" y="556143"/>
                    </a:cubicBezTo>
                    <a:lnTo>
                      <a:pt x="165115" y="479877"/>
                    </a:lnTo>
                    <a:cubicBezTo>
                      <a:pt x="174399" y="470605"/>
                      <a:pt x="174399" y="455580"/>
                      <a:pt x="165115" y="446308"/>
                    </a:cubicBezTo>
                    <a:lnTo>
                      <a:pt x="88700" y="369995"/>
                    </a:lnTo>
                    <a:cubicBezTo>
                      <a:pt x="82844" y="364194"/>
                      <a:pt x="84653" y="354399"/>
                      <a:pt x="92128" y="350976"/>
                    </a:cubicBezTo>
                    <a:cubicBezTo>
                      <a:pt x="122789" y="337092"/>
                      <a:pt x="157973" y="336379"/>
                      <a:pt x="189111" y="348884"/>
                    </a:cubicBezTo>
                    <a:close/>
                    <a:moveTo>
                      <a:pt x="257958" y="161679"/>
                    </a:moveTo>
                    <a:lnTo>
                      <a:pt x="317251" y="220879"/>
                    </a:lnTo>
                    <a:lnTo>
                      <a:pt x="388070" y="291586"/>
                    </a:lnTo>
                    <a:lnTo>
                      <a:pt x="604906" y="508130"/>
                    </a:lnTo>
                    <a:cubicBezTo>
                      <a:pt x="611097" y="514311"/>
                      <a:pt x="611097" y="524344"/>
                      <a:pt x="604906" y="530526"/>
                    </a:cubicBezTo>
                    <a:lnTo>
                      <a:pt x="556567" y="578789"/>
                    </a:lnTo>
                    <a:cubicBezTo>
                      <a:pt x="553471" y="581880"/>
                      <a:pt x="549423" y="583449"/>
                      <a:pt x="545327" y="583449"/>
                    </a:cubicBezTo>
                    <a:cubicBezTo>
                      <a:pt x="541279" y="583449"/>
                      <a:pt x="537231" y="581880"/>
                      <a:pt x="534135" y="578789"/>
                    </a:cubicBezTo>
                    <a:lnTo>
                      <a:pt x="317251" y="362293"/>
                    </a:lnTo>
                    <a:lnTo>
                      <a:pt x="246481" y="291586"/>
                    </a:lnTo>
                    <a:lnTo>
                      <a:pt x="187140" y="232339"/>
                    </a:lnTo>
                    <a:close/>
                    <a:moveTo>
                      <a:pt x="58606" y="160814"/>
                    </a:moveTo>
                    <a:lnTo>
                      <a:pt x="126401" y="228498"/>
                    </a:lnTo>
                    <a:lnTo>
                      <a:pt x="111975" y="242899"/>
                    </a:lnTo>
                    <a:lnTo>
                      <a:pt x="119307" y="250219"/>
                    </a:lnTo>
                    <a:cubicBezTo>
                      <a:pt x="126877" y="257824"/>
                      <a:pt x="126877" y="270087"/>
                      <a:pt x="119307" y="277692"/>
                    </a:cubicBezTo>
                    <a:lnTo>
                      <a:pt x="115641" y="281352"/>
                    </a:lnTo>
                    <a:cubicBezTo>
                      <a:pt x="108024" y="288909"/>
                      <a:pt x="95741" y="288909"/>
                      <a:pt x="88123" y="281352"/>
                    </a:cubicBezTo>
                    <a:lnTo>
                      <a:pt x="5712" y="199029"/>
                    </a:lnTo>
                    <a:cubicBezTo>
                      <a:pt x="-1905" y="191424"/>
                      <a:pt x="-1905" y="179161"/>
                      <a:pt x="5712" y="171604"/>
                    </a:cubicBezTo>
                    <a:lnTo>
                      <a:pt x="9378" y="167944"/>
                    </a:lnTo>
                    <a:cubicBezTo>
                      <a:pt x="16948" y="160339"/>
                      <a:pt x="29231" y="160339"/>
                      <a:pt x="36849" y="167944"/>
                    </a:cubicBezTo>
                    <a:lnTo>
                      <a:pt x="44180" y="175264"/>
                    </a:lnTo>
                    <a:close/>
                    <a:moveTo>
                      <a:pt x="585775" y="66370"/>
                    </a:moveTo>
                    <a:cubicBezTo>
                      <a:pt x="589775" y="67101"/>
                      <a:pt x="593430" y="69680"/>
                      <a:pt x="595263" y="73839"/>
                    </a:cubicBezTo>
                    <a:cubicBezTo>
                      <a:pt x="613072" y="114675"/>
                      <a:pt x="607644" y="163212"/>
                      <a:pt x="578978" y="199341"/>
                    </a:cubicBezTo>
                    <a:cubicBezTo>
                      <a:pt x="574168" y="205379"/>
                      <a:pt x="565121" y="205854"/>
                      <a:pt x="559693" y="200387"/>
                    </a:cubicBezTo>
                    <a:lnTo>
                      <a:pt x="510789" y="151612"/>
                    </a:lnTo>
                    <a:cubicBezTo>
                      <a:pt x="505742" y="146526"/>
                      <a:pt x="505742" y="138349"/>
                      <a:pt x="510789" y="133262"/>
                    </a:cubicBezTo>
                    <a:lnTo>
                      <a:pt x="574216" y="69988"/>
                    </a:lnTo>
                    <a:cubicBezTo>
                      <a:pt x="577430" y="66756"/>
                      <a:pt x="581775" y="65639"/>
                      <a:pt x="585775" y="66370"/>
                    </a:cubicBezTo>
                    <a:close/>
                    <a:moveTo>
                      <a:pt x="158702" y="26758"/>
                    </a:moveTo>
                    <a:cubicBezTo>
                      <a:pt x="163655" y="26758"/>
                      <a:pt x="168654" y="28660"/>
                      <a:pt x="172463" y="32464"/>
                    </a:cubicBezTo>
                    <a:lnTo>
                      <a:pt x="179701" y="39691"/>
                    </a:lnTo>
                    <a:lnTo>
                      <a:pt x="246935" y="106831"/>
                    </a:lnTo>
                    <a:lnTo>
                      <a:pt x="254886" y="114819"/>
                    </a:lnTo>
                    <a:cubicBezTo>
                      <a:pt x="261457" y="121334"/>
                      <a:pt x="262362" y="131414"/>
                      <a:pt x="257600" y="138879"/>
                    </a:cubicBezTo>
                    <a:cubicBezTo>
                      <a:pt x="256839" y="140068"/>
                      <a:pt x="255934" y="141209"/>
                      <a:pt x="254886" y="142255"/>
                    </a:cubicBezTo>
                    <a:lnTo>
                      <a:pt x="252315" y="144823"/>
                    </a:lnTo>
                    <a:lnTo>
                      <a:pt x="246696" y="150434"/>
                    </a:lnTo>
                    <a:lnTo>
                      <a:pt x="175892" y="221140"/>
                    </a:lnTo>
                    <a:lnTo>
                      <a:pt x="172463" y="224611"/>
                    </a:lnTo>
                    <a:cubicBezTo>
                      <a:pt x="171702" y="225324"/>
                      <a:pt x="170940" y="225990"/>
                      <a:pt x="170130" y="226560"/>
                    </a:cubicBezTo>
                    <a:cubicBezTo>
                      <a:pt x="167749" y="228319"/>
                      <a:pt x="165083" y="229413"/>
                      <a:pt x="162274" y="229936"/>
                    </a:cubicBezTo>
                    <a:cubicBezTo>
                      <a:pt x="161083" y="230174"/>
                      <a:pt x="159893" y="230269"/>
                      <a:pt x="158702" y="230269"/>
                    </a:cubicBezTo>
                    <a:cubicBezTo>
                      <a:pt x="153703" y="230269"/>
                      <a:pt x="148751" y="228367"/>
                      <a:pt x="144942" y="224611"/>
                    </a:cubicBezTo>
                    <a:lnTo>
                      <a:pt x="137609" y="217288"/>
                    </a:lnTo>
                    <a:lnTo>
                      <a:pt x="69804" y="149578"/>
                    </a:lnTo>
                    <a:lnTo>
                      <a:pt x="62519" y="142255"/>
                    </a:lnTo>
                    <a:cubicBezTo>
                      <a:pt x="54900" y="134647"/>
                      <a:pt x="54900" y="122380"/>
                      <a:pt x="62519" y="114819"/>
                    </a:cubicBezTo>
                    <a:lnTo>
                      <a:pt x="144942" y="32464"/>
                    </a:lnTo>
                    <a:cubicBezTo>
                      <a:pt x="148751" y="28660"/>
                      <a:pt x="153750" y="26758"/>
                      <a:pt x="158702" y="26758"/>
                    </a:cubicBezTo>
                    <a:close/>
                    <a:moveTo>
                      <a:pt x="254809" y="6542"/>
                    </a:moveTo>
                    <a:cubicBezTo>
                      <a:pt x="277279" y="4029"/>
                      <a:pt x="300492" y="9424"/>
                      <a:pt x="321015" y="29913"/>
                    </a:cubicBezTo>
                    <a:cubicBezTo>
                      <a:pt x="380347" y="89193"/>
                      <a:pt x="337205" y="46124"/>
                      <a:pt x="260017" y="97465"/>
                    </a:cubicBezTo>
                    <a:lnTo>
                      <a:pt x="193067" y="30626"/>
                    </a:lnTo>
                    <a:cubicBezTo>
                      <a:pt x="210614" y="19479"/>
                      <a:pt x="232340" y="9056"/>
                      <a:pt x="254809" y="6542"/>
                    </a:cubicBezTo>
                    <a:close/>
                    <a:moveTo>
                      <a:pt x="503105" y="953"/>
                    </a:moveTo>
                    <a:cubicBezTo>
                      <a:pt x="515252" y="2468"/>
                      <a:pt x="527216" y="5788"/>
                      <a:pt x="538560" y="10911"/>
                    </a:cubicBezTo>
                    <a:cubicBezTo>
                      <a:pt x="546131" y="14334"/>
                      <a:pt x="547940" y="24224"/>
                      <a:pt x="542083" y="30073"/>
                    </a:cubicBezTo>
                    <a:lnTo>
                      <a:pt x="465709" y="106341"/>
                    </a:lnTo>
                    <a:cubicBezTo>
                      <a:pt x="456424" y="115613"/>
                      <a:pt x="456424" y="130639"/>
                      <a:pt x="465709" y="139911"/>
                    </a:cubicBezTo>
                    <a:lnTo>
                      <a:pt x="542131" y="216227"/>
                    </a:lnTo>
                    <a:cubicBezTo>
                      <a:pt x="547940" y="222028"/>
                      <a:pt x="546178" y="231823"/>
                      <a:pt x="538655" y="235246"/>
                    </a:cubicBezTo>
                    <a:cubicBezTo>
                      <a:pt x="508181" y="249035"/>
                      <a:pt x="473184" y="249844"/>
                      <a:pt x="442187" y="237528"/>
                    </a:cubicBezTo>
                    <a:lnTo>
                      <a:pt x="399238" y="280370"/>
                    </a:lnTo>
                    <a:lnTo>
                      <a:pt x="328482" y="209712"/>
                    </a:lnTo>
                    <a:lnTo>
                      <a:pt x="372240" y="166015"/>
                    </a:lnTo>
                    <a:cubicBezTo>
                      <a:pt x="356051" y="122270"/>
                      <a:pt x="365527" y="71060"/>
                      <a:pt x="400571" y="36064"/>
                    </a:cubicBezTo>
                    <a:cubicBezTo>
                      <a:pt x="428569" y="8106"/>
                      <a:pt x="466664" y="-3592"/>
                      <a:pt x="503105" y="95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Bullet2"/>
              <p:cNvSpPr txBox="1"/>
              <p:nvPr>
                <p:custDataLst>
                  <p:tags r:id="rId9"/>
                </p:custDataLst>
              </p:nvPr>
            </p:nvSpPr>
            <p:spPr bwMode="auto">
              <a:xfrm>
                <a:off x="6815032" y="3175119"/>
                <a:ext cx="4535805" cy="4457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公开发表</a:t>
                </a:r>
                <a:r>
                  <a:rPr lang="en-US" altLang="zh-CN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EI</a:t>
                </a: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会议收录的论文</a:t>
                </a:r>
                <a:r>
                  <a:rPr lang="en-US" altLang="zh-CN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1</a:t>
                </a: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篇</a:t>
                </a:r>
                <a:endPara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713823" y="4318468"/>
              <a:ext cx="10474960" cy="1315094"/>
              <a:chOff x="1713823" y="4318468"/>
              <a:chExt cx="10474960" cy="1315094"/>
            </a:xfrm>
          </p:grpSpPr>
          <p:sp>
            <p:nvSpPr>
              <p:cNvPr id="17" name="Number3"/>
              <p:cNvSpPr/>
              <p:nvPr/>
            </p:nvSpPr>
            <p:spPr bwMode="auto">
              <a:xfrm>
                <a:off x="1713823" y="4860565"/>
                <a:ext cx="772997" cy="7729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none" lIns="91440" tIns="45720" rIns="91440" bIns="45720" numCol="1" anchor="ctr" anchorCtr="1" compatLnSpc="1">
                <a:noAutofit/>
              </a:bodyPr>
              <a:lstStyle/>
              <a:p>
                <a:pPr algn="ctr"/>
                <a:r>
                  <a:rPr lang="en-US" altLang="zh-CN" sz="2000" b="1">
                    <a:solidFill>
                      <a:srgbClr val="FFFFFF"/>
                    </a:solidFill>
                  </a:rPr>
                  <a:t>03</a:t>
                </a:r>
                <a:endParaRPr lang="en-US" altLang="zh-CN" sz="2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Icon3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6059303" y="4355118"/>
                <a:ext cx="421181" cy="367663"/>
              </a:xfrm>
              <a:custGeom>
                <a:avLst/>
                <a:gdLst>
                  <a:gd name="connsiteX0" fmla="*/ 424975 w 608697"/>
                  <a:gd name="connsiteY0" fmla="*/ 168488 h 531358"/>
                  <a:gd name="connsiteX1" fmla="*/ 387604 w 608697"/>
                  <a:gd name="connsiteY1" fmla="*/ 205806 h 531358"/>
                  <a:gd name="connsiteX2" fmla="*/ 424975 w 608697"/>
                  <a:gd name="connsiteY2" fmla="*/ 243124 h 531358"/>
                  <a:gd name="connsiteX3" fmla="*/ 462346 w 608697"/>
                  <a:gd name="connsiteY3" fmla="*/ 205806 h 531358"/>
                  <a:gd name="connsiteX4" fmla="*/ 424975 w 608697"/>
                  <a:gd name="connsiteY4" fmla="*/ 168488 h 531358"/>
                  <a:gd name="connsiteX5" fmla="*/ 287947 w 608697"/>
                  <a:gd name="connsiteY5" fmla="*/ 168488 h 531358"/>
                  <a:gd name="connsiteX6" fmla="*/ 250576 w 608697"/>
                  <a:gd name="connsiteY6" fmla="*/ 205806 h 531358"/>
                  <a:gd name="connsiteX7" fmla="*/ 287947 w 608697"/>
                  <a:gd name="connsiteY7" fmla="*/ 243124 h 531358"/>
                  <a:gd name="connsiteX8" fmla="*/ 325318 w 608697"/>
                  <a:gd name="connsiteY8" fmla="*/ 205806 h 531358"/>
                  <a:gd name="connsiteX9" fmla="*/ 287947 w 608697"/>
                  <a:gd name="connsiteY9" fmla="*/ 168488 h 531358"/>
                  <a:gd name="connsiteX10" fmla="*/ 102356 w 608697"/>
                  <a:gd name="connsiteY10" fmla="*/ 121231 h 531358"/>
                  <a:gd name="connsiteX11" fmla="*/ 98850 w 608697"/>
                  <a:gd name="connsiteY11" fmla="*/ 127711 h 531358"/>
                  <a:gd name="connsiteX12" fmla="*/ 76842 w 608697"/>
                  <a:gd name="connsiteY12" fmla="*/ 217990 h 531358"/>
                  <a:gd name="connsiteX13" fmla="*/ 98850 w 608697"/>
                  <a:gd name="connsiteY13" fmla="*/ 308194 h 531358"/>
                  <a:gd name="connsiteX14" fmla="*/ 157488 w 608697"/>
                  <a:gd name="connsiteY14" fmla="*/ 380223 h 531358"/>
                  <a:gd name="connsiteX15" fmla="*/ 344668 w 608697"/>
                  <a:gd name="connsiteY15" fmla="*/ 444729 h 531358"/>
                  <a:gd name="connsiteX16" fmla="*/ 370257 w 608697"/>
                  <a:gd name="connsiteY16" fmla="*/ 443687 h 531358"/>
                  <a:gd name="connsiteX17" fmla="*/ 236717 w 608697"/>
                  <a:gd name="connsiteY17" fmla="*/ 477876 h 531358"/>
                  <a:gd name="connsiteX18" fmla="*/ 198072 w 608697"/>
                  <a:gd name="connsiteY18" fmla="*/ 475344 h 531358"/>
                  <a:gd name="connsiteX19" fmla="*/ 82437 w 608697"/>
                  <a:gd name="connsiteY19" fmla="*/ 531284 h 531358"/>
                  <a:gd name="connsiteX20" fmla="*/ 81542 w 608697"/>
                  <a:gd name="connsiteY20" fmla="*/ 531358 h 531358"/>
                  <a:gd name="connsiteX21" fmla="*/ 75051 w 608697"/>
                  <a:gd name="connsiteY21" fmla="*/ 527857 h 531358"/>
                  <a:gd name="connsiteX22" fmla="*/ 74753 w 608697"/>
                  <a:gd name="connsiteY22" fmla="*/ 519738 h 531358"/>
                  <a:gd name="connsiteX23" fmla="*/ 88778 w 608697"/>
                  <a:gd name="connsiteY23" fmla="*/ 435046 h 531358"/>
                  <a:gd name="connsiteX24" fmla="*/ 0 w 608697"/>
                  <a:gd name="connsiteY24" fmla="*/ 282198 h 531358"/>
                  <a:gd name="connsiteX25" fmla="*/ 102356 w 608697"/>
                  <a:gd name="connsiteY25" fmla="*/ 121231 h 531358"/>
                  <a:gd name="connsiteX26" fmla="*/ 356424 w 608697"/>
                  <a:gd name="connsiteY26" fmla="*/ 0 h 531358"/>
                  <a:gd name="connsiteX27" fmla="*/ 608697 w 608697"/>
                  <a:gd name="connsiteY27" fmla="*/ 211244 h 531358"/>
                  <a:gd name="connsiteX28" fmla="*/ 518290 w 608697"/>
                  <a:gd name="connsiteY28" fmla="*/ 373401 h 531358"/>
                  <a:gd name="connsiteX29" fmla="*/ 531941 w 608697"/>
                  <a:gd name="connsiteY29" fmla="*/ 441109 h 531358"/>
                  <a:gd name="connsiteX30" fmla="*/ 531120 w 608697"/>
                  <a:gd name="connsiteY30" fmla="*/ 465391 h 531358"/>
                  <a:gd name="connsiteX31" fmla="*/ 511577 w 608697"/>
                  <a:gd name="connsiteY31" fmla="*/ 475894 h 531358"/>
                  <a:gd name="connsiteX32" fmla="*/ 509041 w 608697"/>
                  <a:gd name="connsiteY32" fmla="*/ 475745 h 531358"/>
                  <a:gd name="connsiteX33" fmla="*/ 391408 w 608697"/>
                  <a:gd name="connsiteY33" fmla="*/ 420476 h 531358"/>
                  <a:gd name="connsiteX34" fmla="*/ 356424 w 608697"/>
                  <a:gd name="connsiteY34" fmla="*/ 422487 h 531358"/>
                  <a:gd name="connsiteX35" fmla="*/ 104225 w 608697"/>
                  <a:gd name="connsiteY35" fmla="*/ 211244 h 531358"/>
                  <a:gd name="connsiteX36" fmla="*/ 356424 w 608697"/>
                  <a:gd name="connsiteY36" fmla="*/ 0 h 531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08697" h="531358">
                    <a:moveTo>
                      <a:pt x="424975" y="168488"/>
                    </a:moveTo>
                    <a:cubicBezTo>
                      <a:pt x="404312" y="168488"/>
                      <a:pt x="387604" y="185248"/>
                      <a:pt x="387604" y="205806"/>
                    </a:cubicBezTo>
                    <a:cubicBezTo>
                      <a:pt x="387604" y="226439"/>
                      <a:pt x="404312" y="243124"/>
                      <a:pt x="424975" y="243124"/>
                    </a:cubicBezTo>
                    <a:cubicBezTo>
                      <a:pt x="445562" y="243124"/>
                      <a:pt x="462346" y="226439"/>
                      <a:pt x="462346" y="205806"/>
                    </a:cubicBezTo>
                    <a:cubicBezTo>
                      <a:pt x="462346" y="185248"/>
                      <a:pt x="445637" y="168488"/>
                      <a:pt x="424975" y="168488"/>
                    </a:cubicBezTo>
                    <a:close/>
                    <a:moveTo>
                      <a:pt x="287947" y="168488"/>
                    </a:moveTo>
                    <a:cubicBezTo>
                      <a:pt x="267285" y="168488"/>
                      <a:pt x="250576" y="185248"/>
                      <a:pt x="250576" y="205806"/>
                    </a:cubicBezTo>
                    <a:cubicBezTo>
                      <a:pt x="250576" y="226439"/>
                      <a:pt x="267285" y="243124"/>
                      <a:pt x="287947" y="243124"/>
                    </a:cubicBezTo>
                    <a:cubicBezTo>
                      <a:pt x="308610" y="243124"/>
                      <a:pt x="325318" y="226439"/>
                      <a:pt x="325318" y="205806"/>
                    </a:cubicBezTo>
                    <a:cubicBezTo>
                      <a:pt x="325318" y="185248"/>
                      <a:pt x="308610" y="168488"/>
                      <a:pt x="287947" y="168488"/>
                    </a:cubicBezTo>
                    <a:close/>
                    <a:moveTo>
                      <a:pt x="102356" y="121231"/>
                    </a:moveTo>
                    <a:cubicBezTo>
                      <a:pt x="101162" y="123317"/>
                      <a:pt x="99969" y="125477"/>
                      <a:pt x="98850" y="127711"/>
                    </a:cubicBezTo>
                    <a:cubicBezTo>
                      <a:pt x="84227" y="156240"/>
                      <a:pt x="76842" y="186631"/>
                      <a:pt x="76842" y="217990"/>
                    </a:cubicBezTo>
                    <a:cubicBezTo>
                      <a:pt x="76842" y="249275"/>
                      <a:pt x="84227" y="279666"/>
                      <a:pt x="98850" y="308194"/>
                    </a:cubicBezTo>
                    <a:cubicBezTo>
                      <a:pt x="112726" y="335308"/>
                      <a:pt x="132496" y="359516"/>
                      <a:pt x="157488" y="380223"/>
                    </a:cubicBezTo>
                    <a:cubicBezTo>
                      <a:pt x="207845" y="421787"/>
                      <a:pt x="274317" y="444729"/>
                      <a:pt x="344668" y="444729"/>
                    </a:cubicBezTo>
                    <a:cubicBezTo>
                      <a:pt x="353173" y="444729"/>
                      <a:pt x="361752" y="444357"/>
                      <a:pt x="370257" y="443687"/>
                    </a:cubicBezTo>
                    <a:cubicBezTo>
                      <a:pt x="332209" y="465288"/>
                      <a:pt x="286254" y="477876"/>
                      <a:pt x="236717" y="477876"/>
                    </a:cubicBezTo>
                    <a:cubicBezTo>
                      <a:pt x="223736" y="477876"/>
                      <a:pt x="210755" y="477057"/>
                      <a:pt x="198072" y="475344"/>
                    </a:cubicBezTo>
                    <a:cubicBezTo>
                      <a:pt x="160397" y="499478"/>
                      <a:pt x="110637" y="528155"/>
                      <a:pt x="82437" y="531284"/>
                    </a:cubicBezTo>
                    <a:cubicBezTo>
                      <a:pt x="82138" y="531358"/>
                      <a:pt x="81840" y="531358"/>
                      <a:pt x="81542" y="531358"/>
                    </a:cubicBezTo>
                    <a:cubicBezTo>
                      <a:pt x="78930" y="531358"/>
                      <a:pt x="76469" y="530017"/>
                      <a:pt x="75051" y="527857"/>
                    </a:cubicBezTo>
                    <a:cubicBezTo>
                      <a:pt x="73410" y="525399"/>
                      <a:pt x="73335" y="522271"/>
                      <a:pt x="74753" y="519738"/>
                    </a:cubicBezTo>
                    <a:cubicBezTo>
                      <a:pt x="75051" y="519291"/>
                      <a:pt x="99223" y="476014"/>
                      <a:pt x="88778" y="435046"/>
                    </a:cubicBezTo>
                    <a:cubicBezTo>
                      <a:pt x="32303" y="397653"/>
                      <a:pt x="0" y="342160"/>
                      <a:pt x="0" y="282198"/>
                    </a:cubicBezTo>
                    <a:cubicBezTo>
                      <a:pt x="0" y="215532"/>
                      <a:pt x="40584" y="156538"/>
                      <a:pt x="102356" y="121231"/>
                    </a:cubicBezTo>
                    <a:close/>
                    <a:moveTo>
                      <a:pt x="356424" y="0"/>
                    </a:moveTo>
                    <a:cubicBezTo>
                      <a:pt x="495540" y="0"/>
                      <a:pt x="608697" y="94747"/>
                      <a:pt x="608697" y="211244"/>
                    </a:cubicBezTo>
                    <a:cubicBezTo>
                      <a:pt x="608697" y="274408"/>
                      <a:pt x="575802" y="333178"/>
                      <a:pt x="518290" y="373401"/>
                    </a:cubicBezTo>
                    <a:cubicBezTo>
                      <a:pt x="512845" y="406324"/>
                      <a:pt x="531717" y="440811"/>
                      <a:pt x="531941" y="441109"/>
                    </a:cubicBezTo>
                    <a:cubicBezTo>
                      <a:pt x="536267" y="448781"/>
                      <a:pt x="535969" y="458092"/>
                      <a:pt x="531120" y="465391"/>
                    </a:cubicBezTo>
                    <a:cubicBezTo>
                      <a:pt x="526794" y="472021"/>
                      <a:pt x="519484" y="475894"/>
                      <a:pt x="511577" y="475894"/>
                    </a:cubicBezTo>
                    <a:cubicBezTo>
                      <a:pt x="510756" y="475894"/>
                      <a:pt x="509936" y="475894"/>
                      <a:pt x="509041" y="475745"/>
                    </a:cubicBezTo>
                    <a:cubicBezTo>
                      <a:pt x="484574" y="473064"/>
                      <a:pt x="444966" y="454442"/>
                      <a:pt x="391408" y="420476"/>
                    </a:cubicBezTo>
                    <a:cubicBezTo>
                      <a:pt x="379920" y="421817"/>
                      <a:pt x="368135" y="422487"/>
                      <a:pt x="356424" y="422487"/>
                    </a:cubicBezTo>
                    <a:cubicBezTo>
                      <a:pt x="217382" y="422487"/>
                      <a:pt x="104225" y="327741"/>
                      <a:pt x="104225" y="211244"/>
                    </a:cubicBezTo>
                    <a:cubicBezTo>
                      <a:pt x="104225" y="94747"/>
                      <a:pt x="217382" y="0"/>
                      <a:pt x="3564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Bullet3"/>
              <p:cNvSpPr txBox="1"/>
              <p:nvPr>
                <p:custDataLst>
                  <p:tags r:id="rId11"/>
                </p:custDataLst>
              </p:nvPr>
            </p:nvSpPr>
            <p:spPr bwMode="auto">
              <a:xfrm>
                <a:off x="6896058" y="4318468"/>
                <a:ext cx="5292725" cy="4457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授权软件著作权</a:t>
                </a: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rPr>
                  <a:t>或</a:t>
                </a: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ea"/>
                  </a:rPr>
                  <a:t>实用新型专利</a:t>
                </a:r>
                <a:r>
                  <a:rPr lang="en-US" altLang="zh-CN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1 </a:t>
                </a: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项</a:t>
                </a:r>
                <a:endPara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4414732" y="4860565"/>
              <a:ext cx="6322060" cy="1057275"/>
              <a:chOff x="4414732" y="4860565"/>
              <a:chExt cx="6322060" cy="1057275"/>
            </a:xfrm>
          </p:grpSpPr>
          <p:sp>
            <p:nvSpPr>
              <p:cNvPr id="13" name="Number4"/>
              <p:cNvSpPr/>
              <p:nvPr/>
            </p:nvSpPr>
            <p:spPr bwMode="auto">
              <a:xfrm>
                <a:off x="4414732" y="4860565"/>
                <a:ext cx="772997" cy="77299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none" lIns="91440" tIns="45720" rIns="91440" bIns="45720" numCol="1" anchor="ctr" anchorCtr="1" compatLnSpc="1">
                <a:noAutofit/>
              </a:bodyPr>
              <a:lstStyle/>
              <a:p>
                <a:pPr algn="ctr"/>
                <a:r>
                  <a:rPr lang="en-US" altLang="zh-CN" sz="2000" b="1">
                    <a:solidFill>
                      <a:srgbClr val="FFFFFF"/>
                    </a:solidFill>
                  </a:rPr>
                  <a:t>04</a:t>
                </a:r>
                <a:endParaRPr lang="en-US" altLang="zh-CN" sz="20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Icon4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6074025" y="5457184"/>
                <a:ext cx="474288" cy="456275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Bullet4"/>
              <p:cNvSpPr txBox="1"/>
              <p:nvPr>
                <p:custDataLst>
                  <p:tags r:id="rId13"/>
                </p:custDataLst>
              </p:nvPr>
            </p:nvSpPr>
            <p:spPr bwMode="auto">
              <a:xfrm>
                <a:off x="6896312" y="5472070"/>
                <a:ext cx="3840480" cy="4457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研究报告</a:t>
                </a:r>
                <a:r>
                  <a:rPr lang="en-US" altLang="zh-CN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1</a:t>
                </a:r>
                <a:r>
                  <a: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篇</a:t>
                </a:r>
                <a:endPara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44528" y="235200"/>
            <a:ext cx="3144388" cy="625261"/>
            <a:chOff x="222740" y="168058"/>
            <a:chExt cx="3144388" cy="625261"/>
          </a:xfrm>
        </p:grpSpPr>
        <p:sp>
          <p:nvSpPr>
            <p:cNvPr id="35" name="文本框 34"/>
            <p:cNvSpPr txBox="1"/>
            <p:nvPr/>
          </p:nvSpPr>
          <p:spPr>
            <a:xfrm>
              <a:off x="848001" y="191208"/>
              <a:ext cx="251912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预期成果</a:t>
              </a:r>
              <a:endPara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222740" y="168058"/>
              <a:ext cx="625261" cy="6252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9" name="ïś1ïďe"/>
          <p:cNvCxnSpPr/>
          <p:nvPr>
            <p:custDataLst>
              <p:tags r:id="rId14"/>
            </p:custDataLst>
          </p:nvPr>
        </p:nvCxnSpPr>
        <p:spPr>
          <a:xfrm>
            <a:off x="6654995" y="5915369"/>
            <a:ext cx="4341935" cy="0"/>
          </a:xfrm>
          <a:prstGeom prst="line">
            <a:avLst/>
          </a:prstGeom>
          <a:ln w="6350" cap="rnd">
            <a:solidFill>
              <a:schemeClr val="tx2">
                <a:alpha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íśḷïḑê"/>
          <p:cNvCxnSpPr/>
          <p:nvPr>
            <p:custDataLst>
              <p:tags r:id="rId15"/>
            </p:custDataLst>
          </p:nvPr>
        </p:nvCxnSpPr>
        <p:spPr>
          <a:xfrm flipV="1">
            <a:off x="947615" y="717283"/>
            <a:ext cx="1614805" cy="8890"/>
          </a:xfrm>
          <a:prstGeom prst="line">
            <a:avLst/>
          </a:prstGeom>
          <a:ln w="31750" cap="sq" cmpd="dbl">
            <a:solidFill>
              <a:schemeClr val="accent1"/>
            </a:solidFill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文本框 80"/>
          <p:cNvSpPr txBox="1"/>
          <p:nvPr/>
        </p:nvSpPr>
        <p:spPr>
          <a:xfrm>
            <a:off x="1167765" y="2807970"/>
            <a:ext cx="98488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b="1">
                <a:solidFill>
                  <a:schemeClr val="accent1">
                    <a:lumMod val="75000"/>
                  </a:schemeClr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请各位老师批评指正！</a:t>
            </a:r>
            <a:endParaRPr lang="zh-CN" altLang="en-US" sz="8000" b="1" spc="-150">
              <a:solidFill>
                <a:schemeClr val="accent1">
                  <a:lumMod val="75000"/>
                </a:schemeClr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4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5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6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7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8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9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10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11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12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13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14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15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16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17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18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19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0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1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2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3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4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5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6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7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8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29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0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1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2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3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4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5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6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7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8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39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40.xml><?xml version="1.0" encoding="utf-8"?>
<p:tagLst xmlns:p="http://schemas.openxmlformats.org/presentationml/2006/main">
  <p:tag name="KSO_WM_DIAGRAM_VIRTUALLY_FRAME" val="{&quot;height&quot;:345.2256692913386,&quot;left&quot;:192.7822834645669,&quot;top&quot;:100.43692913385824,&quot;width&quot;:736.0999212598424}"/>
</p:tagLst>
</file>

<file path=ppt/tags/tag41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42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43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44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45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46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47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48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49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50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51.xml><?xml version="1.0" encoding="utf-8"?>
<p:tagLst xmlns:p="http://schemas.openxmlformats.org/presentationml/2006/main">
  <p:tag name="PA" val="v5.0.2"/>
  <p:tag name="RESOURCELIBID" val="432"/>
</p:tagLst>
</file>

<file path=ppt/tags/tag52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53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54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55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56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57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58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59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60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61.xml><?xml version="1.0" encoding="utf-8"?>
<p:tagLst xmlns:p="http://schemas.openxmlformats.org/presentationml/2006/main">
  <p:tag name="KSO_WM_DIAGRAM_VIRTUALLY_FRAME" val="{&quot;height&quot;:309.2,&quot;left&quot;:46.75,&quot;top&quot;:123.45,&quot;width&quot;:806.15}"/>
</p:tagLst>
</file>

<file path=ppt/tags/tag62.xml><?xml version="1.0" encoding="utf-8"?>
<p:tagLst xmlns:p="http://schemas.openxmlformats.org/presentationml/2006/main">
  <p:tag name="ISLIDE.DIAGRAM" val="#4918879;"/>
</p:tagLst>
</file>

<file path=ppt/tags/tag63.xml><?xml version="1.0" encoding="utf-8"?>
<p:tagLst xmlns:p="http://schemas.openxmlformats.org/presentationml/2006/main">
  <p:tag name="KSO_WM_DIAGRAM_VIRTUALLY_FRAME" val="{&quot;height&quot;:384.95,&quot;left&quot;:32.75,&quot;top&quot;:83.1,&quot;width&quot;:885.1374015748031}"/>
</p:tagLst>
</file>

<file path=ppt/tags/tag64.xml><?xml version="1.0" encoding="utf-8"?>
<p:tagLst xmlns:p="http://schemas.openxmlformats.org/presentationml/2006/main">
  <p:tag name="KSO_WM_DIAGRAM_VIRTUALLY_FRAME" val="{&quot;height&quot;:384.95,&quot;left&quot;:32.75,&quot;top&quot;:83.1,&quot;width&quot;:885.1374015748031}"/>
</p:tagLst>
</file>

<file path=ppt/tags/tag65.xml><?xml version="1.0" encoding="utf-8"?>
<p:tagLst xmlns:p="http://schemas.openxmlformats.org/presentationml/2006/main">
  <p:tag name="KSO_WM_DIAGRAM_VIRTUALLY_FRAME" val="{&quot;height&quot;:384.95,&quot;left&quot;:32.75,&quot;top&quot;:83.1,&quot;width&quot;:885.1374015748031}"/>
</p:tagLst>
</file>

<file path=ppt/tags/tag66.xml><?xml version="1.0" encoding="utf-8"?>
<p:tagLst xmlns:p="http://schemas.openxmlformats.org/presentationml/2006/main">
  <p:tag name="KSO_WM_DIAGRAM_VIRTUALLY_FRAME" val="{&quot;height&quot;:384.95,&quot;left&quot;:32.75,&quot;top&quot;:83.1,&quot;width&quot;:885.1374015748031}"/>
</p:tagLst>
</file>

<file path=ppt/tags/tag67.xml><?xml version="1.0" encoding="utf-8"?>
<p:tagLst xmlns:p="http://schemas.openxmlformats.org/presentationml/2006/main">
  <p:tag name="KSO_WM_DIAGRAM_VIRTUALLY_FRAME" val="{&quot;height&quot;:384.95,&quot;left&quot;:32.75,&quot;top&quot;:83.1,&quot;width&quot;:885.1374015748031}"/>
</p:tagLst>
</file>

<file path=ppt/tags/tag68.xml><?xml version="1.0" encoding="utf-8"?>
<p:tagLst xmlns:p="http://schemas.openxmlformats.org/presentationml/2006/main">
  <p:tag name="KSO_WM_DIAGRAM_VIRTUALLY_FRAME" val="{&quot;height&quot;:384.95,&quot;left&quot;:32.75,&quot;top&quot;:83.1,&quot;width&quot;:885.1374015748031}"/>
</p:tagLst>
</file>

<file path=ppt/tags/tag69.xml><?xml version="1.0" encoding="utf-8"?>
<p:tagLst xmlns:p="http://schemas.openxmlformats.org/presentationml/2006/main">
  <p:tag name="KSO_WM_DIAGRAM_VIRTUALLY_FRAME" val="{&quot;height&quot;:384.95,&quot;left&quot;:32.75,&quot;top&quot;:83.1,&quot;width&quot;:885.1374015748031}"/>
</p:tagLst>
</file>

<file path=ppt/tags/tag70.xml><?xml version="1.0" encoding="utf-8"?>
<p:tagLst xmlns:p="http://schemas.openxmlformats.org/presentationml/2006/main">
  <p:tag name="KSO_WM_DIAGRAM_VIRTUALLY_FRAME" val="{&quot;height&quot;:384.95,&quot;left&quot;:32.75,&quot;top&quot;:83.1,&quot;width&quot;:885.1374015748031}"/>
</p:tagLst>
</file>

<file path=ppt/tags/tag71.xml><?xml version="1.0" encoding="utf-8"?>
<p:tagLst xmlns:p="http://schemas.openxmlformats.org/presentationml/2006/main">
  <p:tag name="KSO_WM_DIAGRAM_VIRTUALLY_FRAME" val="{&quot;height&quot;:384.95,&quot;left&quot;:32.75,&quot;top&quot;:83.1,&quot;width&quot;:885.1374015748031}"/>
</p:tagLst>
</file>

<file path=ppt/tags/tag72.xml><?xml version="1.0" encoding="utf-8"?>
<p:tagLst xmlns:p="http://schemas.openxmlformats.org/presentationml/2006/main">
  <p:tag name="PA" val="v5.0.2"/>
  <p:tag name="RESOURCELIBID" val="432"/>
</p:tagLst>
</file>

<file path=ppt/tags/tag73.xml><?xml version="1.0" encoding="utf-8"?>
<p:tagLst xmlns:p="http://schemas.openxmlformats.org/presentationml/2006/main">
  <p:tag name="ISLIDE.DIAGRAM" val="#4918879;"/>
</p:tagLst>
</file>

<file path=ppt/tags/tag74.xml><?xml version="1.0" encoding="utf-8"?>
<p:tagLst xmlns:p="http://schemas.openxmlformats.org/presentationml/2006/main">
  <p:tag name="ISLIDE.SMARTDIAGRAM" val="#4923203;"/>
</p:tagLst>
</file>

<file path=ppt/tags/tag75.xml><?xml version="1.0" encoding="utf-8"?>
<p:tagLst xmlns:p="http://schemas.openxmlformats.org/presentationml/2006/main">
  <p:tag name="KSO_WM_DIAGRAM_VIRTUALLY_FRAME" val="{&quot;height&quot;:454.25275590551183,&quot;left&quot;:21.5,&quot;top&quot;:80.54724409448819,&quot;width&quot;:1014.8}"/>
</p:tagLst>
</file>

<file path=ppt/tags/tag76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77.xml><?xml version="1.0" encoding="utf-8"?>
<p:tagLst xmlns:p="http://schemas.openxmlformats.org/presentationml/2006/main">
  <p:tag name="KSO_WM_DIAGRAM_VIRTUALLY_FRAME" val="{&quot;height&quot;:454.25275590551183,&quot;left&quot;:21.5,&quot;top&quot;:80.54724409448819,&quot;width&quot;:1014.8}"/>
</p:tagLst>
</file>

<file path=ppt/tags/tag78.xml><?xml version="1.0" encoding="utf-8"?>
<p:tagLst xmlns:p="http://schemas.openxmlformats.org/presentationml/2006/main">
  <p:tag name="KSO_WM_DIAGRAM_VIRTUALLY_FRAME" val="{&quot;height&quot;:454.25275590551183,&quot;left&quot;:21.5,&quot;top&quot;:80.54724409448819,&quot;width&quot;:1014.8}"/>
</p:tagLst>
</file>

<file path=ppt/tags/tag79.xml><?xml version="1.0" encoding="utf-8"?>
<p:tagLst xmlns:p="http://schemas.openxmlformats.org/presentationml/2006/main">
  <p:tag name="KSO_WM_DIAGRAM_VIRTUALLY_FRAME" val="{&quot;height&quot;:454.25275590551183,&quot;left&quot;:21.5,&quot;top&quot;:80.54724409448819,&quot;width&quot;:1014.8}"/>
</p:tagLst>
</file>

<file path=ppt/tags/tag80.xml><?xml version="1.0" encoding="utf-8"?>
<p:tagLst xmlns:p="http://schemas.openxmlformats.org/presentationml/2006/main">
  <p:tag name="ISLIDE.SMARTDIAGRAM" val="#4923203;"/>
</p:tagLst>
</file>

<file path=ppt/tags/tag81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82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83.xml><?xml version="1.0" encoding="utf-8"?>
<p:tagLst xmlns:p="http://schemas.openxmlformats.org/presentationml/2006/main">
  <p:tag name="ISLIDE.SMARTDIAGRAM" val="#4923203;"/>
</p:tagLst>
</file>

<file path=ppt/tags/tag84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85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86.xml><?xml version="1.0" encoding="utf-8"?>
<p:tagLst xmlns:p="http://schemas.openxmlformats.org/presentationml/2006/main">
  <p:tag name="ISLIDE.SMARTDIAGRAM" val="#4923203;"/>
</p:tagLst>
</file>

<file path=ppt/tags/tag87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88.xml><?xml version="1.0" encoding="utf-8"?>
<p:tagLst xmlns:p="http://schemas.openxmlformats.org/presentationml/2006/main">
  <p:tag name="ISLIDE.SMARTDIAGRAM" val="#4923203;"/>
</p:tagLst>
</file>

<file path=ppt/tags/tag89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90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91.xml><?xml version="1.0" encoding="utf-8"?>
<p:tagLst xmlns:p="http://schemas.openxmlformats.org/presentationml/2006/main">
  <p:tag name="ISLIDE.SMARTDIAGRAM" val="#4923203;"/>
</p:tagLst>
</file>

<file path=ppt/tags/tag92.xml><?xml version="1.0" encoding="utf-8"?>
<p:tagLst xmlns:p="http://schemas.openxmlformats.org/presentationml/2006/main">
  <p:tag name="ISLIDE.SMARTDIAGRAM" val="#4923203;"/>
</p:tagLst>
</file>

<file path=ppt/tags/tag93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94.xml><?xml version="1.0" encoding="utf-8"?>
<p:tagLst xmlns:p="http://schemas.openxmlformats.org/presentationml/2006/main">
  <p:tag name="ISLIDE.SMARTDIAGRAM" val="#4923203;"/>
</p:tagLst>
</file>

<file path=ppt/tags/tag95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96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97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98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99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00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01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02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03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04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05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06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07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08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09.xml><?xml version="1.0" encoding="utf-8"?>
<p:tagLst xmlns:p="http://schemas.openxmlformats.org/presentationml/2006/main">
  <p:tag name="KSO_WM_DIAGRAM_VIRTUALLY_FRAME" val="{&quot;height&quot;:353.274409448819,&quot;left&quot;:95.0935433070866,&quot;top&quot;:113.85574803149606,&quot;width&quot;:792.9064566929134}"/>
</p:tagLst>
</file>

<file path=ppt/tags/tag110.xml><?xml version="1.0" encoding="utf-8"?>
<p:tagLst xmlns:p="http://schemas.openxmlformats.org/presentationml/2006/main">
  <p:tag name="ISLIDE.DIAGRAM" val="#204171;"/>
</p:tagLst>
</file>

<file path=ppt/tags/tag111.xml><?xml version="1.0" encoding="utf-8"?>
<p:tagLst xmlns:p="http://schemas.openxmlformats.org/presentationml/2006/main">
  <p:tag name="AS_NET" val="4.0.30319.42000"/>
  <p:tag name="AS_OS" val="Microsoft Windows NT 6.2.9200.0"/>
  <p:tag name="AS_RELEASE_DATE" val="2024.02.14"/>
  <p:tag name="AS_TITLE" val="Aspose.Slides for .NET 4.0 Client Profile"/>
  <p:tag name="AS_VERSION" val="24.2"/>
  <p:tag name="COMMONDATA" val="eyJoZGlkIjoiYjNkNDYxMmIwNmM5NTY2OTdkODYxNGM2OGY2YmI2OGYifQ=="/>
  <p:tag name="commondata" val="eyJoZGlkIjoiNWFkODkyZDRkNzgyMDAwMmYwZmEzMGRmNWQ5ZTM2YzQifQ=="/>
</p:tagLst>
</file>

<file path=ppt/theme/theme1.xml><?xml version="1.0" encoding="utf-8"?>
<a:theme xmlns:a="http://schemas.openxmlformats.org/drawingml/2006/main" name="Office 主题​​">
  <a:themeElements>
    <a:clrScheme name="自定义 837">
      <a:dk1>
        <a:sysClr val="windowText" lastClr="000000"/>
      </a:dk1>
      <a:lt1>
        <a:sysClr val="window" lastClr="FFFFFF"/>
      </a:lt1>
      <a:dk2>
        <a:srgbClr val="447691"/>
      </a:dk2>
      <a:lt2>
        <a:srgbClr val="E7E6E6"/>
      </a:lt2>
      <a:accent1>
        <a:srgbClr val="4484A4"/>
      </a:accent1>
      <a:accent2>
        <a:srgbClr val="447691"/>
      </a:accent2>
      <a:accent3>
        <a:srgbClr val="89B7CE"/>
      </a:accent3>
      <a:accent4>
        <a:srgbClr val="22425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xtmetwjb">
      <a:majorFont>
        <a:latin typeface="思源黑体 CN Normal"/>
        <a:ea typeface="思源黑体 CN Normal"/>
        <a:cs typeface="Arial"/>
      </a:majorFont>
      <a:minorFont>
        <a:latin typeface="思源黑体 CN Normal"/>
        <a:ea typeface="思源黑体 CN Norm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1381</Words>
  <Application>WPS 演示</Application>
  <PresentationFormat>宽屏</PresentationFormat>
  <Paragraphs>214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阿里巴巴普惠体 B</vt:lpstr>
      <vt:lpstr>Noto Sans SC</vt:lpstr>
      <vt:lpstr>思源黑体</vt:lpstr>
      <vt:lpstr>黑体</vt:lpstr>
      <vt:lpstr>思源宋体 CN Heavy</vt:lpstr>
      <vt:lpstr>思源宋體 Heavy</vt:lpstr>
      <vt:lpstr>Aparajita</vt:lpstr>
      <vt:lpstr>Segoe UI Light</vt:lpstr>
      <vt:lpstr>华文隶书</vt:lpstr>
      <vt:lpstr>Arial Unicode MS</vt:lpstr>
      <vt:lpstr>等线</vt:lpstr>
      <vt:lpstr>思源黑体 CN Normal</vt:lpstr>
      <vt:lpstr>阿里巴巴普惠体</vt:lpstr>
      <vt:lpstr>KSOFE22CBF3B</vt:lpstr>
      <vt:lpstr>Segoe Print</vt:lpstr>
      <vt:lpstr>KSOF4CF9F437</vt:lpstr>
      <vt:lpstr>KSOF4CFA6896</vt:lpstr>
      <vt:lpstr>KSOF9549C61A</vt:lpstr>
      <vt:lpstr>KSOF954951BB</vt:lpstr>
      <vt:lpstr>思源黑体 CN Normal</vt:lpstr>
      <vt:lpstr>Nirmala UI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燚 肖</dc:creator>
  <cp:lastModifiedBy>落秋.</cp:lastModifiedBy>
  <cp:revision>71</cp:revision>
  <dcterms:created xsi:type="dcterms:W3CDTF">2024-05-13T06:13:00Z</dcterms:created>
  <dcterms:modified xsi:type="dcterms:W3CDTF">2026-05-27T18:04:17Z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E924125C68004F00886A8A5749A9E498_13</vt:lpwstr>
  </property>
  <property fmtid="{D5CDD505-2E9C-101B-9397-08002B2CF9AE}" pid="3" name="KSOProductBuildVer">
    <vt:lpwstr>2052-12.1.0.26895</vt:lpwstr>
  </property>
</Properties>
</file>